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b20c547-dd08-2778-d98f-8919be9c787f}">
          <p14:sldIdLst>
            <p14:sldId id="256"/>
            <p14:sldId id="257"/>
            <p14:sldId id="258"/>
          </p14:sldIdLst>
        </p14:section>
        <p14:section name="Why governments moved" id="{56d9dd02-0764-b1d7-a0d3-9b2daf4f6817}">
          <p14:sldIdLst>
            <p14:sldId id="259"/>
          </p14:sldIdLst>
        </p14:section>
        <p14:section name="Case studies" id="{f1e44e32-9396-3703-2c0d-b8fa2972eaa8}">
          <p14:sldIdLst>
            <p14:sldId id="260"/>
            <p14:sldId id="261"/>
            <p14:sldId id="262"/>
            <p14:sldId id="263"/>
            <p14:sldId id="264"/>
          </p14:sldIdLst>
        </p14:section>
        <p14:section name="Conclusions and references" id="{5f200545-7e49-d63d-213b-a6bfb1c0ae93}">
          <p14:sldIdLst>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2. Government cases only, simplified from the website "Moving from on-premises to cloud: case studies"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agreed for this review: to review the experience of different governments in adopting and transitioning to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Reasons are a reading of each case's "Why they moved" section. Singapore [3]; New Zealand [7]; US [11]; HMRC [14]; ABS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[1]–[6]. [1]–[4] and [6] are GovTech publications; [5] is GovInsider reporting GovTech executives' remarks.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[7]–[10]. [7] is the April 2023 Cabinet paper by the Department of Internal Affairs, the government's own paper to ministers (not an audit). [8] and [9] are from the Auditor-General. [10] is trade press.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[11]: GAO-19-58, Cloud Computing (2019). The 16 agencies were Agriculture, Commerce, Defense, Education, Energy, Health and Human Services, Homeland Security, Justice, Labor, State, Transportation, Treasury, Veterans Affairs, GSA, SBA and SSA. The case describes the situation in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[12]–[24]. Neither the Accounting Officer Assessment [14] nor the press reports [18], [23] give a cause for the delay; [14] only records the 2023 decision to prioritise critical national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[25]–[32]. [25] is the ANAO audit of planning, published in 2020 before the Census ran; [27], [28], [31], [32] are ABS publications; [26], [29], [30] are AWS and partner material. The 2021 Census budget was $565M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Lessons show what went along with success or trouble in these cases, not proof that one caused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of slides 4–9. Each cell carries the source numbers of the case slide it summarises.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whit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463040"/>
          </a:xfrm>
          <a:prstGeom prst="rect">
            <a:avLst/>
          </a:prstGeom>
          <a:noFill/>
          <a:ln/>
        </p:spPr>
        <p:txBody>
          <a:bodyPr wrap="square" rtlCol="0"/>
          <a:lstStyle>
            <a:lvl1pPr indent="0" marL="0">
              <a:buNone/>
              <a:defRPr lang="en-US" sz="4800" b="1" dirty="0">
                <a:solidFill>
                  <a:schemeClr val="tx2"/>
                </a:solidFill>
                <a:latin typeface="Cambria" pitchFamily="34" charset="0"/>
                <a:ea typeface="Cambria" pitchFamily="34" charset="-122"/>
                <a:cs typeface="Cambria" pitchFamily="34" charset="-120"/>
              </a:defRPr>
            </a:lvl1pPr>
          </a:lstStyle>
          <a:p>
            <a:pPr indent="0" marL="0">
              <a:buNone/>
            </a:pPr>
            <a:endParaRPr lang="en-US" sz="4800" dirty="0"/>
          </a:p>
        </p:txBody>
      </p:sp>
      <p:sp>
        <p:nvSpPr>
          <p:cNvPr id="3" name="Text 0"/>
          <p:cNvSpPr/>
          <p:nvPr>
            <p:ph idx="101" type="body" hasCustomPrompt="1"/>
          </p:nvPr>
        </p:nvSpPr>
        <p:spPr>
          <a:xfrm>
            <a:off x="731520" y="3017520"/>
            <a:ext cx="10698480" cy="548640"/>
          </a:xfrm>
          <a:prstGeom prst="rect">
            <a:avLst/>
          </a:prstGeom>
          <a:noFill/>
          <a:ln/>
        </p:spPr>
        <p:txBody>
          <a:bodyPr wrap="square" rtlCol="0"/>
          <a:lstStyle>
            <a:lvl1pPr indent="0" marL="0">
              <a:buNone/>
              <a:defRPr lang="en-US" sz="2200" i="1" dirty="0">
                <a:solidFill>
                  <a:schemeClr val="accent1"/>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40080"/>
          </a:xfrm>
          <a:prstGeom prst="rect">
            <a:avLst/>
          </a:prstGeom>
          <a:noFill/>
          <a:ln/>
        </p:spPr>
        <p:txBody>
          <a:bodyPr wrap="square" rtlCol="0"/>
          <a:lstStyle>
            <a:lvl1pPr indent="0" marL="0">
              <a:buNone/>
              <a:defRPr lang="en-US" sz="3400" b="1" dirty="0">
                <a:solidFill>
                  <a:schemeClr val="tx2"/>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nvSpPr>
        <p:spPr>
          <a:xfrm>
            <a:off x="548640" y="6446520"/>
            <a:ext cx="10332720" cy="256032"/>
          </a:xfrm>
          <a:prstGeom prst="rect">
            <a:avLst/>
          </a:prstGeom>
          <a:noFill/>
          <a:ln/>
        </p:spPr>
        <p:txBody>
          <a:bodyPr wrap="square" lIns="0" tIns="0" rIns="0" bIns="0" rtlCol="0" anchor="ctr"/>
          <a:lstStyle/>
          <a:p>
            <a:pPr indent="0" marL="0">
              <a:buNone/>
            </a:pPr>
            <a:r>
              <a:rPr lang="en-US" sz="900" dirty="0">
                <a:solidFill>
                  <a:schemeClr val="accent5"/>
                </a:solidFill>
              </a:rPr>
              <a:t>Moving from on-premises to cloud  ·  Government case studies  ·  October 2026  ·  Superscript numbers = sources on the References slides;  * = our assessment of the sources</a:t>
            </a:r>
            <a:endParaRPr lang="en-US" sz="900" dirty="0"/>
          </a:p>
        </p:txBody>
      </p:sp>
      <p:sp>
        <p:nvSpPr>
          <p:cNvPr id="25" name="Slide Number Placeholder 0"/>
          <p:cNvSpPr>
            <a:spLocks noGrp="1"/>
          </p:cNvSpPr>
          <p:nvPr>
            <p:ph type="sldNum" sz="quarter" idx="4294967295"/>
          </p:nvPr>
        </p:nvSpPr>
        <p:spPr>
          <a:xfrm>
            <a:off x="11155680"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www.tech.gov.sg/products-and-services/for-government-agencies/software-development/government-on-commercial-cloud/" TargetMode="External"/><Relationship Id="rId3" Type="http://schemas.openxmlformats.org/officeDocument/2006/relationships/hyperlink" Target="https://developer.tech.gov.sg/products/categories/infrastructure-and-hosting/gcc/overview" TargetMode="External"/><Relationship Id="rId4" Type="http://schemas.openxmlformats.org/officeDocument/2006/relationships/hyperlink" Target="https://www.tech.gov.sg/media/media-releases/2022-06-10-government-fy22-ict-spending" TargetMode="External"/><Relationship Id="rId5" Type="http://schemas.openxmlformats.org/officeDocument/2006/relationships/hyperlink" Target="https://www.tech.gov.sg/technews/doubling-down-on-cloud-to-deliver-better-government-services/" TargetMode="External"/><Relationship Id="rId6" Type="http://schemas.openxmlformats.org/officeDocument/2006/relationships/hyperlink" Target="https://govinsider.asia/intl-en/article/the-road-to-cloud-how-singapore-government-achieved-its-ambitious-goals" TargetMode="External"/><Relationship Id="rId8" Type="http://schemas.openxmlformats.org/officeDocument/2006/relationships/hyperlink" Target="https://tech.gov.sg/media/media-releases/2023-05-24-government-projected-to-spend-on-ict-in-fy23" TargetMode="External"/><Relationship Id="rId10" Type="http://schemas.openxmlformats.org/officeDocument/2006/relationships/hyperlink" Target="https://dns.govt.nz/assets/Documents/2023-Cabinet-paper-Proposals-for-Refreshing-the-Cloud-First-Policy-and-Strengthening-Cloud-Adoption-Across-the-Public-Service.pdf" TargetMode="External"/><Relationship Id="rId11" Type="http://schemas.openxmlformats.org/officeDocument/2006/relationships/hyperlink" Target="https://www.oag.parliament.nz/2018/infrastructure/docs/summary.pdf" TargetMode="External"/><Relationship Id="rId12" Type="http://schemas.openxmlformats.org/officeDocument/2006/relationships/hyperlink" Target="https://ao.parliament.nz/2023/infrastructure-services/letter-dia" TargetMode="External"/><Relationship Id="rId13" Type="http://schemas.openxmlformats.org/officeDocument/2006/relationships/hyperlink" Target="https://www.datacenterdynamics.com/en/news/new-zealands-internal-affairs-investigates-costs-of-cloud-computing-migration/" TargetMode="External"/><Relationship Id="rId1" Type="http://schemas.openxmlformats.org/officeDocument/2006/relationships/image" Target="../media/image-12-1.png"/><Relationship Id="rId7" Type="http://schemas.openxmlformats.org/officeDocument/2006/relationships/image" Target="../media/image-12-1.png"/><Relationship Id="rId9" Type="http://schemas.openxmlformats.org/officeDocument/2006/relationships/image" Target="../media/image-12-3.png"/><Relationship Id="rId14" Type="http://schemas.openxmlformats.org/officeDocument/2006/relationships/slideLayout" Target="../slideLayouts/slideLayout3.xml"/><Relationship Id="rId1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www.gao.gov/assets/d1958.pdf" TargetMode="External"/><Relationship Id="rId4" Type="http://schemas.openxmlformats.org/officeDocument/2006/relationships/hyperlink" Target="https://www.gov.uk/government/publications/hmrc-annual-report-and-accounts-2023-to-2024/hmrcs-annual-report-and-accounts-2023-to-2024-performance-overview" TargetMode="External"/><Relationship Id="rId5" Type="http://schemas.openxmlformats.org/officeDocument/2006/relationships/hyperlink" Target="https://www.gov.uk/government/publications/hmrc-annual-report-and-accounts-2023-to-2024" TargetMode="External"/><Relationship Id="rId6" Type="http://schemas.openxmlformats.org/officeDocument/2006/relationships/hyperlink" Target="https://www.gov.uk/government/publications/securing-our-technical-future-programme-accounting-officer-assessment-updated" TargetMode="External"/><Relationship Id="rId7" Type="http://schemas.openxmlformats.org/officeDocument/2006/relationships/hyperlink" Target="https://www.find-tender.service.gov.uk/procurement/ocds-h6vhtk-04f71d" TargetMode="External"/><Relationship Id="rId8" Type="http://schemas.openxmlformats.org/officeDocument/2006/relationships/hyperlink" Target="https://www.gov.uk/government/publications/hmrc-performance-update-july-to-september-2025/hmrc-performance-update-july-to-september-2025" TargetMode="External"/><Relationship Id="rId10" Type="http://schemas.openxmlformats.org/officeDocument/2006/relationships/hyperlink" Target="https://www.find-tender.service.gov.uk/Notice/035512-2025" TargetMode="External"/><Relationship Id="rId11" Type="http://schemas.openxmlformats.org/officeDocument/2006/relationships/hyperlink" Target="https://datacenterdynamics.com/en/news/uk-hmrc-taps-ibm-to-help-it-exit-three-data-centers-by-june" TargetMode="External"/><Relationship Id="rId12" Type="http://schemas.openxmlformats.org/officeDocument/2006/relationships/hyperlink" Target="https://www.ukauthority.com/articles/aws-win-10-year-hmrc-cloud-infrastructure-deal" TargetMode="External"/><Relationship Id="rId13" Type="http://schemas.openxmlformats.org/officeDocument/2006/relationships/hyperlink" Target="https://www.theregister.com/2026/03/25/hmrc_fujitsu_contract_aws/" TargetMode="External"/><Relationship Id="rId14" Type="http://schemas.openxmlformats.org/officeDocument/2006/relationships/hyperlink" Target="https://www.publictechnology.net/2024/08/12/science-technology-and-research/hmrc-reports-70-progress-in-moving-500-plus-critical-national-infrastructure-services-to-cloud" TargetMode="External"/><Relationship Id="rId1" Type="http://schemas.openxmlformats.org/officeDocument/2006/relationships/image" Target="../media/image-13-1.png"/><Relationship Id="rId3" Type="http://schemas.openxmlformats.org/officeDocument/2006/relationships/image" Target="../media/image-13-2.png"/><Relationship Id="rId9" Type="http://schemas.openxmlformats.org/officeDocument/2006/relationships/image" Target="../media/image-13-2.png"/><Relationship Id="rId15" Type="http://schemas.openxmlformats.org/officeDocument/2006/relationships/slideLayout" Target="../slideLayouts/slideLayout3.xml"/><Relationship Id="rId1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www.gov.uk/government/publications/hmrc-annual-report-and-accounts-2022-to-2023/hmrcs-annual-report-and-accounts-2022-to-2023-performance-overview" TargetMode="External"/><Relationship Id="rId3" Type="http://schemas.openxmlformats.org/officeDocument/2006/relationships/hyperlink" Target="https://www.datacenterdynamics.com/en/news/aws-set-to-win-uks-hmrc-500m-data-center-exit-contract-report/" TargetMode="External"/><Relationship Id="rId4" Type="http://schemas.openxmlformats.org/officeDocument/2006/relationships/hyperlink" Target="https://committees.parliament.uk/publications/49836/documents/267185/default" TargetMode="External"/><Relationship Id="rId6" Type="http://schemas.openxmlformats.org/officeDocument/2006/relationships/hyperlink" Target="https://www.anao.gov.au/work/performance-audit/planning-for-the-2021-census" TargetMode="External"/><Relationship Id="rId7" Type="http://schemas.openxmlformats.org/officeDocument/2006/relationships/hyperlink" Target="https://aws.amazon.com/blogs/publicsector/australian-bureau-of-statistics-runs-2021-census-on-the-aws-cloud" TargetMode="External"/><Relationship Id="rId8" Type="http://schemas.openxmlformats.org/officeDocument/2006/relationships/hyperlink" Target="https://www.abs.gov.au/media-centre/media-releases/appointment-census-digital-and-recruitment-suppliers" TargetMode="External"/><Relationship Id="rId10" Type="http://schemas.openxmlformats.org/officeDocument/2006/relationships/hyperlink" Target="https://www.abs.gov.au/census/census-media-hub/news/speeches/aws-public-sector-summit" TargetMode="External"/><Relationship Id="rId11" Type="http://schemas.openxmlformats.org/officeDocument/2006/relationships/hyperlink" Target="https://www.aboutamazon.com.au/news/aws/how-the-cloud-helped-to-deliver-a-smooth-experience-for-the-2021-australian-census" TargetMode="External"/><Relationship Id="rId12" Type="http://schemas.openxmlformats.org/officeDocument/2006/relationships/hyperlink" Target="https://shinesolutions.com/portfolio_page/census-2021-enabled-by-shift-to-the-cloud/" TargetMode="External"/><Relationship Id="rId13" Type="http://schemas.openxmlformats.org/officeDocument/2006/relationships/hyperlink" Target="https://www.abs.gov.au/about/our-organisation/australian-statistician/speeches/australian-statistician-statement-2021-census" TargetMode="External"/><Relationship Id="rId14" Type="http://schemas.openxmlformats.org/officeDocument/2006/relationships/hyperlink" Target="https://www.abs.gov.au/census/about-census/2021-census-overview/background-and-planning" TargetMode="External"/><Relationship Id="rId1" Type="http://schemas.openxmlformats.org/officeDocument/2006/relationships/image" Target="../media/image-14-1.png"/><Relationship Id="rId5" Type="http://schemas.openxmlformats.org/officeDocument/2006/relationships/image" Target="../media/image-14-2.png"/><Relationship Id="rId9" Type="http://schemas.openxmlformats.org/officeDocument/2006/relationships/image" Target="../media/image-14-2.png"/><Relationship Id="rId15" Type="http://schemas.openxmlformats.org/officeDocument/2006/relationships/slideLayout" Target="../slideLayouts/slideLayout3.xml"/><Relationship Id="rId1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463040"/>
          </a:xfrm>
          <a:prstGeom prst="rect">
            <a:avLst/>
          </a:prstGeom>
          <a:noFill/>
          <a:ln/>
        </p:spPr>
        <p:txBody>
          <a:bodyPr wrap="square" lIns="0" tIns="0" rIns="0" bIns="0" rtlCol="0" anchor="b"/>
          <a:lstStyle/>
          <a:p>
            <a:pPr indent="0" marL="0">
              <a:buNone/>
            </a:pPr>
            <a:r>
              <a:rPr lang="en-US" sz="4800" b="1" dirty="0">
                <a:solidFill>
                  <a:schemeClr val="tx2"/>
                </a:solidFill>
                <a:latin typeface="Cambria" pitchFamily="34" charset="0"/>
                <a:ea typeface="Cambria" pitchFamily="34" charset="-122"/>
                <a:cs typeface="Cambria" pitchFamily="34" charset="-120"/>
              </a:rPr>
              <a:t>Moving from on-premises to cloud</a:t>
            </a:r>
            <a:endParaRPr lang="en-US" sz="4800" dirty="0"/>
          </a:p>
        </p:txBody>
      </p:sp>
      <p:sp>
        <p:nvSpPr>
          <p:cNvPr id="3" name="Text 0"/>
          <p:cNvSpPr/>
          <p:nvPr>
            <p:ph idx="101" type="body" hasCustomPrompt="1"/>
          </p:nvPr>
        </p:nvSpPr>
        <p:spPr>
          <a:xfrm>
            <a:off x="731520" y="3017520"/>
            <a:ext cx="10698480" cy="548640"/>
          </a:xfrm>
          <a:prstGeom prst="rect">
            <a:avLst/>
          </a:prstGeom>
          <a:noFill/>
          <a:ln/>
        </p:spPr>
        <p:txBody>
          <a:bodyPr wrap="square" lIns="0" tIns="0" rIns="0" bIns="0" rtlCol="0" anchor="t"/>
          <a:lstStyle/>
          <a:p>
            <a:pPr indent="0" marL="0">
              <a:buNone/>
            </a:pPr>
            <a:r>
              <a:rPr lang="en-US" sz="2200" i="1" dirty="0">
                <a:solidFill>
                  <a:schemeClr val="accent1"/>
                </a:solidFill>
              </a:rPr>
              <a:t>How five governments adopted and moved to the cloud</a:t>
            </a:r>
            <a:endParaRPr lang="en-US" sz="2200" dirty="0"/>
          </a:p>
        </p:txBody>
      </p:sp>
      <p:pic>
        <p:nvPicPr>
          <p:cNvPr id="4" name="flag-sg-0.80" descr="Flag of Singapore">    </p:cNvPr>
          <p:cNvPicPr>
            <a:picLocks noChangeAspect="1"/>
          </p:cNvPicPr>
          <p:nvPr/>
        </p:nvPicPr>
        <p:blipFill>
          <a:blip r:embed="rId1"/>
          <a:stretch>
            <a:fillRect/>
          </a:stretch>
        </p:blipFill>
        <p:spPr>
          <a:xfrm>
            <a:off x="731520" y="4160520"/>
            <a:ext cx="566928" cy="566928"/>
          </a:xfrm>
          <a:prstGeom prst="rect">
            <a:avLst/>
          </a:prstGeom>
        </p:spPr>
      </p:pic>
      <p:sp>
        <p:nvSpPr>
          <p:cNvPr id="5" name="flag-ring-sg-0.80"/>
          <p:cNvSpPr/>
          <p:nvPr/>
        </p:nvSpPr>
        <p:spPr>
          <a:xfrm>
            <a:off x="731520" y="4160520"/>
            <a:ext cx="566928" cy="566928"/>
          </a:xfrm>
          <a:prstGeom prst="ellipse">
            <a:avLst/>
          </a:prstGeom>
          <a:noFill/>
          <a:ln w="9525">
            <a:solidFill>
              <a:srgbClr val="C9CDD3"/>
            </a:solidFill>
            <a:prstDash val="solid"/>
          </a:ln>
        </p:spPr>
      </p:sp>
      <p:sp>
        <p:nvSpPr>
          <p:cNvPr id="6" name="title-case-sg"/>
          <p:cNvSpPr txBox="1"/>
          <p:nvPr/>
        </p:nvSpPr>
        <p:spPr>
          <a:xfrm>
            <a:off x="1417320" y="4114800"/>
            <a:ext cx="1463040" cy="658368"/>
          </a:xfrm>
          <a:prstGeom prst="rect">
            <a:avLst/>
          </a:prstGeom>
          <a:noFill/>
          <a:ln/>
        </p:spPr>
        <p:txBody>
          <a:bodyPr wrap="square" lIns="0" tIns="0" rIns="0" bIns="0" rtlCol="0" anchor="ctr"/>
          <a:lstStyle/>
          <a:p>
            <a:pPr indent="0" marL="0">
              <a:buNone/>
            </a:pPr>
            <a:r>
              <a:rPr lang="en-US" sz="1400" b="1" dirty="0">
                <a:solidFill>
                  <a:schemeClr val="tx2"/>
                </a:solidFill>
              </a:rPr>
              <a:t>Singapore</a:t>
            </a:r>
            <a:endParaRPr lang="en-US" sz="1400" dirty="0"/>
          </a:p>
          <a:p>
            <a:pPr indent="0" marL="0">
              <a:buNone/>
            </a:pPr>
            <a:r>
              <a:rPr lang="en-US" sz="1100" dirty="0">
                <a:solidFill>
                  <a:schemeClr val="accent5"/>
                </a:solidFill>
              </a:rPr>
              <a:t>Government of Singapore</a:t>
            </a:r>
            <a:endParaRPr lang="en-US" sz="1400" dirty="0"/>
          </a:p>
        </p:txBody>
      </p:sp>
      <p:pic>
        <p:nvPicPr>
          <p:cNvPr id="7" name="flag-nz-3.20" descr="Flag of New Zealand">    </p:cNvPr>
          <p:cNvPicPr>
            <a:picLocks noChangeAspect="1"/>
          </p:cNvPicPr>
          <p:nvPr/>
        </p:nvPicPr>
        <p:blipFill>
          <a:blip r:embed="rId2"/>
          <a:stretch>
            <a:fillRect/>
          </a:stretch>
        </p:blipFill>
        <p:spPr>
          <a:xfrm>
            <a:off x="2926080" y="4160520"/>
            <a:ext cx="566928" cy="566928"/>
          </a:xfrm>
          <a:prstGeom prst="rect">
            <a:avLst/>
          </a:prstGeom>
        </p:spPr>
      </p:pic>
      <p:sp>
        <p:nvSpPr>
          <p:cNvPr id="8" name="flag-ring-nz-3.20"/>
          <p:cNvSpPr/>
          <p:nvPr/>
        </p:nvSpPr>
        <p:spPr>
          <a:xfrm>
            <a:off x="2926080" y="4160520"/>
            <a:ext cx="566928" cy="566928"/>
          </a:xfrm>
          <a:prstGeom prst="ellipse">
            <a:avLst/>
          </a:prstGeom>
          <a:noFill/>
          <a:ln w="9525">
            <a:solidFill>
              <a:srgbClr val="C9CDD3"/>
            </a:solidFill>
            <a:prstDash val="solid"/>
          </a:ln>
        </p:spPr>
      </p:sp>
      <p:sp>
        <p:nvSpPr>
          <p:cNvPr id="9" name="title-case-nz"/>
          <p:cNvSpPr txBox="1"/>
          <p:nvPr/>
        </p:nvSpPr>
        <p:spPr>
          <a:xfrm>
            <a:off x="3611880" y="4114800"/>
            <a:ext cx="1463040" cy="658368"/>
          </a:xfrm>
          <a:prstGeom prst="rect">
            <a:avLst/>
          </a:prstGeom>
          <a:noFill/>
          <a:ln/>
        </p:spPr>
        <p:txBody>
          <a:bodyPr wrap="square" lIns="0" tIns="0" rIns="0" bIns="0" rtlCol="0" anchor="ctr"/>
          <a:lstStyle/>
          <a:p>
            <a:pPr indent="0" marL="0">
              <a:buNone/>
            </a:pPr>
            <a:r>
              <a:rPr lang="en-US" sz="1400" b="1" dirty="0">
                <a:solidFill>
                  <a:schemeClr val="tx2"/>
                </a:solidFill>
              </a:rPr>
              <a:t>New Zealand</a:t>
            </a:r>
            <a:endParaRPr lang="en-US" sz="1400" dirty="0"/>
          </a:p>
          <a:p>
            <a:pPr indent="0" marL="0">
              <a:buNone/>
            </a:pPr>
            <a:r>
              <a:rPr lang="en-US" sz="1100" dirty="0">
                <a:solidFill>
                  <a:schemeClr val="accent5"/>
                </a:solidFill>
              </a:rPr>
              <a:t>New Zealand public service</a:t>
            </a:r>
            <a:endParaRPr lang="en-US" sz="1400" dirty="0"/>
          </a:p>
        </p:txBody>
      </p:sp>
      <p:pic>
        <p:nvPicPr>
          <p:cNvPr id="10" name="flag-us-5.60" descr="Flag of the United States">    </p:cNvPr>
          <p:cNvPicPr>
            <a:picLocks noChangeAspect="1"/>
          </p:cNvPicPr>
          <p:nvPr/>
        </p:nvPicPr>
        <p:blipFill>
          <a:blip r:embed="rId3"/>
          <a:stretch>
            <a:fillRect/>
          </a:stretch>
        </p:blipFill>
        <p:spPr>
          <a:xfrm>
            <a:off x="5120640" y="4160520"/>
            <a:ext cx="566928" cy="566928"/>
          </a:xfrm>
          <a:prstGeom prst="rect">
            <a:avLst/>
          </a:prstGeom>
        </p:spPr>
      </p:pic>
      <p:sp>
        <p:nvSpPr>
          <p:cNvPr id="11" name="flag-ring-us-5.60"/>
          <p:cNvSpPr/>
          <p:nvPr/>
        </p:nvSpPr>
        <p:spPr>
          <a:xfrm>
            <a:off x="5120640" y="4160520"/>
            <a:ext cx="566928" cy="566928"/>
          </a:xfrm>
          <a:prstGeom prst="ellipse">
            <a:avLst/>
          </a:prstGeom>
          <a:noFill/>
          <a:ln w="9525">
            <a:solidFill>
              <a:srgbClr val="C9CDD3"/>
            </a:solidFill>
            <a:prstDash val="solid"/>
          </a:ln>
        </p:spPr>
      </p:sp>
      <p:sp>
        <p:nvSpPr>
          <p:cNvPr id="12" name="title-case-us"/>
          <p:cNvSpPr txBox="1"/>
          <p:nvPr/>
        </p:nvSpPr>
        <p:spPr>
          <a:xfrm>
            <a:off x="5806440" y="4114800"/>
            <a:ext cx="1463040" cy="658368"/>
          </a:xfrm>
          <a:prstGeom prst="rect">
            <a:avLst/>
          </a:prstGeom>
          <a:noFill/>
          <a:ln/>
        </p:spPr>
        <p:txBody>
          <a:bodyPr wrap="square" lIns="0" tIns="0" rIns="0" bIns="0" rtlCol="0" anchor="ctr"/>
          <a:lstStyle/>
          <a:p>
            <a:pPr indent="0" marL="0">
              <a:buNone/>
            </a:pPr>
            <a:r>
              <a:rPr lang="en-US" sz="1400" b="1" dirty="0">
                <a:solidFill>
                  <a:schemeClr val="tx2"/>
                </a:solidFill>
              </a:rPr>
              <a:t>United States</a:t>
            </a:r>
            <a:endParaRPr lang="en-US" sz="1400" dirty="0"/>
          </a:p>
          <a:p>
            <a:pPr indent="0" marL="0">
              <a:buNone/>
            </a:pPr>
            <a:r>
              <a:rPr lang="en-US" sz="1100" dirty="0">
                <a:solidFill>
                  <a:schemeClr val="accent5"/>
                </a:solidFill>
              </a:rPr>
              <a:t>US federal agencies</a:t>
            </a:r>
            <a:endParaRPr lang="en-US" sz="1400" dirty="0"/>
          </a:p>
        </p:txBody>
      </p:sp>
      <p:pic>
        <p:nvPicPr>
          <p:cNvPr id="13" name="flag-gb-8.00" descr="Flag of the United Kingdom">    </p:cNvPr>
          <p:cNvPicPr>
            <a:picLocks noChangeAspect="1"/>
          </p:cNvPicPr>
          <p:nvPr/>
        </p:nvPicPr>
        <p:blipFill>
          <a:blip r:embed="rId4"/>
          <a:stretch>
            <a:fillRect/>
          </a:stretch>
        </p:blipFill>
        <p:spPr>
          <a:xfrm>
            <a:off x="7315200" y="4160520"/>
            <a:ext cx="566928" cy="566928"/>
          </a:xfrm>
          <a:prstGeom prst="rect">
            <a:avLst/>
          </a:prstGeom>
        </p:spPr>
      </p:pic>
      <p:sp>
        <p:nvSpPr>
          <p:cNvPr id="14" name="flag-ring-gb-8.00"/>
          <p:cNvSpPr/>
          <p:nvPr/>
        </p:nvSpPr>
        <p:spPr>
          <a:xfrm>
            <a:off x="7315200" y="4160520"/>
            <a:ext cx="566928" cy="566928"/>
          </a:xfrm>
          <a:prstGeom prst="ellipse">
            <a:avLst/>
          </a:prstGeom>
          <a:noFill/>
          <a:ln w="9525">
            <a:solidFill>
              <a:srgbClr val="C9CDD3"/>
            </a:solidFill>
            <a:prstDash val="solid"/>
          </a:ln>
        </p:spPr>
      </p:sp>
      <p:sp>
        <p:nvSpPr>
          <p:cNvPr id="15" name="title-case-gb"/>
          <p:cNvSpPr txBox="1"/>
          <p:nvPr/>
        </p:nvSpPr>
        <p:spPr>
          <a:xfrm>
            <a:off x="8001000" y="4114800"/>
            <a:ext cx="1463040" cy="658368"/>
          </a:xfrm>
          <a:prstGeom prst="rect">
            <a:avLst/>
          </a:prstGeom>
          <a:noFill/>
          <a:ln/>
        </p:spPr>
        <p:txBody>
          <a:bodyPr wrap="square" lIns="0" tIns="0" rIns="0" bIns="0" rtlCol="0" anchor="ctr"/>
          <a:lstStyle/>
          <a:p>
            <a:pPr indent="0" marL="0">
              <a:buNone/>
            </a:pPr>
            <a:r>
              <a:rPr lang="en-US" sz="1400" b="1" dirty="0">
                <a:solidFill>
                  <a:schemeClr val="tx2"/>
                </a:solidFill>
              </a:rPr>
              <a:t>UK (HMRC)</a:t>
            </a:r>
            <a:endParaRPr lang="en-US" sz="1400" dirty="0"/>
          </a:p>
          <a:p>
            <a:pPr indent="0" marL="0">
              <a:buNone/>
            </a:pPr>
            <a:r>
              <a:rPr lang="en-US" sz="1100" dirty="0">
                <a:solidFill>
                  <a:schemeClr val="accent5"/>
                </a:solidFill>
              </a:rPr>
              <a:t>HM Revenue &amp; Customs</a:t>
            </a:r>
            <a:endParaRPr lang="en-US" sz="1400" dirty="0"/>
          </a:p>
        </p:txBody>
      </p:sp>
      <p:pic>
        <p:nvPicPr>
          <p:cNvPr id="16" name="flag-au-10.40" descr="Flag of Australia">    </p:cNvPr>
          <p:cNvPicPr>
            <a:picLocks noChangeAspect="1"/>
          </p:cNvPicPr>
          <p:nvPr/>
        </p:nvPicPr>
        <p:blipFill>
          <a:blip r:embed="rId5"/>
          <a:stretch>
            <a:fillRect/>
          </a:stretch>
        </p:blipFill>
        <p:spPr>
          <a:xfrm>
            <a:off x="9509760" y="4160520"/>
            <a:ext cx="566928" cy="566928"/>
          </a:xfrm>
          <a:prstGeom prst="rect">
            <a:avLst/>
          </a:prstGeom>
        </p:spPr>
      </p:pic>
      <p:sp>
        <p:nvSpPr>
          <p:cNvPr id="17" name="flag-ring-au-10.40"/>
          <p:cNvSpPr/>
          <p:nvPr/>
        </p:nvSpPr>
        <p:spPr>
          <a:xfrm>
            <a:off x="9509760" y="4160520"/>
            <a:ext cx="566928" cy="566928"/>
          </a:xfrm>
          <a:prstGeom prst="ellipse">
            <a:avLst/>
          </a:prstGeom>
          <a:noFill/>
          <a:ln w="9525">
            <a:solidFill>
              <a:srgbClr val="C9CDD3"/>
            </a:solidFill>
            <a:prstDash val="solid"/>
          </a:ln>
        </p:spPr>
      </p:sp>
      <p:sp>
        <p:nvSpPr>
          <p:cNvPr id="18" name="title-case-au"/>
          <p:cNvSpPr txBox="1"/>
          <p:nvPr/>
        </p:nvSpPr>
        <p:spPr>
          <a:xfrm>
            <a:off x="10195560" y="4114800"/>
            <a:ext cx="1463040" cy="658368"/>
          </a:xfrm>
          <a:prstGeom prst="rect">
            <a:avLst/>
          </a:prstGeom>
          <a:noFill/>
          <a:ln/>
        </p:spPr>
        <p:txBody>
          <a:bodyPr wrap="square" lIns="0" tIns="0" rIns="0" bIns="0" rtlCol="0" anchor="ctr"/>
          <a:lstStyle/>
          <a:p>
            <a:pPr indent="0" marL="0">
              <a:buNone/>
            </a:pPr>
            <a:r>
              <a:rPr lang="en-US" sz="1400" b="1" dirty="0">
                <a:solidFill>
                  <a:schemeClr val="tx2"/>
                </a:solidFill>
              </a:rPr>
              <a:t>Australia (ABS)</a:t>
            </a:r>
            <a:endParaRPr lang="en-US" sz="1400" dirty="0"/>
          </a:p>
          <a:p>
            <a:pPr indent="0" marL="0">
              <a:buNone/>
            </a:pPr>
            <a:r>
              <a:rPr lang="en-US" sz="1100" dirty="0">
                <a:solidFill>
                  <a:schemeClr val="accent5"/>
                </a:solidFill>
              </a:rPr>
              <a:t>Australian Bureau of Statistics</a:t>
            </a:r>
            <a:endParaRPr lang="en-US" sz="1400" dirty="0"/>
          </a:p>
        </p:txBody>
      </p:sp>
      <p:sp>
        <p:nvSpPr>
          <p:cNvPr id="19" name="title-caveat"/>
          <p:cNvSpPr txBox="1"/>
          <p:nvPr/>
        </p:nvSpPr>
        <p:spPr>
          <a:xfrm>
            <a:off x="731520" y="5806440"/>
            <a:ext cx="10698480" cy="457200"/>
          </a:xfrm>
          <a:prstGeom prst="rect">
            <a:avLst/>
          </a:prstGeom>
          <a:noFill/>
          <a:ln/>
        </p:spPr>
        <p:txBody>
          <a:bodyPr wrap="square" lIns="0" tIns="0" rIns="0" bIns="0" rtlCol="0" anchor="ctr"/>
          <a:lstStyle/>
          <a:p>
            <a:pPr indent="0" marL="0">
              <a:buNone/>
            </a:pPr>
            <a:r>
              <a:rPr lang="en-US" sz="1200" dirty="0">
                <a:solidFill>
                  <a:schemeClr val="accent5"/>
                </a:solidFill>
              </a:rPr>
              <a:t>October 2026  ·  Compiled from public sources available at that date. Figures are as reported by the governments, their auditors, vendors and the press, and have not been independently verified.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Objective</a:t>
            </a:r>
            <a:endParaRPr lang="en-US" sz="3400" dirty="0"/>
          </a:p>
        </p:txBody>
      </p:sp>
      <p:sp>
        <p:nvSpPr>
          <p:cNvPr id="3" name="objective-band"/>
          <p:cNvSpPr/>
          <p:nvPr/>
        </p:nvSpPr>
        <p:spPr>
          <a:xfrm>
            <a:off x="548640" y="1188720"/>
            <a:ext cx="11091672" cy="1188720"/>
          </a:xfrm>
          <a:prstGeom prst="rect">
            <a:avLst/>
          </a:prstGeom>
          <a:solidFill>
            <a:schemeClr val="tx2"/>
          </a:solidFill>
          <a:ln w="12700">
            <a:solidFill>
              <a:schemeClr val="tx2"/>
            </a:solidFill>
            <a:prstDash val="solid"/>
          </a:ln>
        </p:spPr>
      </p:sp>
      <p:sp>
        <p:nvSpPr>
          <p:cNvPr id="4" name="objective-text"/>
          <p:cNvSpPr txBox="1"/>
          <p:nvPr/>
        </p:nvSpPr>
        <p:spPr>
          <a:xfrm>
            <a:off x="868680" y="1188720"/>
            <a:ext cx="10515600" cy="1188720"/>
          </a:xfrm>
          <a:prstGeom prst="rect">
            <a:avLst/>
          </a:prstGeom>
          <a:noFill/>
          <a:ln/>
        </p:spPr>
        <p:txBody>
          <a:bodyPr wrap="square" lIns="0" tIns="0" rIns="0" bIns="0" rtlCol="0" anchor="ctr"/>
          <a:lstStyle/>
          <a:p>
            <a:pPr indent="0" marL="0">
              <a:buNone/>
            </a:pPr>
            <a:r>
              <a:rPr lang="en-US" sz="2200" dirty="0">
                <a:solidFill>
                  <a:schemeClr val="bg1"/>
                </a:solidFill>
                <a:latin typeface="Cambria" pitchFamily="34" charset="0"/>
                <a:ea typeface="Cambria" pitchFamily="34" charset="-122"/>
                <a:cs typeface="Cambria" pitchFamily="34" charset="-120"/>
              </a:rPr>
              <a:t>To review the experience of different governments in adopting and transitioning to cloud: why they moved, what they did, what worked and what went wrong.</a:t>
            </a:r>
            <a:endParaRPr lang="en-US" sz="2200" dirty="0"/>
          </a:p>
        </p:txBody>
      </p:sp>
      <p:sp>
        <p:nvSpPr>
          <p:cNvPr id="5" name="cases-head"/>
          <p:cNvSpPr txBox="1"/>
          <p:nvPr/>
        </p:nvSpPr>
        <p:spPr>
          <a:xfrm>
            <a:off x="548640" y="2651760"/>
            <a:ext cx="548640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The five cases</a:t>
            </a:r>
            <a:endParaRPr lang="en-US" sz="1800" dirty="0"/>
          </a:p>
        </p:txBody>
      </p:sp>
      <p:pic>
        <p:nvPicPr>
          <p:cNvPr id="6" name="flag-sg-0.60" descr="Flag of Singapore">    </p:cNvPr>
          <p:cNvPicPr>
            <a:picLocks noChangeAspect="1"/>
          </p:cNvPicPr>
          <p:nvPr/>
        </p:nvPicPr>
        <p:blipFill>
          <a:blip r:embed="rId1"/>
          <a:stretch>
            <a:fillRect/>
          </a:stretch>
        </p:blipFill>
        <p:spPr>
          <a:xfrm>
            <a:off x="548640" y="3108960"/>
            <a:ext cx="402336" cy="402336"/>
          </a:xfrm>
          <a:prstGeom prst="rect">
            <a:avLst/>
          </a:prstGeom>
        </p:spPr>
      </p:pic>
      <p:sp>
        <p:nvSpPr>
          <p:cNvPr id="7" name="flag-ring-sg-0.60"/>
          <p:cNvSpPr/>
          <p:nvPr/>
        </p:nvSpPr>
        <p:spPr>
          <a:xfrm>
            <a:off x="548640" y="3108960"/>
            <a:ext cx="402336" cy="402336"/>
          </a:xfrm>
          <a:prstGeom prst="ellipse">
            <a:avLst/>
          </a:prstGeom>
          <a:noFill/>
          <a:ln w="9525">
            <a:solidFill>
              <a:srgbClr val="C9CDD3"/>
            </a:solidFill>
            <a:prstDash val="solid"/>
          </a:ln>
        </p:spPr>
      </p:sp>
      <p:sp>
        <p:nvSpPr>
          <p:cNvPr id="8" name="case-line-sg"/>
          <p:cNvSpPr txBox="1"/>
          <p:nvPr/>
        </p:nvSpPr>
        <p:spPr>
          <a:xfrm>
            <a:off x="1097280" y="3063240"/>
            <a:ext cx="5029200" cy="512064"/>
          </a:xfrm>
          <a:prstGeom prst="rect">
            <a:avLst/>
          </a:prstGeom>
          <a:noFill/>
          <a:ln/>
        </p:spPr>
        <p:txBody>
          <a:bodyPr wrap="square" lIns="0" tIns="0" rIns="0" bIns="0" rtlCol="0" anchor="ctr"/>
          <a:lstStyle/>
          <a:p>
            <a:pPr indent="0" marL="0">
              <a:buNone/>
            </a:pPr>
            <a:r>
              <a:rPr lang="en-US" sz="1400" dirty="0">
                <a:solidFill>
                  <a:schemeClr val="tx1"/>
                </a:solidFill>
              </a:rPr>
              <a:t>Singapore: a government-wide Cloud First strategy run through one shared platform, GCC.</a:t>
            </a:r>
            <a:r>
              <a:rPr lang="en-US" sz="1400" baseline="30000" dirty="0">
                <a:solidFill>
                  <a:schemeClr val="tx1"/>
                </a:solidFill>
              </a:rPr>
              <a:t>2,3</a:t>
            </a:r>
            <a:endParaRPr lang="en-US" sz="1400" dirty="0"/>
          </a:p>
        </p:txBody>
      </p:sp>
      <p:pic>
        <p:nvPicPr>
          <p:cNvPr id="9" name="flag-nz-0.60" descr="Flag of New Zealand">    </p:cNvPr>
          <p:cNvPicPr>
            <a:picLocks noChangeAspect="1"/>
          </p:cNvPicPr>
          <p:nvPr/>
        </p:nvPicPr>
        <p:blipFill>
          <a:blip r:embed="rId2"/>
          <a:stretch>
            <a:fillRect/>
          </a:stretch>
        </p:blipFill>
        <p:spPr>
          <a:xfrm>
            <a:off x="548640" y="3730752"/>
            <a:ext cx="402336" cy="402336"/>
          </a:xfrm>
          <a:prstGeom prst="rect">
            <a:avLst/>
          </a:prstGeom>
        </p:spPr>
      </p:pic>
      <p:sp>
        <p:nvSpPr>
          <p:cNvPr id="10" name="flag-ring-nz-0.60"/>
          <p:cNvSpPr/>
          <p:nvPr/>
        </p:nvSpPr>
        <p:spPr>
          <a:xfrm>
            <a:off x="548640" y="3730752"/>
            <a:ext cx="402336" cy="402336"/>
          </a:xfrm>
          <a:prstGeom prst="ellipse">
            <a:avLst/>
          </a:prstGeom>
          <a:noFill/>
          <a:ln w="9525">
            <a:solidFill>
              <a:srgbClr val="C9CDD3"/>
            </a:solidFill>
            <a:prstDash val="solid"/>
          </a:ln>
        </p:spPr>
      </p:sp>
      <p:sp>
        <p:nvSpPr>
          <p:cNvPr id="11" name="case-line-nz"/>
          <p:cNvSpPr txBox="1"/>
          <p:nvPr/>
        </p:nvSpPr>
        <p:spPr>
          <a:xfrm>
            <a:off x="1097280" y="3685032"/>
            <a:ext cx="5029200" cy="512064"/>
          </a:xfrm>
          <a:prstGeom prst="rect">
            <a:avLst/>
          </a:prstGeom>
          <a:noFill/>
          <a:ln/>
        </p:spPr>
        <p:txBody>
          <a:bodyPr wrap="square" lIns="0" tIns="0" rIns="0" bIns="0" rtlCol="0" anchor="ctr"/>
          <a:lstStyle/>
          <a:p>
            <a:pPr indent="0" marL="0">
              <a:buNone/>
            </a:pPr>
            <a:r>
              <a:rPr lang="en-US" sz="1400" dirty="0">
                <a:solidFill>
                  <a:schemeClr val="tx1"/>
                </a:solidFill>
              </a:rPr>
              <a:t>New Zealand: a Cloud First Policy for the whole public service since 2012.</a:t>
            </a:r>
            <a:r>
              <a:rPr lang="en-US" sz="1400" baseline="30000" dirty="0">
                <a:solidFill>
                  <a:schemeClr val="tx1"/>
                </a:solidFill>
              </a:rPr>
              <a:t>7</a:t>
            </a:r>
            <a:endParaRPr lang="en-US" sz="1400" dirty="0"/>
          </a:p>
        </p:txBody>
      </p:sp>
      <p:pic>
        <p:nvPicPr>
          <p:cNvPr id="12" name="flag-us-0.60" descr="Flag of the United States">    </p:cNvPr>
          <p:cNvPicPr>
            <a:picLocks noChangeAspect="1"/>
          </p:cNvPicPr>
          <p:nvPr/>
        </p:nvPicPr>
        <p:blipFill>
          <a:blip r:embed="rId3"/>
          <a:stretch>
            <a:fillRect/>
          </a:stretch>
        </p:blipFill>
        <p:spPr>
          <a:xfrm>
            <a:off x="548640" y="4352544"/>
            <a:ext cx="402336" cy="402336"/>
          </a:xfrm>
          <a:prstGeom prst="rect">
            <a:avLst/>
          </a:prstGeom>
        </p:spPr>
      </p:pic>
      <p:sp>
        <p:nvSpPr>
          <p:cNvPr id="13" name="flag-ring-us-0.60"/>
          <p:cNvSpPr/>
          <p:nvPr/>
        </p:nvSpPr>
        <p:spPr>
          <a:xfrm>
            <a:off x="548640" y="4352544"/>
            <a:ext cx="402336" cy="402336"/>
          </a:xfrm>
          <a:prstGeom prst="ellipse">
            <a:avLst/>
          </a:prstGeom>
          <a:noFill/>
          <a:ln w="9525">
            <a:solidFill>
              <a:srgbClr val="C9CDD3"/>
            </a:solidFill>
            <a:prstDash val="solid"/>
          </a:ln>
        </p:spPr>
      </p:sp>
      <p:sp>
        <p:nvSpPr>
          <p:cNvPr id="14" name="case-line-us"/>
          <p:cNvSpPr txBox="1"/>
          <p:nvPr/>
        </p:nvSpPr>
        <p:spPr>
          <a:xfrm>
            <a:off x="1097280" y="4306824"/>
            <a:ext cx="5029200" cy="512064"/>
          </a:xfrm>
          <a:prstGeom prst="rect">
            <a:avLst/>
          </a:prstGeom>
          <a:noFill/>
          <a:ln/>
        </p:spPr>
        <p:txBody>
          <a:bodyPr wrap="square" lIns="0" tIns="0" rIns="0" bIns="0" rtlCol="0" anchor="ctr"/>
          <a:lstStyle/>
          <a:p>
            <a:pPr indent="0" marL="0">
              <a:buNone/>
            </a:pPr>
            <a:r>
              <a:rPr lang="en-US" sz="1400" dirty="0">
                <a:solidFill>
                  <a:schemeClr val="tx1"/>
                </a:solidFill>
              </a:rPr>
              <a:t>United States: 16 federal agencies under Cloud First, reviewed by the GAO in 2019.</a:t>
            </a:r>
            <a:r>
              <a:rPr lang="en-US" sz="1400" baseline="30000" dirty="0">
                <a:solidFill>
                  <a:schemeClr val="tx1"/>
                </a:solidFill>
              </a:rPr>
              <a:t>11</a:t>
            </a:r>
            <a:endParaRPr lang="en-US" sz="1400" dirty="0"/>
          </a:p>
        </p:txBody>
      </p:sp>
      <p:pic>
        <p:nvPicPr>
          <p:cNvPr id="15" name="flag-gb-0.60" descr="Flag of the United Kingdom">    </p:cNvPr>
          <p:cNvPicPr>
            <a:picLocks noChangeAspect="1"/>
          </p:cNvPicPr>
          <p:nvPr/>
        </p:nvPicPr>
        <p:blipFill>
          <a:blip r:embed="rId4"/>
          <a:stretch>
            <a:fillRect/>
          </a:stretch>
        </p:blipFill>
        <p:spPr>
          <a:xfrm>
            <a:off x="548640" y="4974336"/>
            <a:ext cx="402336" cy="402336"/>
          </a:xfrm>
          <a:prstGeom prst="rect">
            <a:avLst/>
          </a:prstGeom>
        </p:spPr>
      </p:pic>
      <p:sp>
        <p:nvSpPr>
          <p:cNvPr id="16" name="flag-ring-gb-0.60"/>
          <p:cNvSpPr/>
          <p:nvPr/>
        </p:nvSpPr>
        <p:spPr>
          <a:xfrm>
            <a:off x="548640" y="4974336"/>
            <a:ext cx="402336" cy="402336"/>
          </a:xfrm>
          <a:prstGeom prst="ellipse">
            <a:avLst/>
          </a:prstGeom>
          <a:noFill/>
          <a:ln w="9525">
            <a:solidFill>
              <a:srgbClr val="C9CDD3"/>
            </a:solidFill>
            <a:prstDash val="solid"/>
          </a:ln>
        </p:spPr>
      </p:sp>
      <p:sp>
        <p:nvSpPr>
          <p:cNvPr id="17" name="case-line-gb"/>
          <p:cNvSpPr txBox="1"/>
          <p:nvPr/>
        </p:nvSpPr>
        <p:spPr>
          <a:xfrm>
            <a:off x="1097280" y="4928616"/>
            <a:ext cx="5029200" cy="512064"/>
          </a:xfrm>
          <a:prstGeom prst="rect">
            <a:avLst/>
          </a:prstGeom>
          <a:noFill/>
          <a:ln/>
        </p:spPr>
        <p:txBody>
          <a:bodyPr wrap="square" lIns="0" tIns="0" rIns="0" bIns="0" rtlCol="0" anchor="ctr"/>
          <a:lstStyle/>
          <a:p>
            <a:pPr indent="0" marL="0">
              <a:buNone/>
            </a:pPr>
            <a:r>
              <a:rPr lang="en-US" sz="1400" dirty="0">
                <a:solidFill>
                  <a:schemeClr val="tx1"/>
                </a:solidFill>
              </a:rPr>
              <a:t>United Kingdom: HMRC, the tax authority, leaving three old data centres.</a:t>
            </a:r>
            <a:r>
              <a:rPr lang="en-US" sz="1400" baseline="30000" dirty="0">
                <a:solidFill>
                  <a:schemeClr val="tx1"/>
                </a:solidFill>
              </a:rPr>
              <a:t>14,15</a:t>
            </a:r>
            <a:endParaRPr lang="en-US" sz="1400" dirty="0"/>
          </a:p>
        </p:txBody>
      </p:sp>
      <p:pic>
        <p:nvPicPr>
          <p:cNvPr id="18" name="flag-au-0.60" descr="Flag of Australia">    </p:cNvPr>
          <p:cNvPicPr>
            <a:picLocks noChangeAspect="1"/>
          </p:cNvPicPr>
          <p:nvPr/>
        </p:nvPicPr>
        <p:blipFill>
          <a:blip r:embed="rId5"/>
          <a:stretch>
            <a:fillRect/>
          </a:stretch>
        </p:blipFill>
        <p:spPr>
          <a:xfrm>
            <a:off x="548640" y="5596128"/>
            <a:ext cx="402336" cy="402336"/>
          </a:xfrm>
          <a:prstGeom prst="rect">
            <a:avLst/>
          </a:prstGeom>
        </p:spPr>
      </p:pic>
      <p:sp>
        <p:nvSpPr>
          <p:cNvPr id="19" name="flag-ring-au-0.60"/>
          <p:cNvSpPr/>
          <p:nvPr/>
        </p:nvSpPr>
        <p:spPr>
          <a:xfrm>
            <a:off x="548640" y="5596128"/>
            <a:ext cx="402336" cy="402336"/>
          </a:xfrm>
          <a:prstGeom prst="ellipse">
            <a:avLst/>
          </a:prstGeom>
          <a:noFill/>
          <a:ln w="9525">
            <a:solidFill>
              <a:srgbClr val="C9CDD3"/>
            </a:solidFill>
            <a:prstDash val="solid"/>
          </a:ln>
        </p:spPr>
      </p:sp>
      <p:sp>
        <p:nvSpPr>
          <p:cNvPr id="20" name="case-line-au"/>
          <p:cNvSpPr txBox="1"/>
          <p:nvPr/>
        </p:nvSpPr>
        <p:spPr>
          <a:xfrm>
            <a:off x="1097280" y="5550408"/>
            <a:ext cx="5029200" cy="512064"/>
          </a:xfrm>
          <a:prstGeom prst="rect">
            <a:avLst/>
          </a:prstGeom>
          <a:noFill/>
          <a:ln/>
        </p:spPr>
        <p:txBody>
          <a:bodyPr wrap="square" lIns="0" tIns="0" rIns="0" bIns="0" rtlCol="0" anchor="ctr"/>
          <a:lstStyle/>
          <a:p>
            <a:pPr indent="0" marL="0">
              <a:buNone/>
            </a:pPr>
            <a:r>
              <a:rPr lang="en-US" sz="1400" dirty="0">
                <a:solidFill>
                  <a:schemeClr val="tx1"/>
                </a:solidFill>
              </a:rPr>
              <a:t>Australia: the 2021 Census, run online on AWS after the 2016 outage.</a:t>
            </a:r>
            <a:r>
              <a:rPr lang="en-US" sz="1400" baseline="30000" dirty="0">
                <a:solidFill>
                  <a:schemeClr val="tx1"/>
                </a:solidFill>
              </a:rPr>
              <a:t>25,27</a:t>
            </a:r>
            <a:endParaRPr lang="en-US" sz="1400" dirty="0"/>
          </a:p>
        </p:txBody>
      </p:sp>
      <p:sp>
        <p:nvSpPr>
          <p:cNvPr id="21" name="approach-head"/>
          <p:cNvSpPr txBox="1"/>
          <p:nvPr/>
        </p:nvSpPr>
        <p:spPr>
          <a:xfrm>
            <a:off x="6675120" y="2651760"/>
            <a:ext cx="493776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How the cases are read</a:t>
            </a:r>
            <a:endParaRPr lang="en-US" sz="1800" dirty="0"/>
          </a:p>
        </p:txBody>
      </p:sp>
      <p:sp>
        <p:nvSpPr>
          <p:cNvPr id="22" name="approach-panel"/>
          <p:cNvSpPr/>
          <p:nvPr/>
        </p:nvSpPr>
        <p:spPr>
          <a:xfrm>
            <a:off x="6675120" y="3108960"/>
            <a:ext cx="4965192" cy="3063240"/>
          </a:xfrm>
          <a:prstGeom prst="rect">
            <a:avLst/>
          </a:prstGeom>
          <a:solidFill>
            <a:schemeClr val="bg2"/>
          </a:solidFill>
          <a:ln w="12700">
            <a:solidFill>
              <a:schemeClr val="bg2"/>
            </a:solidFill>
            <a:prstDash val="solid"/>
          </a:ln>
        </p:spPr>
      </p:sp>
      <p:sp>
        <p:nvSpPr>
          <p:cNvPr id="23" name="approach-text"/>
          <p:cNvSpPr txBox="1"/>
          <p:nvPr/>
        </p:nvSpPr>
        <p:spPr>
          <a:xfrm>
            <a:off x="6903720" y="3291840"/>
            <a:ext cx="4572000" cy="2743200"/>
          </a:xfrm>
          <a:prstGeom prst="rect">
            <a:avLst/>
          </a:prstGeom>
          <a:noFill/>
          <a:ln/>
        </p:spPr>
        <p:txBody>
          <a:bodyPr wrap="square" lIns="0" tIns="0" rIns="0" bIns="0" rtlCol="0" anchor="t"/>
          <a:lstStyle/>
          <a:p>
            <a:pPr marL="165100" indent="-165100">
              <a:spcAft>
                <a:spcPts val="500"/>
              </a:spcAft>
              <a:buSzPct val="100000"/>
              <a:buChar char="•"/>
            </a:pPr>
            <a:r>
              <a:rPr lang="en-US" sz="1400" dirty="0">
                <a:solidFill>
                  <a:schemeClr val="tx1"/>
                </a:solidFill>
              </a:rPr>
              <a:t>Each case follows the same template: why they moved, what they did, what went well, challenges and setbacks, and a verdict.</a:t>
            </a:r>
            <a:endParaRPr lang="en-US" sz="1400" dirty="0"/>
          </a:p>
          <a:p>
            <a:pPr marL="165100" indent="-165100">
              <a:spcAft>
                <a:spcPts val="500"/>
              </a:spcAft>
              <a:buSzPct val="100000"/>
              <a:buChar char="•"/>
            </a:pPr>
            <a:r>
              <a:rPr lang="en-US" sz="1400" dirty="0">
                <a:solidFill>
                  <a:schemeClr val="tx1"/>
                </a:solidFill>
              </a:rPr>
              <a:t>Every factual sentence carries a superscript number that matches the References slides, so it can be checked.</a:t>
            </a:r>
            <a:endParaRPr lang="en-US" sz="1400" dirty="0"/>
          </a:p>
          <a:p>
            <a:pPr marL="165100" indent="-165100">
              <a:spcAft>
                <a:spcPts val="500"/>
              </a:spcAft>
              <a:buSzPct val="100000"/>
              <a:buChar char="•"/>
            </a:pPr>
            <a:r>
              <a:rPr lang="en-US" sz="1400" dirty="0">
                <a:solidFill>
                  <a:schemeClr val="tx1"/>
                </a:solidFill>
              </a:rPr>
              <a:t>A * marks our own assessment of the sources, such as the verdicts.</a:t>
            </a:r>
            <a:endParaRPr lang="en-US" sz="1400" dirty="0"/>
          </a:p>
          <a:p>
            <a:pPr marL="165100" indent="-165100">
              <a:spcAft>
                <a:spcPts val="500"/>
              </a:spcAft>
              <a:buSzPct val="100000"/>
              <a:buChar char="•"/>
            </a:pPr>
            <a:r>
              <a:rPr lang="en-US" sz="1400" dirty="0">
                <a:solidFill>
                  <a:schemeClr val="tx1"/>
                </a:solidFill>
              </a:rPr>
              <a:t>Most figures come from the governments themselves; only the US and New Zealand programmes were audited on outcomes.</a:t>
            </a:r>
            <a:r>
              <a:rPr lang="en-US" sz="1400" baseline="30000" dirty="0">
                <a:solidFill>
                  <a:schemeClr val="tx1"/>
                </a:solidFill>
              </a:rPr>
              <a:t>8,11</a:t>
            </a:r>
            <a:endParaRPr lang="en-US" sz="1400" dirty="0"/>
          </a:p>
        </p:txBody>
      </p:sp>
      <p:sp>
        <p:nvSpPr>
          <p:cNvPr id="25" name="Slide Number Placeholder 0"/>
          <p:cNvSpPr>
            <a:spLocks noGrp="1"/>
          </p:cNvSpPr>
          <p:nvPr>
            <p:ph type="sldNum" sz="quarter" idx="4294967295"/>
          </p:nvPr>
        </p:nvSpPr>
        <p:spPr>
          <a:xfrm>
            <a:off x="11155680"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Contents</a:t>
            </a:r>
            <a:endParaRPr lang="en-US" sz="3400" dirty="0"/>
          </a:p>
        </p:txBody>
      </p:sp>
      <p:sp>
        <p:nvSpPr>
          <p:cNvPr id="3" name="toc-rule-0"/>
          <p:cNvSpPr/>
          <p:nvPr/>
        </p:nvSpPr>
        <p:spPr>
          <a:xfrm>
            <a:off x="548640" y="1280160"/>
            <a:ext cx="5349240" cy="0"/>
          </a:xfrm>
          <a:prstGeom prst="line">
            <a:avLst/>
          </a:prstGeom>
          <a:noFill/>
          <a:ln w="9525">
            <a:solidFill>
              <a:srgbClr val="DDDFE3"/>
            </a:solidFill>
            <a:prstDash val="solid"/>
          </a:ln>
        </p:spPr>
      </p:sp>
      <p:sp>
        <p:nvSpPr>
          <p:cNvPr id="4" name="toc-num-0"/>
          <p:cNvSpPr txBox="1"/>
          <p:nvPr/>
        </p:nvSpPr>
        <p:spPr>
          <a:xfrm>
            <a:off x="548640" y="1389888"/>
            <a:ext cx="548640" cy="685800"/>
          </a:xfrm>
          <a:prstGeom prst="rect">
            <a:avLst/>
          </a:prstGeom>
          <a:noFill/>
          <a:ln/>
        </p:spPr>
        <p:txBody>
          <a:bodyPr wrap="square" lIns="0" tIns="0" rIns="0" bIns="0" rtlCol="0" anchor="ctr"/>
          <a:lstStyle/>
          <a:p>
            <a:pPr indent="0" marL="0">
              <a:buNone/>
            </a:pPr>
            <a:r>
              <a:rPr lang="en-US" sz="3000" b="1" dirty="0">
                <a:solidFill>
                  <a:srgbClr val="B9C0C9"/>
                </a:solidFill>
                <a:latin typeface="Cambria" pitchFamily="34" charset="0"/>
                <a:ea typeface="Cambria" pitchFamily="34" charset="-122"/>
                <a:cs typeface="Cambria" pitchFamily="34" charset="-120"/>
              </a:rPr>
              <a:t>2</a:t>
            </a:r>
            <a:endParaRPr lang="en-US" sz="3000" dirty="0"/>
          </a:p>
        </p:txBody>
      </p:sp>
      <p:sp>
        <p:nvSpPr>
          <p:cNvPr id="5" name="toc-item-0"/>
          <p:cNvSpPr txBox="1"/>
          <p:nvPr/>
        </p:nvSpPr>
        <p:spPr>
          <a:xfrm>
            <a:off x="1234440" y="1389888"/>
            <a:ext cx="4663440" cy="6858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Objective</a:t>
            </a:r>
            <a:endParaRPr lang="en-US" sz="1800" dirty="0"/>
          </a:p>
          <a:p>
            <a:pPr indent="0" marL="0">
              <a:buNone/>
            </a:pPr>
            <a:r>
              <a:rPr lang="en-US" sz="1300" dirty="0">
                <a:solidFill>
                  <a:schemeClr val="accent5"/>
                </a:solidFill>
              </a:rPr>
              <a:t>What this review sets out to do</a:t>
            </a:r>
            <a:endParaRPr lang="en-US" sz="1800" dirty="0"/>
          </a:p>
        </p:txBody>
      </p:sp>
      <p:sp>
        <p:nvSpPr>
          <p:cNvPr id="6" name="toc-rule-1"/>
          <p:cNvSpPr/>
          <p:nvPr/>
        </p:nvSpPr>
        <p:spPr>
          <a:xfrm>
            <a:off x="548640" y="2240280"/>
            <a:ext cx="5349240" cy="0"/>
          </a:xfrm>
          <a:prstGeom prst="line">
            <a:avLst/>
          </a:prstGeom>
          <a:noFill/>
          <a:ln w="9525">
            <a:solidFill>
              <a:srgbClr val="DDDFE3"/>
            </a:solidFill>
            <a:prstDash val="solid"/>
          </a:ln>
        </p:spPr>
      </p:sp>
      <p:sp>
        <p:nvSpPr>
          <p:cNvPr id="7" name="toc-num-1"/>
          <p:cNvSpPr txBox="1"/>
          <p:nvPr/>
        </p:nvSpPr>
        <p:spPr>
          <a:xfrm>
            <a:off x="548640" y="2350008"/>
            <a:ext cx="548640" cy="685800"/>
          </a:xfrm>
          <a:prstGeom prst="rect">
            <a:avLst/>
          </a:prstGeom>
          <a:noFill/>
          <a:ln/>
        </p:spPr>
        <p:txBody>
          <a:bodyPr wrap="square" lIns="0" tIns="0" rIns="0" bIns="0" rtlCol="0" anchor="ctr"/>
          <a:lstStyle/>
          <a:p>
            <a:pPr indent="0" marL="0">
              <a:buNone/>
            </a:pPr>
            <a:r>
              <a:rPr lang="en-US" sz="3000" b="1" dirty="0">
                <a:solidFill>
                  <a:srgbClr val="B9C0C9"/>
                </a:solidFill>
                <a:latin typeface="Cambria" pitchFamily="34" charset="0"/>
                <a:ea typeface="Cambria" pitchFamily="34" charset="-122"/>
                <a:cs typeface="Cambria" pitchFamily="34" charset="-120"/>
              </a:rPr>
              <a:t>4</a:t>
            </a:r>
            <a:endParaRPr lang="en-US" sz="3000" dirty="0"/>
          </a:p>
        </p:txBody>
      </p:sp>
      <p:sp>
        <p:nvSpPr>
          <p:cNvPr id="8" name="toc-item-1"/>
          <p:cNvSpPr txBox="1"/>
          <p:nvPr/>
        </p:nvSpPr>
        <p:spPr>
          <a:xfrm>
            <a:off x="1234440" y="2350008"/>
            <a:ext cx="4663440" cy="6858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Why governments moved</a:t>
            </a:r>
            <a:endParaRPr lang="en-US" sz="1800" dirty="0"/>
          </a:p>
          <a:p>
            <a:pPr indent="0" marL="0">
              <a:buNone/>
            </a:pPr>
            <a:r>
              <a:rPr lang="en-US" sz="1300" dirty="0">
                <a:solidFill>
                  <a:schemeClr val="accent5"/>
                </a:solidFill>
              </a:rPr>
              <a:t>The reasons each government gave, side by side</a:t>
            </a:r>
            <a:endParaRPr lang="en-US" sz="1800" dirty="0"/>
          </a:p>
        </p:txBody>
      </p:sp>
      <p:sp>
        <p:nvSpPr>
          <p:cNvPr id="9" name="toc-rule-2"/>
          <p:cNvSpPr/>
          <p:nvPr/>
        </p:nvSpPr>
        <p:spPr>
          <a:xfrm>
            <a:off x="548640" y="3200400"/>
            <a:ext cx="5349240" cy="0"/>
          </a:xfrm>
          <a:prstGeom prst="line">
            <a:avLst/>
          </a:prstGeom>
          <a:noFill/>
          <a:ln w="9525">
            <a:solidFill>
              <a:srgbClr val="DDDFE3"/>
            </a:solidFill>
            <a:prstDash val="solid"/>
          </a:ln>
        </p:spPr>
      </p:sp>
      <p:sp>
        <p:nvSpPr>
          <p:cNvPr id="10" name="toc-num-2"/>
          <p:cNvSpPr txBox="1"/>
          <p:nvPr/>
        </p:nvSpPr>
        <p:spPr>
          <a:xfrm>
            <a:off x="548640" y="3310128"/>
            <a:ext cx="548640" cy="685800"/>
          </a:xfrm>
          <a:prstGeom prst="rect">
            <a:avLst/>
          </a:prstGeom>
          <a:noFill/>
          <a:ln/>
        </p:spPr>
        <p:txBody>
          <a:bodyPr wrap="square" lIns="0" tIns="0" rIns="0" bIns="0" rtlCol="0" anchor="ctr"/>
          <a:lstStyle/>
          <a:p>
            <a:pPr indent="0" marL="0">
              <a:buNone/>
            </a:pPr>
            <a:r>
              <a:rPr lang="en-US" sz="3000" b="1" dirty="0">
                <a:solidFill>
                  <a:srgbClr val="B9C0C9"/>
                </a:solidFill>
                <a:latin typeface="Cambria" pitchFamily="34" charset="0"/>
                <a:ea typeface="Cambria" pitchFamily="34" charset="-122"/>
                <a:cs typeface="Cambria" pitchFamily="34" charset="-120"/>
              </a:rPr>
              <a:t>5</a:t>
            </a:r>
            <a:endParaRPr lang="en-US" sz="3000" dirty="0"/>
          </a:p>
        </p:txBody>
      </p:sp>
      <p:pic>
        <p:nvPicPr>
          <p:cNvPr id="11" name="flag-sg-1.35" descr="Flag of Singapore">    </p:cNvPr>
          <p:cNvPicPr>
            <a:picLocks noChangeAspect="1"/>
          </p:cNvPicPr>
          <p:nvPr/>
        </p:nvPicPr>
        <p:blipFill>
          <a:blip r:embed="rId1"/>
          <a:stretch>
            <a:fillRect/>
          </a:stretch>
        </p:blipFill>
        <p:spPr>
          <a:xfrm>
            <a:off x="1234440" y="3447288"/>
            <a:ext cx="411480" cy="411480"/>
          </a:xfrm>
          <a:prstGeom prst="rect">
            <a:avLst/>
          </a:prstGeom>
        </p:spPr>
      </p:pic>
      <p:sp>
        <p:nvSpPr>
          <p:cNvPr id="12" name="flag-ring-sg-1.35"/>
          <p:cNvSpPr/>
          <p:nvPr/>
        </p:nvSpPr>
        <p:spPr>
          <a:xfrm>
            <a:off x="1234440" y="3447288"/>
            <a:ext cx="411480" cy="411480"/>
          </a:xfrm>
          <a:prstGeom prst="ellipse">
            <a:avLst/>
          </a:prstGeom>
          <a:noFill/>
          <a:ln w="9525">
            <a:solidFill>
              <a:srgbClr val="C9CDD3"/>
            </a:solidFill>
            <a:prstDash val="solid"/>
          </a:ln>
        </p:spPr>
      </p:sp>
      <p:sp>
        <p:nvSpPr>
          <p:cNvPr id="13" name="toc-item-2"/>
          <p:cNvSpPr txBox="1"/>
          <p:nvPr/>
        </p:nvSpPr>
        <p:spPr>
          <a:xfrm>
            <a:off x="1783080" y="3310128"/>
            <a:ext cx="4114800" cy="6858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Singapore</a:t>
            </a:r>
            <a:endParaRPr lang="en-US" sz="1800" dirty="0"/>
          </a:p>
          <a:p>
            <a:pPr indent="0" marL="0">
              <a:buNone/>
            </a:pPr>
            <a:r>
              <a:rPr lang="en-US" sz="1300" dirty="0">
                <a:solidFill>
                  <a:schemeClr val="accent5"/>
                </a:solidFill>
              </a:rPr>
              <a:t>Government on Commercial Cloud</a:t>
            </a:r>
            <a:endParaRPr lang="en-US" sz="1800" dirty="0"/>
          </a:p>
        </p:txBody>
      </p:sp>
      <p:sp>
        <p:nvSpPr>
          <p:cNvPr id="14" name="toc-rule-3"/>
          <p:cNvSpPr/>
          <p:nvPr/>
        </p:nvSpPr>
        <p:spPr>
          <a:xfrm>
            <a:off x="548640" y="4160520"/>
            <a:ext cx="5349240" cy="0"/>
          </a:xfrm>
          <a:prstGeom prst="line">
            <a:avLst/>
          </a:prstGeom>
          <a:noFill/>
          <a:ln w="9525">
            <a:solidFill>
              <a:srgbClr val="DDDFE3"/>
            </a:solidFill>
            <a:prstDash val="solid"/>
          </a:ln>
        </p:spPr>
      </p:sp>
      <p:sp>
        <p:nvSpPr>
          <p:cNvPr id="15" name="toc-num-3"/>
          <p:cNvSpPr txBox="1"/>
          <p:nvPr/>
        </p:nvSpPr>
        <p:spPr>
          <a:xfrm>
            <a:off x="548640" y="4270248"/>
            <a:ext cx="548640" cy="685800"/>
          </a:xfrm>
          <a:prstGeom prst="rect">
            <a:avLst/>
          </a:prstGeom>
          <a:noFill/>
          <a:ln/>
        </p:spPr>
        <p:txBody>
          <a:bodyPr wrap="square" lIns="0" tIns="0" rIns="0" bIns="0" rtlCol="0" anchor="ctr"/>
          <a:lstStyle/>
          <a:p>
            <a:pPr indent="0" marL="0">
              <a:buNone/>
            </a:pPr>
            <a:r>
              <a:rPr lang="en-US" sz="3000" b="1" dirty="0">
                <a:solidFill>
                  <a:srgbClr val="B9C0C9"/>
                </a:solidFill>
                <a:latin typeface="Cambria" pitchFamily="34" charset="0"/>
                <a:ea typeface="Cambria" pitchFamily="34" charset="-122"/>
                <a:cs typeface="Cambria" pitchFamily="34" charset="-120"/>
              </a:rPr>
              <a:t>6</a:t>
            </a:r>
            <a:endParaRPr lang="en-US" sz="3000" dirty="0"/>
          </a:p>
        </p:txBody>
      </p:sp>
      <p:pic>
        <p:nvPicPr>
          <p:cNvPr id="16" name="flag-nz-1.35" descr="Flag of New Zealand">    </p:cNvPr>
          <p:cNvPicPr>
            <a:picLocks noChangeAspect="1"/>
          </p:cNvPicPr>
          <p:nvPr/>
        </p:nvPicPr>
        <p:blipFill>
          <a:blip r:embed="rId2"/>
          <a:stretch>
            <a:fillRect/>
          </a:stretch>
        </p:blipFill>
        <p:spPr>
          <a:xfrm>
            <a:off x="1234440" y="4407408"/>
            <a:ext cx="411480" cy="411480"/>
          </a:xfrm>
          <a:prstGeom prst="rect">
            <a:avLst/>
          </a:prstGeom>
        </p:spPr>
      </p:pic>
      <p:sp>
        <p:nvSpPr>
          <p:cNvPr id="17" name="flag-ring-nz-1.35"/>
          <p:cNvSpPr/>
          <p:nvPr/>
        </p:nvSpPr>
        <p:spPr>
          <a:xfrm>
            <a:off x="1234440" y="4407408"/>
            <a:ext cx="411480" cy="411480"/>
          </a:xfrm>
          <a:prstGeom prst="ellipse">
            <a:avLst/>
          </a:prstGeom>
          <a:noFill/>
          <a:ln w="9525">
            <a:solidFill>
              <a:srgbClr val="C9CDD3"/>
            </a:solidFill>
            <a:prstDash val="solid"/>
          </a:ln>
        </p:spPr>
      </p:sp>
      <p:sp>
        <p:nvSpPr>
          <p:cNvPr id="18" name="toc-item-3"/>
          <p:cNvSpPr txBox="1"/>
          <p:nvPr/>
        </p:nvSpPr>
        <p:spPr>
          <a:xfrm>
            <a:off x="1783080" y="4270248"/>
            <a:ext cx="4114800" cy="6858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New Zealand</a:t>
            </a:r>
            <a:endParaRPr lang="en-US" sz="1800" dirty="0"/>
          </a:p>
          <a:p>
            <a:pPr indent="0" marL="0">
              <a:buNone/>
            </a:pPr>
            <a:r>
              <a:rPr lang="en-US" sz="1300" dirty="0">
                <a:solidFill>
                  <a:schemeClr val="accent5"/>
                </a:solidFill>
              </a:rPr>
              <a:t>The public service Cloud First Policy</a:t>
            </a:r>
            <a:endParaRPr lang="en-US" sz="1800" dirty="0"/>
          </a:p>
        </p:txBody>
      </p:sp>
      <p:sp>
        <p:nvSpPr>
          <p:cNvPr id="19" name="toc-rule-4"/>
          <p:cNvSpPr/>
          <p:nvPr/>
        </p:nvSpPr>
        <p:spPr>
          <a:xfrm>
            <a:off x="548640" y="5120640"/>
            <a:ext cx="5349240" cy="0"/>
          </a:xfrm>
          <a:prstGeom prst="line">
            <a:avLst/>
          </a:prstGeom>
          <a:noFill/>
          <a:ln w="9525">
            <a:solidFill>
              <a:srgbClr val="DDDFE3"/>
            </a:solidFill>
            <a:prstDash val="solid"/>
          </a:ln>
        </p:spPr>
      </p:sp>
      <p:sp>
        <p:nvSpPr>
          <p:cNvPr id="20" name="toc-num-4"/>
          <p:cNvSpPr txBox="1"/>
          <p:nvPr/>
        </p:nvSpPr>
        <p:spPr>
          <a:xfrm>
            <a:off x="548640" y="5230368"/>
            <a:ext cx="548640" cy="685800"/>
          </a:xfrm>
          <a:prstGeom prst="rect">
            <a:avLst/>
          </a:prstGeom>
          <a:noFill/>
          <a:ln/>
        </p:spPr>
        <p:txBody>
          <a:bodyPr wrap="square" lIns="0" tIns="0" rIns="0" bIns="0" rtlCol="0" anchor="ctr"/>
          <a:lstStyle/>
          <a:p>
            <a:pPr indent="0" marL="0">
              <a:buNone/>
            </a:pPr>
            <a:r>
              <a:rPr lang="en-US" sz="3000" b="1" dirty="0">
                <a:solidFill>
                  <a:srgbClr val="B9C0C9"/>
                </a:solidFill>
                <a:latin typeface="Cambria" pitchFamily="34" charset="0"/>
                <a:ea typeface="Cambria" pitchFamily="34" charset="-122"/>
                <a:cs typeface="Cambria" pitchFamily="34" charset="-120"/>
              </a:rPr>
              <a:t>7</a:t>
            </a:r>
            <a:endParaRPr lang="en-US" sz="3000" dirty="0"/>
          </a:p>
        </p:txBody>
      </p:sp>
      <p:pic>
        <p:nvPicPr>
          <p:cNvPr id="21" name="flag-us-1.35" descr="Flag of the United States">    </p:cNvPr>
          <p:cNvPicPr>
            <a:picLocks noChangeAspect="1"/>
          </p:cNvPicPr>
          <p:nvPr/>
        </p:nvPicPr>
        <p:blipFill>
          <a:blip r:embed="rId3"/>
          <a:stretch>
            <a:fillRect/>
          </a:stretch>
        </p:blipFill>
        <p:spPr>
          <a:xfrm>
            <a:off x="1234440" y="5367528"/>
            <a:ext cx="411480" cy="411480"/>
          </a:xfrm>
          <a:prstGeom prst="rect">
            <a:avLst/>
          </a:prstGeom>
        </p:spPr>
      </p:pic>
      <p:sp>
        <p:nvSpPr>
          <p:cNvPr id="22" name="flag-ring-us-1.35"/>
          <p:cNvSpPr/>
          <p:nvPr/>
        </p:nvSpPr>
        <p:spPr>
          <a:xfrm>
            <a:off x="1234440" y="5367528"/>
            <a:ext cx="411480" cy="411480"/>
          </a:xfrm>
          <a:prstGeom prst="ellipse">
            <a:avLst/>
          </a:prstGeom>
          <a:noFill/>
          <a:ln w="9525">
            <a:solidFill>
              <a:srgbClr val="C9CDD3"/>
            </a:solidFill>
            <a:prstDash val="solid"/>
          </a:ln>
        </p:spPr>
      </p:sp>
      <p:sp>
        <p:nvSpPr>
          <p:cNvPr id="23" name="toc-item-4"/>
          <p:cNvSpPr txBox="1"/>
          <p:nvPr/>
        </p:nvSpPr>
        <p:spPr>
          <a:xfrm>
            <a:off x="1783080" y="5230368"/>
            <a:ext cx="4114800" cy="6858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United States</a:t>
            </a:r>
            <a:endParaRPr lang="en-US" sz="1800" dirty="0"/>
          </a:p>
          <a:p>
            <a:pPr indent="0" marL="0">
              <a:buNone/>
            </a:pPr>
            <a:r>
              <a:rPr lang="en-US" sz="1300" dirty="0">
                <a:solidFill>
                  <a:schemeClr val="accent5"/>
                </a:solidFill>
              </a:rPr>
              <a:t>16 federal agencies, reviewed by the GAO</a:t>
            </a:r>
            <a:endParaRPr lang="en-US" sz="1800" dirty="0"/>
          </a:p>
        </p:txBody>
      </p:sp>
      <p:sp>
        <p:nvSpPr>
          <p:cNvPr id="24" name="toc-rule-5"/>
          <p:cNvSpPr/>
          <p:nvPr/>
        </p:nvSpPr>
        <p:spPr>
          <a:xfrm>
            <a:off x="6263640" y="1280160"/>
            <a:ext cx="5349240" cy="0"/>
          </a:xfrm>
          <a:prstGeom prst="line">
            <a:avLst/>
          </a:prstGeom>
          <a:noFill/>
          <a:ln w="9525">
            <a:solidFill>
              <a:srgbClr val="DDDFE3"/>
            </a:solidFill>
            <a:prstDash val="solid"/>
          </a:ln>
        </p:spPr>
      </p:sp>
      <p:sp>
        <p:nvSpPr>
          <p:cNvPr id="25" name="toc-num-5"/>
          <p:cNvSpPr txBox="1"/>
          <p:nvPr/>
        </p:nvSpPr>
        <p:spPr>
          <a:xfrm>
            <a:off x="6263640" y="1389888"/>
            <a:ext cx="548640" cy="685800"/>
          </a:xfrm>
          <a:prstGeom prst="rect">
            <a:avLst/>
          </a:prstGeom>
          <a:noFill/>
          <a:ln/>
        </p:spPr>
        <p:txBody>
          <a:bodyPr wrap="square" lIns="0" tIns="0" rIns="0" bIns="0" rtlCol="0" anchor="ctr"/>
          <a:lstStyle/>
          <a:p>
            <a:pPr indent="0" marL="0">
              <a:buNone/>
            </a:pPr>
            <a:r>
              <a:rPr lang="en-US" sz="3000" b="1" dirty="0">
                <a:solidFill>
                  <a:srgbClr val="B9C0C9"/>
                </a:solidFill>
                <a:latin typeface="Cambria" pitchFamily="34" charset="0"/>
                <a:ea typeface="Cambria" pitchFamily="34" charset="-122"/>
                <a:cs typeface="Cambria" pitchFamily="34" charset="-120"/>
              </a:rPr>
              <a:t>8</a:t>
            </a:r>
            <a:endParaRPr lang="en-US" sz="3000" dirty="0"/>
          </a:p>
        </p:txBody>
      </p:sp>
      <p:pic>
        <p:nvPicPr>
          <p:cNvPr id="26" name="flag-gb-7.60" descr="Flag of the United Kingdom">    </p:cNvPr>
          <p:cNvPicPr>
            <a:picLocks noChangeAspect="1"/>
          </p:cNvPicPr>
          <p:nvPr/>
        </p:nvPicPr>
        <p:blipFill>
          <a:blip r:embed="rId4"/>
          <a:stretch>
            <a:fillRect/>
          </a:stretch>
        </p:blipFill>
        <p:spPr>
          <a:xfrm>
            <a:off x="6949440" y="1527048"/>
            <a:ext cx="411480" cy="411480"/>
          </a:xfrm>
          <a:prstGeom prst="rect">
            <a:avLst/>
          </a:prstGeom>
        </p:spPr>
      </p:pic>
      <p:sp>
        <p:nvSpPr>
          <p:cNvPr id="27" name="flag-ring-gb-7.60"/>
          <p:cNvSpPr/>
          <p:nvPr/>
        </p:nvSpPr>
        <p:spPr>
          <a:xfrm>
            <a:off x="6949440" y="1527048"/>
            <a:ext cx="411480" cy="411480"/>
          </a:xfrm>
          <a:prstGeom prst="ellipse">
            <a:avLst/>
          </a:prstGeom>
          <a:noFill/>
          <a:ln w="9525">
            <a:solidFill>
              <a:srgbClr val="C9CDD3"/>
            </a:solidFill>
            <a:prstDash val="solid"/>
          </a:ln>
        </p:spPr>
      </p:sp>
      <p:sp>
        <p:nvSpPr>
          <p:cNvPr id="28" name="toc-item-5"/>
          <p:cNvSpPr txBox="1"/>
          <p:nvPr/>
        </p:nvSpPr>
        <p:spPr>
          <a:xfrm>
            <a:off x="7498080" y="1389888"/>
            <a:ext cx="4114800" cy="6858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United Kingdom</a:t>
            </a:r>
            <a:endParaRPr lang="en-US" sz="1800" dirty="0"/>
          </a:p>
          <a:p>
            <a:pPr indent="0" marL="0">
              <a:buNone/>
            </a:pPr>
            <a:r>
              <a:rPr lang="en-US" sz="1300" dirty="0">
                <a:solidFill>
                  <a:schemeClr val="accent5"/>
                </a:solidFill>
              </a:rPr>
              <a:t>HM Revenue &amp; Customs</a:t>
            </a:r>
            <a:endParaRPr lang="en-US" sz="1800" dirty="0"/>
          </a:p>
        </p:txBody>
      </p:sp>
      <p:sp>
        <p:nvSpPr>
          <p:cNvPr id="29" name="toc-rule-6"/>
          <p:cNvSpPr/>
          <p:nvPr/>
        </p:nvSpPr>
        <p:spPr>
          <a:xfrm>
            <a:off x="6263640" y="2240280"/>
            <a:ext cx="5349240" cy="0"/>
          </a:xfrm>
          <a:prstGeom prst="line">
            <a:avLst/>
          </a:prstGeom>
          <a:noFill/>
          <a:ln w="9525">
            <a:solidFill>
              <a:srgbClr val="DDDFE3"/>
            </a:solidFill>
            <a:prstDash val="solid"/>
          </a:ln>
        </p:spPr>
      </p:sp>
      <p:sp>
        <p:nvSpPr>
          <p:cNvPr id="30" name="toc-num-6"/>
          <p:cNvSpPr txBox="1"/>
          <p:nvPr/>
        </p:nvSpPr>
        <p:spPr>
          <a:xfrm>
            <a:off x="6263640" y="2350008"/>
            <a:ext cx="548640" cy="685800"/>
          </a:xfrm>
          <a:prstGeom prst="rect">
            <a:avLst/>
          </a:prstGeom>
          <a:noFill/>
          <a:ln/>
        </p:spPr>
        <p:txBody>
          <a:bodyPr wrap="square" lIns="0" tIns="0" rIns="0" bIns="0" rtlCol="0" anchor="ctr"/>
          <a:lstStyle/>
          <a:p>
            <a:pPr indent="0" marL="0">
              <a:buNone/>
            </a:pPr>
            <a:r>
              <a:rPr lang="en-US" sz="3000" b="1" dirty="0">
                <a:solidFill>
                  <a:srgbClr val="B9C0C9"/>
                </a:solidFill>
                <a:latin typeface="Cambria" pitchFamily="34" charset="0"/>
                <a:ea typeface="Cambria" pitchFamily="34" charset="-122"/>
                <a:cs typeface="Cambria" pitchFamily="34" charset="-120"/>
              </a:rPr>
              <a:t>9</a:t>
            </a:r>
            <a:endParaRPr lang="en-US" sz="3000" dirty="0"/>
          </a:p>
        </p:txBody>
      </p:sp>
      <p:pic>
        <p:nvPicPr>
          <p:cNvPr id="31" name="flag-au-7.60" descr="Flag of Australia">    </p:cNvPr>
          <p:cNvPicPr>
            <a:picLocks noChangeAspect="1"/>
          </p:cNvPicPr>
          <p:nvPr/>
        </p:nvPicPr>
        <p:blipFill>
          <a:blip r:embed="rId5"/>
          <a:stretch>
            <a:fillRect/>
          </a:stretch>
        </p:blipFill>
        <p:spPr>
          <a:xfrm>
            <a:off x="6949440" y="2487168"/>
            <a:ext cx="411480" cy="411480"/>
          </a:xfrm>
          <a:prstGeom prst="rect">
            <a:avLst/>
          </a:prstGeom>
        </p:spPr>
      </p:pic>
      <p:sp>
        <p:nvSpPr>
          <p:cNvPr id="32" name="flag-ring-au-7.60"/>
          <p:cNvSpPr/>
          <p:nvPr/>
        </p:nvSpPr>
        <p:spPr>
          <a:xfrm>
            <a:off x="6949440" y="2487168"/>
            <a:ext cx="411480" cy="411480"/>
          </a:xfrm>
          <a:prstGeom prst="ellipse">
            <a:avLst/>
          </a:prstGeom>
          <a:noFill/>
          <a:ln w="9525">
            <a:solidFill>
              <a:srgbClr val="C9CDD3"/>
            </a:solidFill>
            <a:prstDash val="solid"/>
          </a:ln>
        </p:spPr>
      </p:sp>
      <p:sp>
        <p:nvSpPr>
          <p:cNvPr id="33" name="toc-item-6"/>
          <p:cNvSpPr txBox="1"/>
          <p:nvPr/>
        </p:nvSpPr>
        <p:spPr>
          <a:xfrm>
            <a:off x="7498080" y="2350008"/>
            <a:ext cx="4114800" cy="6858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Australia</a:t>
            </a:r>
            <a:endParaRPr lang="en-US" sz="1800" dirty="0"/>
          </a:p>
          <a:p>
            <a:pPr indent="0" marL="0">
              <a:buNone/>
            </a:pPr>
            <a:r>
              <a:rPr lang="en-US" sz="1300" dirty="0">
                <a:solidFill>
                  <a:schemeClr val="accent5"/>
                </a:solidFill>
              </a:rPr>
              <a:t>Australian Bureau of Statistics: the 2021 Census</a:t>
            </a:r>
            <a:endParaRPr lang="en-US" sz="1800" dirty="0"/>
          </a:p>
        </p:txBody>
      </p:sp>
      <p:sp>
        <p:nvSpPr>
          <p:cNvPr id="34" name="toc-rule-7"/>
          <p:cNvSpPr/>
          <p:nvPr/>
        </p:nvSpPr>
        <p:spPr>
          <a:xfrm>
            <a:off x="6263640" y="3200400"/>
            <a:ext cx="5349240" cy="0"/>
          </a:xfrm>
          <a:prstGeom prst="line">
            <a:avLst/>
          </a:prstGeom>
          <a:noFill/>
          <a:ln w="9525">
            <a:solidFill>
              <a:srgbClr val="DDDFE3"/>
            </a:solidFill>
            <a:prstDash val="solid"/>
          </a:ln>
        </p:spPr>
      </p:sp>
      <p:sp>
        <p:nvSpPr>
          <p:cNvPr id="35" name="toc-num-7"/>
          <p:cNvSpPr txBox="1"/>
          <p:nvPr/>
        </p:nvSpPr>
        <p:spPr>
          <a:xfrm>
            <a:off x="6263640" y="3310128"/>
            <a:ext cx="548640" cy="685800"/>
          </a:xfrm>
          <a:prstGeom prst="rect">
            <a:avLst/>
          </a:prstGeom>
          <a:noFill/>
          <a:ln/>
        </p:spPr>
        <p:txBody>
          <a:bodyPr wrap="square" lIns="0" tIns="0" rIns="0" bIns="0" rtlCol="0" anchor="ctr"/>
          <a:lstStyle/>
          <a:p>
            <a:pPr indent="0" marL="0">
              <a:buNone/>
            </a:pPr>
            <a:r>
              <a:rPr lang="en-US" sz="3000" b="1" dirty="0">
                <a:solidFill>
                  <a:srgbClr val="B9C0C9"/>
                </a:solidFill>
                <a:latin typeface="Cambria" pitchFamily="34" charset="0"/>
                <a:ea typeface="Cambria" pitchFamily="34" charset="-122"/>
                <a:cs typeface="Cambria" pitchFamily="34" charset="-120"/>
              </a:rPr>
              <a:t>10</a:t>
            </a:r>
            <a:endParaRPr lang="en-US" sz="3000" dirty="0"/>
          </a:p>
        </p:txBody>
      </p:sp>
      <p:sp>
        <p:nvSpPr>
          <p:cNvPr id="36" name="toc-item-7"/>
          <p:cNvSpPr txBox="1"/>
          <p:nvPr/>
        </p:nvSpPr>
        <p:spPr>
          <a:xfrm>
            <a:off x="6949440" y="3310128"/>
            <a:ext cx="4663440" cy="6858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Conclusions</a:t>
            </a:r>
            <a:endParaRPr lang="en-US" sz="1800" dirty="0"/>
          </a:p>
          <a:p>
            <a:pPr indent="0" marL="0">
              <a:buNone/>
            </a:pPr>
            <a:r>
              <a:rPr lang="en-US" sz="1300" dirty="0">
                <a:solidFill>
                  <a:schemeClr val="accent5"/>
                </a:solidFill>
              </a:rPr>
              <a:t>Lessons learned and what the cases have in common</a:t>
            </a:r>
            <a:endParaRPr lang="en-US" sz="1800" dirty="0"/>
          </a:p>
        </p:txBody>
      </p:sp>
      <p:sp>
        <p:nvSpPr>
          <p:cNvPr id="37" name="toc-rule-8"/>
          <p:cNvSpPr/>
          <p:nvPr/>
        </p:nvSpPr>
        <p:spPr>
          <a:xfrm>
            <a:off x="6263640" y="4160520"/>
            <a:ext cx="5349240" cy="0"/>
          </a:xfrm>
          <a:prstGeom prst="line">
            <a:avLst/>
          </a:prstGeom>
          <a:noFill/>
          <a:ln w="9525">
            <a:solidFill>
              <a:srgbClr val="DDDFE3"/>
            </a:solidFill>
            <a:prstDash val="solid"/>
          </a:ln>
        </p:spPr>
      </p:sp>
      <p:sp>
        <p:nvSpPr>
          <p:cNvPr id="38" name="toc-num-8"/>
          <p:cNvSpPr txBox="1"/>
          <p:nvPr/>
        </p:nvSpPr>
        <p:spPr>
          <a:xfrm>
            <a:off x="6263640" y="4270248"/>
            <a:ext cx="548640" cy="685800"/>
          </a:xfrm>
          <a:prstGeom prst="rect">
            <a:avLst/>
          </a:prstGeom>
          <a:noFill/>
          <a:ln/>
        </p:spPr>
        <p:txBody>
          <a:bodyPr wrap="square" lIns="0" tIns="0" rIns="0" bIns="0" rtlCol="0" anchor="ctr"/>
          <a:lstStyle/>
          <a:p>
            <a:pPr indent="0" marL="0">
              <a:buNone/>
            </a:pPr>
            <a:r>
              <a:rPr lang="en-US" sz="3000" b="1" dirty="0">
                <a:solidFill>
                  <a:srgbClr val="B9C0C9"/>
                </a:solidFill>
                <a:latin typeface="Cambria" pitchFamily="34" charset="0"/>
                <a:ea typeface="Cambria" pitchFamily="34" charset="-122"/>
                <a:cs typeface="Cambria" pitchFamily="34" charset="-120"/>
              </a:rPr>
              <a:t>11</a:t>
            </a:r>
            <a:endParaRPr lang="en-US" sz="3000" dirty="0"/>
          </a:p>
        </p:txBody>
      </p:sp>
      <p:sp>
        <p:nvSpPr>
          <p:cNvPr id="39" name="toc-item-8"/>
          <p:cNvSpPr txBox="1"/>
          <p:nvPr/>
        </p:nvSpPr>
        <p:spPr>
          <a:xfrm>
            <a:off x="6949440" y="4270248"/>
            <a:ext cx="4663440" cy="6858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Summary table</a:t>
            </a:r>
            <a:endParaRPr lang="en-US" sz="1800" dirty="0"/>
          </a:p>
          <a:p>
            <a:pPr indent="0" marL="0">
              <a:buNone/>
            </a:pPr>
            <a:r>
              <a:rPr lang="en-US" sz="1300" dirty="0">
                <a:solidFill>
                  <a:schemeClr val="accent5"/>
                </a:solidFill>
              </a:rPr>
              <a:t>All five cases side by side</a:t>
            </a:r>
            <a:endParaRPr lang="en-US" sz="1800" dirty="0"/>
          </a:p>
        </p:txBody>
      </p:sp>
      <p:sp>
        <p:nvSpPr>
          <p:cNvPr id="40" name="toc-rule-9"/>
          <p:cNvSpPr/>
          <p:nvPr/>
        </p:nvSpPr>
        <p:spPr>
          <a:xfrm>
            <a:off x="6263640" y="5120640"/>
            <a:ext cx="5349240" cy="0"/>
          </a:xfrm>
          <a:prstGeom prst="line">
            <a:avLst/>
          </a:prstGeom>
          <a:noFill/>
          <a:ln w="9525">
            <a:solidFill>
              <a:srgbClr val="DDDFE3"/>
            </a:solidFill>
            <a:prstDash val="solid"/>
          </a:ln>
        </p:spPr>
      </p:sp>
      <p:sp>
        <p:nvSpPr>
          <p:cNvPr id="41" name="toc-num-9"/>
          <p:cNvSpPr txBox="1"/>
          <p:nvPr/>
        </p:nvSpPr>
        <p:spPr>
          <a:xfrm>
            <a:off x="6263640" y="5230368"/>
            <a:ext cx="548640" cy="685800"/>
          </a:xfrm>
          <a:prstGeom prst="rect">
            <a:avLst/>
          </a:prstGeom>
          <a:noFill/>
          <a:ln/>
        </p:spPr>
        <p:txBody>
          <a:bodyPr wrap="square" lIns="0" tIns="0" rIns="0" bIns="0" rtlCol="0" anchor="ctr"/>
          <a:lstStyle/>
          <a:p>
            <a:pPr indent="0" marL="0">
              <a:buNone/>
            </a:pPr>
            <a:r>
              <a:rPr lang="en-US" sz="3000" b="1" dirty="0">
                <a:solidFill>
                  <a:srgbClr val="B9C0C9"/>
                </a:solidFill>
                <a:latin typeface="Cambria" pitchFamily="34" charset="0"/>
                <a:ea typeface="Cambria" pitchFamily="34" charset="-122"/>
                <a:cs typeface="Cambria" pitchFamily="34" charset="-120"/>
              </a:rPr>
              <a:t>12</a:t>
            </a:r>
            <a:endParaRPr lang="en-US" sz="3000" dirty="0"/>
          </a:p>
        </p:txBody>
      </p:sp>
      <p:sp>
        <p:nvSpPr>
          <p:cNvPr id="42" name="toc-item-9"/>
          <p:cNvSpPr txBox="1"/>
          <p:nvPr/>
        </p:nvSpPr>
        <p:spPr>
          <a:xfrm>
            <a:off x="6949440" y="5230368"/>
            <a:ext cx="4663440" cy="6858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References</a:t>
            </a:r>
            <a:endParaRPr lang="en-US" sz="1800" dirty="0"/>
          </a:p>
          <a:p>
            <a:pPr indent="0" marL="0">
              <a:buNone/>
            </a:pPr>
            <a:r>
              <a:rPr lang="en-US" sz="1300" dirty="0">
                <a:solidFill>
                  <a:schemeClr val="accent5"/>
                </a:solidFill>
              </a:rPr>
              <a:t>The 32 numbered sources behind every sentence (slides 12–14)</a:t>
            </a:r>
            <a:endParaRPr lang="en-US" sz="1800" dirty="0"/>
          </a:p>
        </p:txBody>
      </p:sp>
      <p:sp>
        <p:nvSpPr>
          <p:cNvPr id="25" name="Slide Number Placeholder 0"/>
          <p:cNvSpPr>
            <a:spLocks noGrp="1"/>
          </p:cNvSpPr>
          <p:nvPr>
            <p:ph type="sldNum" sz="quarter" idx="4294967295"/>
          </p:nvPr>
        </p:nvSpPr>
        <p:spPr>
          <a:xfrm>
            <a:off x="11155680"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Why governments moved: policy and risk</a:t>
            </a:r>
            <a:endParaRPr lang="en-US" sz="3400" dirty="0"/>
          </a:p>
        </p:txBody>
      </p:sp>
      <p:pic>
        <p:nvPicPr>
          <p:cNvPr id="3" name="flag-sg-4.30" descr="Flag of Singapore">    </p:cNvPr>
          <p:cNvPicPr>
            <a:picLocks noChangeAspect="1"/>
          </p:cNvPicPr>
          <p:nvPr/>
        </p:nvPicPr>
        <p:blipFill>
          <a:blip r:embed="rId1"/>
          <a:stretch>
            <a:fillRect/>
          </a:stretch>
        </p:blipFill>
        <p:spPr>
          <a:xfrm>
            <a:off x="3931920" y="1234440"/>
            <a:ext cx="365760" cy="365760"/>
          </a:xfrm>
          <a:prstGeom prst="rect">
            <a:avLst/>
          </a:prstGeom>
        </p:spPr>
      </p:pic>
      <p:sp>
        <p:nvSpPr>
          <p:cNvPr id="4" name="flag-ring-sg-4.30"/>
          <p:cNvSpPr/>
          <p:nvPr/>
        </p:nvSpPr>
        <p:spPr>
          <a:xfrm>
            <a:off x="3931920" y="1234440"/>
            <a:ext cx="365760" cy="365760"/>
          </a:xfrm>
          <a:prstGeom prst="ellipse">
            <a:avLst/>
          </a:prstGeom>
          <a:noFill/>
          <a:ln w="9525">
            <a:solidFill>
              <a:srgbClr val="C9CDD3"/>
            </a:solidFill>
            <a:prstDash val="solid"/>
          </a:ln>
        </p:spPr>
      </p:sp>
      <p:sp>
        <p:nvSpPr>
          <p:cNvPr id="5" name="mot-head-sg"/>
          <p:cNvSpPr txBox="1"/>
          <p:nvPr/>
        </p:nvSpPr>
        <p:spPr>
          <a:xfrm>
            <a:off x="3611880" y="1645920"/>
            <a:ext cx="1005840" cy="365760"/>
          </a:xfrm>
          <a:prstGeom prst="rect">
            <a:avLst/>
          </a:prstGeom>
          <a:noFill/>
          <a:ln/>
        </p:spPr>
        <p:txBody>
          <a:bodyPr wrap="square" lIns="0" tIns="0" rIns="0" bIns="0" rtlCol="0" anchor="t"/>
          <a:lstStyle/>
          <a:p>
            <a:pPr algn="ctr" indent="0" marL="0">
              <a:buNone/>
            </a:pPr>
            <a:r>
              <a:rPr lang="en-US" sz="1100" dirty="0">
                <a:solidFill>
                  <a:schemeClr val="tx1"/>
                </a:solidFill>
              </a:rPr>
              <a:t>Singapore</a:t>
            </a:r>
            <a:endParaRPr lang="en-US" sz="1100" dirty="0"/>
          </a:p>
        </p:txBody>
      </p:sp>
      <p:pic>
        <p:nvPicPr>
          <p:cNvPr id="6" name="flag-nz-5.30" descr="Flag of New Zealand">    </p:cNvPr>
          <p:cNvPicPr>
            <a:picLocks noChangeAspect="1"/>
          </p:cNvPicPr>
          <p:nvPr/>
        </p:nvPicPr>
        <p:blipFill>
          <a:blip r:embed="rId2"/>
          <a:stretch>
            <a:fillRect/>
          </a:stretch>
        </p:blipFill>
        <p:spPr>
          <a:xfrm>
            <a:off x="4846320" y="1234440"/>
            <a:ext cx="365760" cy="365760"/>
          </a:xfrm>
          <a:prstGeom prst="rect">
            <a:avLst/>
          </a:prstGeom>
        </p:spPr>
      </p:pic>
      <p:sp>
        <p:nvSpPr>
          <p:cNvPr id="7" name="flag-ring-nz-5.30"/>
          <p:cNvSpPr/>
          <p:nvPr/>
        </p:nvSpPr>
        <p:spPr>
          <a:xfrm>
            <a:off x="4846320" y="1234440"/>
            <a:ext cx="365760" cy="365760"/>
          </a:xfrm>
          <a:prstGeom prst="ellipse">
            <a:avLst/>
          </a:prstGeom>
          <a:noFill/>
          <a:ln w="9525">
            <a:solidFill>
              <a:srgbClr val="C9CDD3"/>
            </a:solidFill>
            <a:prstDash val="solid"/>
          </a:ln>
        </p:spPr>
      </p:sp>
      <p:sp>
        <p:nvSpPr>
          <p:cNvPr id="8" name="mot-head-nz"/>
          <p:cNvSpPr txBox="1"/>
          <p:nvPr/>
        </p:nvSpPr>
        <p:spPr>
          <a:xfrm>
            <a:off x="4526280" y="1645920"/>
            <a:ext cx="1005840" cy="365760"/>
          </a:xfrm>
          <a:prstGeom prst="rect">
            <a:avLst/>
          </a:prstGeom>
          <a:noFill/>
          <a:ln/>
        </p:spPr>
        <p:txBody>
          <a:bodyPr wrap="square" lIns="0" tIns="0" rIns="0" bIns="0" rtlCol="0" anchor="t"/>
          <a:lstStyle/>
          <a:p>
            <a:pPr algn="ctr" indent="0" marL="0">
              <a:buNone/>
            </a:pPr>
            <a:r>
              <a:rPr lang="en-US" sz="1100" dirty="0">
                <a:solidFill>
                  <a:schemeClr val="tx1"/>
                </a:solidFill>
              </a:rPr>
              <a:t>New Zealand</a:t>
            </a:r>
            <a:endParaRPr lang="en-US" sz="1100" dirty="0"/>
          </a:p>
        </p:txBody>
      </p:sp>
      <p:pic>
        <p:nvPicPr>
          <p:cNvPr id="9" name="flag-us-6.30" descr="Flag of the United States">    </p:cNvPr>
          <p:cNvPicPr>
            <a:picLocks noChangeAspect="1"/>
          </p:cNvPicPr>
          <p:nvPr/>
        </p:nvPicPr>
        <p:blipFill>
          <a:blip r:embed="rId3"/>
          <a:stretch>
            <a:fillRect/>
          </a:stretch>
        </p:blipFill>
        <p:spPr>
          <a:xfrm>
            <a:off x="5760720" y="1234440"/>
            <a:ext cx="365760" cy="365760"/>
          </a:xfrm>
          <a:prstGeom prst="rect">
            <a:avLst/>
          </a:prstGeom>
        </p:spPr>
      </p:pic>
      <p:sp>
        <p:nvSpPr>
          <p:cNvPr id="10" name="flag-ring-us-6.30"/>
          <p:cNvSpPr/>
          <p:nvPr/>
        </p:nvSpPr>
        <p:spPr>
          <a:xfrm>
            <a:off x="5760720" y="1234440"/>
            <a:ext cx="365760" cy="365760"/>
          </a:xfrm>
          <a:prstGeom prst="ellipse">
            <a:avLst/>
          </a:prstGeom>
          <a:noFill/>
          <a:ln w="9525">
            <a:solidFill>
              <a:srgbClr val="C9CDD3"/>
            </a:solidFill>
            <a:prstDash val="solid"/>
          </a:ln>
        </p:spPr>
      </p:sp>
      <p:sp>
        <p:nvSpPr>
          <p:cNvPr id="11" name="mot-head-us"/>
          <p:cNvSpPr txBox="1"/>
          <p:nvPr/>
        </p:nvSpPr>
        <p:spPr>
          <a:xfrm>
            <a:off x="5440680" y="1645920"/>
            <a:ext cx="1005840" cy="365760"/>
          </a:xfrm>
          <a:prstGeom prst="rect">
            <a:avLst/>
          </a:prstGeom>
          <a:noFill/>
          <a:ln/>
        </p:spPr>
        <p:txBody>
          <a:bodyPr wrap="square" lIns="0" tIns="0" rIns="0" bIns="0" rtlCol="0" anchor="t"/>
          <a:lstStyle/>
          <a:p>
            <a:pPr algn="ctr" indent="0" marL="0">
              <a:buNone/>
            </a:pPr>
            <a:r>
              <a:rPr lang="en-US" sz="1100" dirty="0">
                <a:solidFill>
                  <a:schemeClr val="tx1"/>
                </a:solidFill>
              </a:rPr>
              <a:t>United States</a:t>
            </a:r>
            <a:endParaRPr lang="en-US" sz="1100" dirty="0"/>
          </a:p>
        </p:txBody>
      </p:sp>
      <p:pic>
        <p:nvPicPr>
          <p:cNvPr id="12" name="flag-gb-7.30" descr="Flag of the United Kingdom">    </p:cNvPr>
          <p:cNvPicPr>
            <a:picLocks noChangeAspect="1"/>
          </p:cNvPicPr>
          <p:nvPr/>
        </p:nvPicPr>
        <p:blipFill>
          <a:blip r:embed="rId4"/>
          <a:stretch>
            <a:fillRect/>
          </a:stretch>
        </p:blipFill>
        <p:spPr>
          <a:xfrm>
            <a:off x="6675120" y="1234440"/>
            <a:ext cx="365760" cy="365760"/>
          </a:xfrm>
          <a:prstGeom prst="rect">
            <a:avLst/>
          </a:prstGeom>
        </p:spPr>
      </p:pic>
      <p:sp>
        <p:nvSpPr>
          <p:cNvPr id="13" name="flag-ring-gb-7.30"/>
          <p:cNvSpPr/>
          <p:nvPr/>
        </p:nvSpPr>
        <p:spPr>
          <a:xfrm>
            <a:off x="6675120" y="1234440"/>
            <a:ext cx="365760" cy="365760"/>
          </a:xfrm>
          <a:prstGeom prst="ellipse">
            <a:avLst/>
          </a:prstGeom>
          <a:noFill/>
          <a:ln w="9525">
            <a:solidFill>
              <a:srgbClr val="C9CDD3"/>
            </a:solidFill>
            <a:prstDash val="solid"/>
          </a:ln>
        </p:spPr>
      </p:sp>
      <p:sp>
        <p:nvSpPr>
          <p:cNvPr id="14" name="mot-head-gb"/>
          <p:cNvSpPr txBox="1"/>
          <p:nvPr/>
        </p:nvSpPr>
        <p:spPr>
          <a:xfrm>
            <a:off x="6355080" y="1645920"/>
            <a:ext cx="1005840" cy="365760"/>
          </a:xfrm>
          <a:prstGeom prst="rect">
            <a:avLst/>
          </a:prstGeom>
          <a:noFill/>
          <a:ln/>
        </p:spPr>
        <p:txBody>
          <a:bodyPr wrap="square" lIns="0" tIns="0" rIns="0" bIns="0" rtlCol="0" anchor="t"/>
          <a:lstStyle/>
          <a:p>
            <a:pPr algn="ctr" indent="0" marL="0">
              <a:buNone/>
            </a:pPr>
            <a:r>
              <a:rPr lang="en-US" sz="1100" dirty="0">
                <a:solidFill>
                  <a:schemeClr val="tx1"/>
                </a:solidFill>
              </a:rPr>
              <a:t>UK (HMRC)</a:t>
            </a:r>
            <a:endParaRPr lang="en-US" sz="1100" dirty="0"/>
          </a:p>
        </p:txBody>
      </p:sp>
      <p:pic>
        <p:nvPicPr>
          <p:cNvPr id="15" name="flag-au-8.30" descr="Flag of Australia">    </p:cNvPr>
          <p:cNvPicPr>
            <a:picLocks noChangeAspect="1"/>
          </p:cNvPicPr>
          <p:nvPr/>
        </p:nvPicPr>
        <p:blipFill>
          <a:blip r:embed="rId5"/>
          <a:stretch>
            <a:fillRect/>
          </a:stretch>
        </p:blipFill>
        <p:spPr>
          <a:xfrm>
            <a:off x="7589520" y="1234440"/>
            <a:ext cx="365760" cy="365760"/>
          </a:xfrm>
          <a:prstGeom prst="rect">
            <a:avLst/>
          </a:prstGeom>
        </p:spPr>
      </p:pic>
      <p:sp>
        <p:nvSpPr>
          <p:cNvPr id="16" name="flag-ring-au-8.30"/>
          <p:cNvSpPr/>
          <p:nvPr/>
        </p:nvSpPr>
        <p:spPr>
          <a:xfrm>
            <a:off x="7589520" y="1234440"/>
            <a:ext cx="365760" cy="365760"/>
          </a:xfrm>
          <a:prstGeom prst="ellipse">
            <a:avLst/>
          </a:prstGeom>
          <a:noFill/>
          <a:ln w="9525">
            <a:solidFill>
              <a:srgbClr val="C9CDD3"/>
            </a:solidFill>
            <a:prstDash val="solid"/>
          </a:ln>
        </p:spPr>
      </p:sp>
      <p:sp>
        <p:nvSpPr>
          <p:cNvPr id="17" name="mot-head-au"/>
          <p:cNvSpPr txBox="1"/>
          <p:nvPr/>
        </p:nvSpPr>
        <p:spPr>
          <a:xfrm>
            <a:off x="7269480" y="1645920"/>
            <a:ext cx="1005840" cy="365760"/>
          </a:xfrm>
          <a:prstGeom prst="rect">
            <a:avLst/>
          </a:prstGeom>
          <a:noFill/>
          <a:ln/>
        </p:spPr>
        <p:txBody>
          <a:bodyPr wrap="square" lIns="0" tIns="0" rIns="0" bIns="0" rtlCol="0" anchor="t"/>
          <a:lstStyle/>
          <a:p>
            <a:pPr algn="ctr" indent="0" marL="0">
              <a:buNone/>
            </a:pPr>
            <a:r>
              <a:rPr lang="en-US" sz="1100" dirty="0">
                <a:solidFill>
                  <a:schemeClr val="tx1"/>
                </a:solidFill>
              </a:rPr>
              <a:t>Australia (ABS)</a:t>
            </a:r>
            <a:endParaRPr lang="en-US" sz="1100" dirty="0"/>
          </a:p>
        </p:txBody>
      </p:sp>
      <p:sp>
        <p:nvSpPr>
          <p:cNvPr id="18" name="mot-head-count"/>
          <p:cNvSpPr txBox="1"/>
          <p:nvPr/>
        </p:nvSpPr>
        <p:spPr>
          <a:xfrm>
            <a:off x="8229600" y="1645920"/>
            <a:ext cx="640080" cy="365760"/>
          </a:xfrm>
          <a:prstGeom prst="rect">
            <a:avLst/>
          </a:prstGeom>
          <a:noFill/>
          <a:ln/>
        </p:spPr>
        <p:txBody>
          <a:bodyPr wrap="square" lIns="0" tIns="0" rIns="0" bIns="0" rtlCol="0" anchor="ctr"/>
          <a:lstStyle/>
          <a:p>
            <a:pPr algn="ctr" indent="0" marL="0">
              <a:buNone/>
            </a:pPr>
            <a:r>
              <a:rPr lang="en-US" sz="1100" dirty="0">
                <a:solidFill>
                  <a:schemeClr val="accent5"/>
                </a:solidFill>
              </a:rPr>
              <a:t>Cases</a:t>
            </a:r>
            <a:endParaRPr lang="en-US" sz="1100" dirty="0"/>
          </a:p>
        </p:txBody>
      </p:sp>
      <p:sp>
        <p:nvSpPr>
          <p:cNvPr id="19" name="mot-rule-0"/>
          <p:cNvSpPr/>
          <p:nvPr/>
        </p:nvSpPr>
        <p:spPr>
          <a:xfrm>
            <a:off x="548640" y="2103120"/>
            <a:ext cx="8321040" cy="0"/>
          </a:xfrm>
          <a:prstGeom prst="line">
            <a:avLst/>
          </a:prstGeom>
          <a:noFill/>
          <a:ln w="9525">
            <a:solidFill>
              <a:srgbClr val="DDDFE3"/>
            </a:solidFill>
            <a:prstDash val="solid"/>
          </a:ln>
        </p:spPr>
      </p:sp>
      <p:sp>
        <p:nvSpPr>
          <p:cNvPr id="20" name="mot-label-0"/>
          <p:cNvSpPr txBox="1"/>
          <p:nvPr/>
        </p:nvSpPr>
        <p:spPr>
          <a:xfrm>
            <a:off x="548640" y="2103120"/>
            <a:ext cx="3017520" cy="566928"/>
          </a:xfrm>
          <a:prstGeom prst="rect">
            <a:avLst/>
          </a:prstGeom>
          <a:noFill/>
          <a:ln/>
        </p:spPr>
        <p:txBody>
          <a:bodyPr wrap="square" lIns="0" tIns="0" rIns="0" bIns="0" rtlCol="0" anchor="ctr"/>
          <a:lstStyle/>
          <a:p>
            <a:pPr indent="0" marL="0">
              <a:buNone/>
            </a:pPr>
            <a:r>
              <a:rPr lang="en-US" sz="1500" b="1" dirty="0">
                <a:solidFill>
                  <a:schemeClr val="tx1"/>
                </a:solidFill>
              </a:rPr>
              <a:t>Security</a:t>
            </a:r>
            <a:endParaRPr lang="en-US" sz="1500" dirty="0"/>
          </a:p>
        </p:txBody>
      </p:sp>
      <p:sp>
        <p:nvSpPr>
          <p:cNvPr id="21" name="mot-empty-0-0"/>
          <p:cNvSpPr/>
          <p:nvPr/>
        </p:nvSpPr>
        <p:spPr>
          <a:xfrm>
            <a:off x="4078224" y="2350008"/>
            <a:ext cx="73152" cy="73152"/>
          </a:xfrm>
          <a:prstGeom prst="ellipse">
            <a:avLst/>
          </a:prstGeom>
          <a:solidFill>
            <a:srgbClr val="D5D8DD"/>
          </a:solidFill>
          <a:ln w="12700">
            <a:solidFill>
              <a:srgbClr val="D5D8DD"/>
            </a:solidFill>
            <a:prstDash val="solid"/>
          </a:ln>
        </p:spPr>
      </p:sp>
      <p:sp>
        <p:nvSpPr>
          <p:cNvPr id="22" name="mot-dot-0-1"/>
          <p:cNvSpPr/>
          <p:nvPr/>
        </p:nvSpPr>
        <p:spPr>
          <a:xfrm>
            <a:off x="4892040" y="2249424"/>
            <a:ext cx="274320" cy="274320"/>
          </a:xfrm>
          <a:prstGeom prst="ellipse">
            <a:avLst/>
          </a:prstGeom>
          <a:solidFill>
            <a:schemeClr val="tx2"/>
          </a:solidFill>
          <a:ln w="12700">
            <a:solidFill>
              <a:schemeClr val="tx2"/>
            </a:solidFill>
            <a:prstDash val="solid"/>
          </a:ln>
        </p:spPr>
      </p:sp>
      <p:sp>
        <p:nvSpPr>
          <p:cNvPr id="23" name="mot-ref-0-1"/>
          <p:cNvSpPr txBox="1"/>
          <p:nvPr/>
        </p:nvSpPr>
        <p:spPr>
          <a:xfrm>
            <a:off x="5184648" y="2185416"/>
            <a:ext cx="292608" cy="182880"/>
          </a:xfrm>
          <a:prstGeom prst="rect">
            <a:avLst/>
          </a:prstGeom>
          <a:noFill/>
          <a:ln/>
        </p:spPr>
        <p:txBody>
          <a:bodyPr wrap="square" lIns="0" tIns="0" rIns="0" bIns="0" rtlCol="0" anchor="ctr"/>
          <a:lstStyle/>
          <a:p>
            <a:pPr indent="0" marL="0">
              <a:buNone/>
            </a:pPr>
            <a:r>
              <a:rPr lang="en-US" sz="900" dirty="0">
                <a:solidFill>
                  <a:schemeClr val="accent1"/>
                </a:solidFill>
              </a:rPr>
              <a:t>7</a:t>
            </a:r>
            <a:endParaRPr lang="en-US" sz="900" dirty="0"/>
          </a:p>
        </p:txBody>
      </p:sp>
      <p:sp>
        <p:nvSpPr>
          <p:cNvPr id="24" name="mot-empty-0-2"/>
          <p:cNvSpPr/>
          <p:nvPr/>
        </p:nvSpPr>
        <p:spPr>
          <a:xfrm>
            <a:off x="5907024" y="2350008"/>
            <a:ext cx="73152" cy="73152"/>
          </a:xfrm>
          <a:prstGeom prst="ellipse">
            <a:avLst/>
          </a:prstGeom>
          <a:solidFill>
            <a:srgbClr val="D5D8DD"/>
          </a:solidFill>
          <a:ln w="12700">
            <a:solidFill>
              <a:srgbClr val="D5D8DD"/>
            </a:solidFill>
            <a:prstDash val="solid"/>
          </a:ln>
        </p:spPr>
      </p:sp>
      <p:sp>
        <p:nvSpPr>
          <p:cNvPr id="25" name="mot-dot-0-3"/>
          <p:cNvSpPr/>
          <p:nvPr/>
        </p:nvSpPr>
        <p:spPr>
          <a:xfrm>
            <a:off x="6720840" y="2249424"/>
            <a:ext cx="274320" cy="274320"/>
          </a:xfrm>
          <a:prstGeom prst="ellipse">
            <a:avLst/>
          </a:prstGeom>
          <a:solidFill>
            <a:schemeClr val="tx2"/>
          </a:solidFill>
          <a:ln w="12700">
            <a:solidFill>
              <a:schemeClr val="tx2"/>
            </a:solidFill>
            <a:prstDash val="solid"/>
          </a:ln>
        </p:spPr>
      </p:sp>
      <p:sp>
        <p:nvSpPr>
          <p:cNvPr id="26" name="mot-ref-0-3"/>
          <p:cNvSpPr txBox="1"/>
          <p:nvPr/>
        </p:nvSpPr>
        <p:spPr>
          <a:xfrm>
            <a:off x="7013448" y="2185416"/>
            <a:ext cx="292608" cy="182880"/>
          </a:xfrm>
          <a:prstGeom prst="rect">
            <a:avLst/>
          </a:prstGeom>
          <a:noFill/>
          <a:ln/>
        </p:spPr>
        <p:txBody>
          <a:bodyPr wrap="square" lIns="0" tIns="0" rIns="0" bIns="0" rtlCol="0" anchor="ctr"/>
          <a:lstStyle/>
          <a:p>
            <a:pPr indent="0" marL="0">
              <a:buNone/>
            </a:pPr>
            <a:r>
              <a:rPr lang="en-US" sz="900" dirty="0">
                <a:solidFill>
                  <a:schemeClr val="accent1"/>
                </a:solidFill>
              </a:rPr>
              <a:t>14</a:t>
            </a:r>
            <a:endParaRPr lang="en-US" sz="900" dirty="0"/>
          </a:p>
        </p:txBody>
      </p:sp>
      <p:sp>
        <p:nvSpPr>
          <p:cNvPr id="27" name="mot-dot-0-4"/>
          <p:cNvSpPr/>
          <p:nvPr/>
        </p:nvSpPr>
        <p:spPr>
          <a:xfrm>
            <a:off x="7635240" y="2249424"/>
            <a:ext cx="274320" cy="274320"/>
          </a:xfrm>
          <a:prstGeom prst="ellipse">
            <a:avLst/>
          </a:prstGeom>
          <a:solidFill>
            <a:schemeClr val="tx2"/>
          </a:solidFill>
          <a:ln w="12700">
            <a:solidFill>
              <a:schemeClr val="tx2"/>
            </a:solidFill>
            <a:prstDash val="solid"/>
          </a:ln>
        </p:spPr>
      </p:sp>
      <p:sp>
        <p:nvSpPr>
          <p:cNvPr id="28" name="mot-ref-0-4"/>
          <p:cNvSpPr txBox="1"/>
          <p:nvPr/>
        </p:nvSpPr>
        <p:spPr>
          <a:xfrm>
            <a:off x="7927848" y="2185416"/>
            <a:ext cx="292608" cy="182880"/>
          </a:xfrm>
          <a:prstGeom prst="rect">
            <a:avLst/>
          </a:prstGeom>
          <a:noFill/>
          <a:ln/>
        </p:spPr>
        <p:txBody>
          <a:bodyPr wrap="square" lIns="0" tIns="0" rIns="0" bIns="0" rtlCol="0" anchor="ctr"/>
          <a:lstStyle/>
          <a:p>
            <a:pPr indent="0" marL="0">
              <a:buNone/>
            </a:pPr>
            <a:r>
              <a:rPr lang="en-US" sz="900" dirty="0">
                <a:solidFill>
                  <a:schemeClr val="accent1"/>
                </a:solidFill>
              </a:rPr>
              <a:t>25</a:t>
            </a:r>
            <a:endParaRPr lang="en-US" sz="900" dirty="0"/>
          </a:p>
        </p:txBody>
      </p:sp>
      <p:sp>
        <p:nvSpPr>
          <p:cNvPr id="29" name="mot-count-0"/>
          <p:cNvSpPr txBox="1"/>
          <p:nvPr/>
        </p:nvSpPr>
        <p:spPr>
          <a:xfrm>
            <a:off x="8229600" y="2103120"/>
            <a:ext cx="640080" cy="566928"/>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30" name="mot-rule-1"/>
          <p:cNvSpPr/>
          <p:nvPr/>
        </p:nvSpPr>
        <p:spPr>
          <a:xfrm>
            <a:off x="548640" y="2670048"/>
            <a:ext cx="8321040" cy="0"/>
          </a:xfrm>
          <a:prstGeom prst="line">
            <a:avLst/>
          </a:prstGeom>
          <a:noFill/>
          <a:ln w="9525">
            <a:solidFill>
              <a:srgbClr val="DDDFE3"/>
            </a:solidFill>
            <a:prstDash val="solid"/>
          </a:ln>
        </p:spPr>
      </p:sp>
      <p:sp>
        <p:nvSpPr>
          <p:cNvPr id="31" name="mot-label-1"/>
          <p:cNvSpPr txBox="1"/>
          <p:nvPr/>
        </p:nvSpPr>
        <p:spPr>
          <a:xfrm>
            <a:off x="548640" y="2670048"/>
            <a:ext cx="3017520" cy="566928"/>
          </a:xfrm>
          <a:prstGeom prst="rect">
            <a:avLst/>
          </a:prstGeom>
          <a:noFill/>
          <a:ln/>
        </p:spPr>
        <p:txBody>
          <a:bodyPr wrap="square" lIns="0" tIns="0" rIns="0" bIns="0" rtlCol="0" anchor="ctr"/>
          <a:lstStyle/>
          <a:p>
            <a:pPr indent="0" marL="0">
              <a:buNone/>
            </a:pPr>
            <a:r>
              <a:rPr lang="en-US" sz="1500" b="1" dirty="0">
                <a:solidFill>
                  <a:schemeClr val="tx1"/>
                </a:solidFill>
              </a:rPr>
              <a:t>Reliability and recovery</a:t>
            </a:r>
            <a:endParaRPr lang="en-US" sz="1500" dirty="0"/>
          </a:p>
        </p:txBody>
      </p:sp>
      <p:sp>
        <p:nvSpPr>
          <p:cNvPr id="32" name="mot-empty-1-0"/>
          <p:cNvSpPr/>
          <p:nvPr/>
        </p:nvSpPr>
        <p:spPr>
          <a:xfrm>
            <a:off x="4078224" y="2916936"/>
            <a:ext cx="73152" cy="73152"/>
          </a:xfrm>
          <a:prstGeom prst="ellipse">
            <a:avLst/>
          </a:prstGeom>
          <a:solidFill>
            <a:srgbClr val="D5D8DD"/>
          </a:solidFill>
          <a:ln w="12700">
            <a:solidFill>
              <a:srgbClr val="D5D8DD"/>
            </a:solidFill>
            <a:prstDash val="solid"/>
          </a:ln>
        </p:spPr>
      </p:sp>
      <p:sp>
        <p:nvSpPr>
          <p:cNvPr id="33" name="mot-dot-1-1"/>
          <p:cNvSpPr/>
          <p:nvPr/>
        </p:nvSpPr>
        <p:spPr>
          <a:xfrm>
            <a:off x="4892040" y="2816352"/>
            <a:ext cx="274320" cy="274320"/>
          </a:xfrm>
          <a:prstGeom prst="ellipse">
            <a:avLst/>
          </a:prstGeom>
          <a:solidFill>
            <a:schemeClr val="tx2"/>
          </a:solidFill>
          <a:ln w="12700">
            <a:solidFill>
              <a:schemeClr val="tx2"/>
            </a:solidFill>
            <a:prstDash val="solid"/>
          </a:ln>
        </p:spPr>
      </p:sp>
      <p:sp>
        <p:nvSpPr>
          <p:cNvPr id="34" name="mot-ref-1-1"/>
          <p:cNvSpPr txBox="1"/>
          <p:nvPr/>
        </p:nvSpPr>
        <p:spPr>
          <a:xfrm>
            <a:off x="5184648" y="2752344"/>
            <a:ext cx="292608" cy="182880"/>
          </a:xfrm>
          <a:prstGeom prst="rect">
            <a:avLst/>
          </a:prstGeom>
          <a:noFill/>
          <a:ln/>
        </p:spPr>
        <p:txBody>
          <a:bodyPr wrap="square" lIns="0" tIns="0" rIns="0" bIns="0" rtlCol="0" anchor="ctr"/>
          <a:lstStyle/>
          <a:p>
            <a:pPr indent="0" marL="0">
              <a:buNone/>
            </a:pPr>
            <a:r>
              <a:rPr lang="en-US" sz="900" dirty="0">
                <a:solidFill>
                  <a:schemeClr val="accent1"/>
                </a:solidFill>
              </a:rPr>
              <a:t>7</a:t>
            </a:r>
            <a:endParaRPr lang="en-US" sz="900" dirty="0"/>
          </a:p>
        </p:txBody>
      </p:sp>
      <p:sp>
        <p:nvSpPr>
          <p:cNvPr id="35" name="mot-empty-1-2"/>
          <p:cNvSpPr/>
          <p:nvPr/>
        </p:nvSpPr>
        <p:spPr>
          <a:xfrm>
            <a:off x="5907024" y="2916936"/>
            <a:ext cx="73152" cy="73152"/>
          </a:xfrm>
          <a:prstGeom prst="ellipse">
            <a:avLst/>
          </a:prstGeom>
          <a:solidFill>
            <a:srgbClr val="D5D8DD"/>
          </a:solidFill>
          <a:ln w="12700">
            <a:solidFill>
              <a:srgbClr val="D5D8DD"/>
            </a:solidFill>
            <a:prstDash val="solid"/>
          </a:ln>
        </p:spPr>
      </p:sp>
      <p:sp>
        <p:nvSpPr>
          <p:cNvPr id="36" name="mot-dot-1-3"/>
          <p:cNvSpPr/>
          <p:nvPr/>
        </p:nvSpPr>
        <p:spPr>
          <a:xfrm>
            <a:off x="6720840" y="2816352"/>
            <a:ext cx="274320" cy="274320"/>
          </a:xfrm>
          <a:prstGeom prst="ellipse">
            <a:avLst/>
          </a:prstGeom>
          <a:solidFill>
            <a:schemeClr val="tx2"/>
          </a:solidFill>
          <a:ln w="12700">
            <a:solidFill>
              <a:schemeClr val="tx2"/>
            </a:solidFill>
            <a:prstDash val="solid"/>
          </a:ln>
        </p:spPr>
      </p:sp>
      <p:sp>
        <p:nvSpPr>
          <p:cNvPr id="37" name="mot-ref-1-3"/>
          <p:cNvSpPr txBox="1"/>
          <p:nvPr/>
        </p:nvSpPr>
        <p:spPr>
          <a:xfrm>
            <a:off x="7013448" y="2752344"/>
            <a:ext cx="292608" cy="182880"/>
          </a:xfrm>
          <a:prstGeom prst="rect">
            <a:avLst/>
          </a:prstGeom>
          <a:noFill/>
          <a:ln/>
        </p:spPr>
        <p:txBody>
          <a:bodyPr wrap="square" lIns="0" tIns="0" rIns="0" bIns="0" rtlCol="0" anchor="ctr"/>
          <a:lstStyle/>
          <a:p>
            <a:pPr indent="0" marL="0">
              <a:buNone/>
            </a:pPr>
            <a:r>
              <a:rPr lang="en-US" sz="900" dirty="0">
                <a:solidFill>
                  <a:schemeClr val="accent1"/>
                </a:solidFill>
              </a:rPr>
              <a:t>14</a:t>
            </a:r>
            <a:endParaRPr lang="en-US" sz="900" dirty="0"/>
          </a:p>
        </p:txBody>
      </p:sp>
      <p:sp>
        <p:nvSpPr>
          <p:cNvPr id="38" name="mot-dot-1-4"/>
          <p:cNvSpPr/>
          <p:nvPr/>
        </p:nvSpPr>
        <p:spPr>
          <a:xfrm>
            <a:off x="7635240" y="2816352"/>
            <a:ext cx="274320" cy="274320"/>
          </a:xfrm>
          <a:prstGeom prst="ellipse">
            <a:avLst/>
          </a:prstGeom>
          <a:solidFill>
            <a:schemeClr val="tx2"/>
          </a:solidFill>
          <a:ln w="12700">
            <a:solidFill>
              <a:schemeClr val="tx2"/>
            </a:solidFill>
            <a:prstDash val="solid"/>
          </a:ln>
        </p:spPr>
      </p:sp>
      <p:sp>
        <p:nvSpPr>
          <p:cNvPr id="39" name="mot-ref-1-4"/>
          <p:cNvSpPr txBox="1"/>
          <p:nvPr/>
        </p:nvSpPr>
        <p:spPr>
          <a:xfrm>
            <a:off x="7927848" y="2752344"/>
            <a:ext cx="292608" cy="182880"/>
          </a:xfrm>
          <a:prstGeom prst="rect">
            <a:avLst/>
          </a:prstGeom>
          <a:noFill/>
          <a:ln/>
        </p:spPr>
        <p:txBody>
          <a:bodyPr wrap="square" lIns="0" tIns="0" rIns="0" bIns="0" rtlCol="0" anchor="ctr"/>
          <a:lstStyle/>
          <a:p>
            <a:pPr indent="0" marL="0">
              <a:buNone/>
            </a:pPr>
            <a:r>
              <a:rPr lang="en-US" sz="900" dirty="0">
                <a:solidFill>
                  <a:schemeClr val="accent1"/>
                </a:solidFill>
              </a:rPr>
              <a:t>25</a:t>
            </a:r>
            <a:endParaRPr lang="en-US" sz="900" dirty="0"/>
          </a:p>
        </p:txBody>
      </p:sp>
      <p:sp>
        <p:nvSpPr>
          <p:cNvPr id="40" name="mot-count-1"/>
          <p:cNvSpPr txBox="1"/>
          <p:nvPr/>
        </p:nvSpPr>
        <p:spPr>
          <a:xfrm>
            <a:off x="8229600" y="2670048"/>
            <a:ext cx="640080" cy="566928"/>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41" name="mot-rule-2"/>
          <p:cNvSpPr/>
          <p:nvPr/>
        </p:nvSpPr>
        <p:spPr>
          <a:xfrm>
            <a:off x="548640" y="3236976"/>
            <a:ext cx="8321040" cy="0"/>
          </a:xfrm>
          <a:prstGeom prst="line">
            <a:avLst/>
          </a:prstGeom>
          <a:noFill/>
          <a:ln w="9525">
            <a:solidFill>
              <a:srgbClr val="DDDFE3"/>
            </a:solidFill>
            <a:prstDash val="solid"/>
          </a:ln>
        </p:spPr>
      </p:sp>
      <p:sp>
        <p:nvSpPr>
          <p:cNvPr id="42" name="mot-label-2"/>
          <p:cNvSpPr txBox="1"/>
          <p:nvPr/>
        </p:nvSpPr>
        <p:spPr>
          <a:xfrm>
            <a:off x="548640" y="3236976"/>
            <a:ext cx="3017520" cy="566928"/>
          </a:xfrm>
          <a:prstGeom prst="rect">
            <a:avLst/>
          </a:prstGeom>
          <a:noFill/>
          <a:ln/>
        </p:spPr>
        <p:txBody>
          <a:bodyPr wrap="square" lIns="0" tIns="0" rIns="0" bIns="0" rtlCol="0" anchor="ctr"/>
          <a:lstStyle/>
          <a:p>
            <a:pPr indent="0" marL="0">
              <a:buNone/>
            </a:pPr>
            <a:r>
              <a:rPr lang="en-US" sz="1500" b="1" dirty="0">
                <a:solidFill>
                  <a:schemeClr val="tx1"/>
                </a:solidFill>
              </a:rPr>
              <a:t>Ageing or sprawling systems</a:t>
            </a:r>
            <a:endParaRPr lang="en-US" sz="1500" dirty="0"/>
          </a:p>
        </p:txBody>
      </p:sp>
      <p:sp>
        <p:nvSpPr>
          <p:cNvPr id="43" name="mot-empty-2-0"/>
          <p:cNvSpPr/>
          <p:nvPr/>
        </p:nvSpPr>
        <p:spPr>
          <a:xfrm>
            <a:off x="4078224" y="3483864"/>
            <a:ext cx="73152" cy="73152"/>
          </a:xfrm>
          <a:prstGeom prst="ellipse">
            <a:avLst/>
          </a:prstGeom>
          <a:solidFill>
            <a:srgbClr val="D5D8DD"/>
          </a:solidFill>
          <a:ln w="12700">
            <a:solidFill>
              <a:srgbClr val="D5D8DD"/>
            </a:solidFill>
            <a:prstDash val="solid"/>
          </a:ln>
        </p:spPr>
      </p:sp>
      <p:sp>
        <p:nvSpPr>
          <p:cNvPr id="44" name="mot-dot-2-1"/>
          <p:cNvSpPr/>
          <p:nvPr/>
        </p:nvSpPr>
        <p:spPr>
          <a:xfrm>
            <a:off x="4892040" y="3383280"/>
            <a:ext cx="274320" cy="274320"/>
          </a:xfrm>
          <a:prstGeom prst="ellipse">
            <a:avLst/>
          </a:prstGeom>
          <a:solidFill>
            <a:schemeClr val="tx2"/>
          </a:solidFill>
          <a:ln w="12700">
            <a:solidFill>
              <a:schemeClr val="tx2"/>
            </a:solidFill>
            <a:prstDash val="solid"/>
          </a:ln>
        </p:spPr>
      </p:sp>
      <p:sp>
        <p:nvSpPr>
          <p:cNvPr id="45" name="mot-ref-2-1"/>
          <p:cNvSpPr txBox="1"/>
          <p:nvPr/>
        </p:nvSpPr>
        <p:spPr>
          <a:xfrm>
            <a:off x="5184648" y="3319272"/>
            <a:ext cx="292608" cy="182880"/>
          </a:xfrm>
          <a:prstGeom prst="rect">
            <a:avLst/>
          </a:prstGeom>
          <a:noFill/>
          <a:ln/>
        </p:spPr>
        <p:txBody>
          <a:bodyPr wrap="square" lIns="0" tIns="0" rIns="0" bIns="0" rtlCol="0" anchor="ctr"/>
          <a:lstStyle/>
          <a:p>
            <a:pPr indent="0" marL="0">
              <a:buNone/>
            </a:pPr>
            <a:r>
              <a:rPr lang="en-US" sz="900" dirty="0">
                <a:solidFill>
                  <a:schemeClr val="accent1"/>
                </a:solidFill>
              </a:rPr>
              <a:t>7</a:t>
            </a:r>
            <a:endParaRPr lang="en-US" sz="900" dirty="0"/>
          </a:p>
        </p:txBody>
      </p:sp>
      <p:sp>
        <p:nvSpPr>
          <p:cNvPr id="46" name="mot-dot-2-2"/>
          <p:cNvSpPr/>
          <p:nvPr/>
        </p:nvSpPr>
        <p:spPr>
          <a:xfrm>
            <a:off x="5806440" y="3383280"/>
            <a:ext cx="274320" cy="274320"/>
          </a:xfrm>
          <a:prstGeom prst="ellipse">
            <a:avLst/>
          </a:prstGeom>
          <a:solidFill>
            <a:schemeClr val="tx2"/>
          </a:solidFill>
          <a:ln w="12700">
            <a:solidFill>
              <a:schemeClr val="tx2"/>
            </a:solidFill>
            <a:prstDash val="solid"/>
          </a:ln>
        </p:spPr>
      </p:sp>
      <p:sp>
        <p:nvSpPr>
          <p:cNvPr id="47" name="mot-ref-2-2"/>
          <p:cNvSpPr txBox="1"/>
          <p:nvPr/>
        </p:nvSpPr>
        <p:spPr>
          <a:xfrm>
            <a:off x="6099048" y="3319272"/>
            <a:ext cx="292608" cy="182880"/>
          </a:xfrm>
          <a:prstGeom prst="rect">
            <a:avLst/>
          </a:prstGeom>
          <a:noFill/>
          <a:ln/>
        </p:spPr>
        <p:txBody>
          <a:bodyPr wrap="square" lIns="0" tIns="0" rIns="0" bIns="0" rtlCol="0" anchor="ctr"/>
          <a:lstStyle/>
          <a:p>
            <a:pPr indent="0" marL="0">
              <a:buNone/>
            </a:pPr>
            <a:r>
              <a:rPr lang="en-US" sz="900" dirty="0">
                <a:solidFill>
                  <a:schemeClr val="accent1"/>
                </a:solidFill>
              </a:rPr>
              <a:t>11</a:t>
            </a:r>
            <a:endParaRPr lang="en-US" sz="900" dirty="0"/>
          </a:p>
        </p:txBody>
      </p:sp>
      <p:sp>
        <p:nvSpPr>
          <p:cNvPr id="48" name="mot-dot-2-3"/>
          <p:cNvSpPr/>
          <p:nvPr/>
        </p:nvSpPr>
        <p:spPr>
          <a:xfrm>
            <a:off x="6720840" y="3383280"/>
            <a:ext cx="274320" cy="274320"/>
          </a:xfrm>
          <a:prstGeom prst="ellipse">
            <a:avLst/>
          </a:prstGeom>
          <a:solidFill>
            <a:schemeClr val="tx2"/>
          </a:solidFill>
          <a:ln w="12700">
            <a:solidFill>
              <a:schemeClr val="tx2"/>
            </a:solidFill>
            <a:prstDash val="solid"/>
          </a:ln>
        </p:spPr>
      </p:sp>
      <p:sp>
        <p:nvSpPr>
          <p:cNvPr id="49" name="mot-ref-2-3"/>
          <p:cNvSpPr txBox="1"/>
          <p:nvPr/>
        </p:nvSpPr>
        <p:spPr>
          <a:xfrm>
            <a:off x="7013448" y="3319272"/>
            <a:ext cx="292608" cy="182880"/>
          </a:xfrm>
          <a:prstGeom prst="rect">
            <a:avLst/>
          </a:prstGeom>
          <a:noFill/>
          <a:ln/>
        </p:spPr>
        <p:txBody>
          <a:bodyPr wrap="square" lIns="0" tIns="0" rIns="0" bIns="0" rtlCol="0" anchor="ctr"/>
          <a:lstStyle/>
          <a:p>
            <a:pPr indent="0" marL="0">
              <a:buNone/>
            </a:pPr>
            <a:r>
              <a:rPr lang="en-US" sz="900" dirty="0">
                <a:solidFill>
                  <a:schemeClr val="accent1"/>
                </a:solidFill>
              </a:rPr>
              <a:t>14</a:t>
            </a:r>
            <a:endParaRPr lang="en-US" sz="900" dirty="0"/>
          </a:p>
        </p:txBody>
      </p:sp>
      <p:sp>
        <p:nvSpPr>
          <p:cNvPr id="50" name="mot-empty-2-4"/>
          <p:cNvSpPr/>
          <p:nvPr/>
        </p:nvSpPr>
        <p:spPr>
          <a:xfrm>
            <a:off x="7735824" y="3483864"/>
            <a:ext cx="73152" cy="73152"/>
          </a:xfrm>
          <a:prstGeom prst="ellipse">
            <a:avLst/>
          </a:prstGeom>
          <a:solidFill>
            <a:srgbClr val="D5D8DD"/>
          </a:solidFill>
          <a:ln w="12700">
            <a:solidFill>
              <a:srgbClr val="D5D8DD"/>
            </a:solidFill>
            <a:prstDash val="solid"/>
          </a:ln>
        </p:spPr>
      </p:sp>
      <p:sp>
        <p:nvSpPr>
          <p:cNvPr id="51" name="mot-count-2"/>
          <p:cNvSpPr txBox="1"/>
          <p:nvPr/>
        </p:nvSpPr>
        <p:spPr>
          <a:xfrm>
            <a:off x="8229600" y="3236976"/>
            <a:ext cx="640080" cy="566928"/>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52" name="mot-rule-3"/>
          <p:cNvSpPr/>
          <p:nvPr/>
        </p:nvSpPr>
        <p:spPr>
          <a:xfrm>
            <a:off x="548640" y="3803904"/>
            <a:ext cx="8321040" cy="0"/>
          </a:xfrm>
          <a:prstGeom prst="line">
            <a:avLst/>
          </a:prstGeom>
          <a:noFill/>
          <a:ln w="9525">
            <a:solidFill>
              <a:srgbClr val="DDDFE3"/>
            </a:solidFill>
            <a:prstDash val="solid"/>
          </a:ln>
        </p:spPr>
      </p:sp>
      <p:sp>
        <p:nvSpPr>
          <p:cNvPr id="53" name="mot-label-3"/>
          <p:cNvSpPr txBox="1"/>
          <p:nvPr/>
        </p:nvSpPr>
        <p:spPr>
          <a:xfrm>
            <a:off x="548640" y="3803904"/>
            <a:ext cx="3017520" cy="566928"/>
          </a:xfrm>
          <a:prstGeom prst="rect">
            <a:avLst/>
          </a:prstGeom>
          <a:noFill/>
          <a:ln/>
        </p:spPr>
        <p:txBody>
          <a:bodyPr wrap="square" lIns="0" tIns="0" rIns="0" bIns="0" rtlCol="0" anchor="ctr"/>
          <a:lstStyle/>
          <a:p>
            <a:pPr indent="0" marL="0">
              <a:buNone/>
            </a:pPr>
            <a:r>
              <a:rPr lang="en-US" sz="1500" b="1" dirty="0">
                <a:solidFill>
                  <a:schemeClr val="tx1"/>
                </a:solidFill>
              </a:rPr>
              <a:t>Cost and effort of running IT</a:t>
            </a:r>
            <a:endParaRPr lang="en-US" sz="1500" dirty="0"/>
          </a:p>
        </p:txBody>
      </p:sp>
      <p:sp>
        <p:nvSpPr>
          <p:cNvPr id="54" name="mot-empty-3-0"/>
          <p:cNvSpPr/>
          <p:nvPr/>
        </p:nvSpPr>
        <p:spPr>
          <a:xfrm>
            <a:off x="4078224" y="4050792"/>
            <a:ext cx="73152" cy="73152"/>
          </a:xfrm>
          <a:prstGeom prst="ellipse">
            <a:avLst/>
          </a:prstGeom>
          <a:solidFill>
            <a:srgbClr val="D5D8DD"/>
          </a:solidFill>
          <a:ln w="12700">
            <a:solidFill>
              <a:srgbClr val="D5D8DD"/>
            </a:solidFill>
            <a:prstDash val="solid"/>
          </a:ln>
        </p:spPr>
      </p:sp>
      <p:sp>
        <p:nvSpPr>
          <p:cNvPr id="55" name="mot-dot-3-1"/>
          <p:cNvSpPr/>
          <p:nvPr/>
        </p:nvSpPr>
        <p:spPr>
          <a:xfrm>
            <a:off x="4892040" y="3950208"/>
            <a:ext cx="274320" cy="274320"/>
          </a:xfrm>
          <a:prstGeom prst="ellipse">
            <a:avLst/>
          </a:prstGeom>
          <a:solidFill>
            <a:schemeClr val="tx2"/>
          </a:solidFill>
          <a:ln w="12700">
            <a:solidFill>
              <a:schemeClr val="tx2"/>
            </a:solidFill>
            <a:prstDash val="solid"/>
          </a:ln>
        </p:spPr>
      </p:sp>
      <p:sp>
        <p:nvSpPr>
          <p:cNvPr id="56" name="mot-ref-3-1"/>
          <p:cNvSpPr txBox="1"/>
          <p:nvPr/>
        </p:nvSpPr>
        <p:spPr>
          <a:xfrm>
            <a:off x="5184648" y="3886200"/>
            <a:ext cx="292608" cy="182880"/>
          </a:xfrm>
          <a:prstGeom prst="rect">
            <a:avLst/>
          </a:prstGeom>
          <a:noFill/>
          <a:ln/>
        </p:spPr>
        <p:txBody>
          <a:bodyPr wrap="square" lIns="0" tIns="0" rIns="0" bIns="0" rtlCol="0" anchor="ctr"/>
          <a:lstStyle/>
          <a:p>
            <a:pPr indent="0" marL="0">
              <a:buNone/>
            </a:pPr>
            <a:r>
              <a:rPr lang="en-US" sz="900" dirty="0">
                <a:solidFill>
                  <a:schemeClr val="accent1"/>
                </a:solidFill>
              </a:rPr>
              <a:t>7</a:t>
            </a:r>
            <a:endParaRPr lang="en-US" sz="900" dirty="0"/>
          </a:p>
        </p:txBody>
      </p:sp>
      <p:sp>
        <p:nvSpPr>
          <p:cNvPr id="57" name="mot-dot-3-2"/>
          <p:cNvSpPr/>
          <p:nvPr/>
        </p:nvSpPr>
        <p:spPr>
          <a:xfrm>
            <a:off x="5806440" y="3950208"/>
            <a:ext cx="274320" cy="274320"/>
          </a:xfrm>
          <a:prstGeom prst="ellipse">
            <a:avLst/>
          </a:prstGeom>
          <a:solidFill>
            <a:schemeClr val="tx2"/>
          </a:solidFill>
          <a:ln w="12700">
            <a:solidFill>
              <a:schemeClr val="tx2"/>
            </a:solidFill>
            <a:prstDash val="solid"/>
          </a:ln>
        </p:spPr>
      </p:sp>
      <p:sp>
        <p:nvSpPr>
          <p:cNvPr id="58" name="mot-ref-3-2"/>
          <p:cNvSpPr txBox="1"/>
          <p:nvPr/>
        </p:nvSpPr>
        <p:spPr>
          <a:xfrm>
            <a:off x="6099048" y="3886200"/>
            <a:ext cx="292608" cy="182880"/>
          </a:xfrm>
          <a:prstGeom prst="rect">
            <a:avLst/>
          </a:prstGeom>
          <a:noFill/>
          <a:ln/>
        </p:spPr>
        <p:txBody>
          <a:bodyPr wrap="square" lIns="0" tIns="0" rIns="0" bIns="0" rtlCol="0" anchor="ctr"/>
          <a:lstStyle/>
          <a:p>
            <a:pPr indent="0" marL="0">
              <a:buNone/>
            </a:pPr>
            <a:r>
              <a:rPr lang="en-US" sz="900" dirty="0">
                <a:solidFill>
                  <a:schemeClr val="accent1"/>
                </a:solidFill>
              </a:rPr>
              <a:t>11</a:t>
            </a:r>
            <a:endParaRPr lang="en-US" sz="900" dirty="0"/>
          </a:p>
        </p:txBody>
      </p:sp>
      <p:sp>
        <p:nvSpPr>
          <p:cNvPr id="59" name="mot-empty-3-3"/>
          <p:cNvSpPr/>
          <p:nvPr/>
        </p:nvSpPr>
        <p:spPr>
          <a:xfrm>
            <a:off x="6821424" y="4050792"/>
            <a:ext cx="73152" cy="73152"/>
          </a:xfrm>
          <a:prstGeom prst="ellipse">
            <a:avLst/>
          </a:prstGeom>
          <a:solidFill>
            <a:srgbClr val="D5D8DD"/>
          </a:solidFill>
          <a:ln w="12700">
            <a:solidFill>
              <a:srgbClr val="D5D8DD"/>
            </a:solidFill>
            <a:prstDash val="solid"/>
          </a:ln>
        </p:spPr>
      </p:sp>
      <p:sp>
        <p:nvSpPr>
          <p:cNvPr id="60" name="mot-empty-3-4"/>
          <p:cNvSpPr/>
          <p:nvPr/>
        </p:nvSpPr>
        <p:spPr>
          <a:xfrm>
            <a:off x="7735824" y="4050792"/>
            <a:ext cx="73152" cy="73152"/>
          </a:xfrm>
          <a:prstGeom prst="ellipse">
            <a:avLst/>
          </a:prstGeom>
          <a:solidFill>
            <a:srgbClr val="D5D8DD"/>
          </a:solidFill>
          <a:ln w="12700">
            <a:solidFill>
              <a:srgbClr val="D5D8DD"/>
            </a:solidFill>
            <a:prstDash val="solid"/>
          </a:ln>
        </p:spPr>
      </p:sp>
      <p:sp>
        <p:nvSpPr>
          <p:cNvPr id="61" name="mot-count-3"/>
          <p:cNvSpPr txBox="1"/>
          <p:nvPr/>
        </p:nvSpPr>
        <p:spPr>
          <a:xfrm>
            <a:off x="8229600" y="3803904"/>
            <a:ext cx="640080" cy="566928"/>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62" name="mot-rule-4"/>
          <p:cNvSpPr/>
          <p:nvPr/>
        </p:nvSpPr>
        <p:spPr>
          <a:xfrm>
            <a:off x="548640" y="4370832"/>
            <a:ext cx="8321040" cy="0"/>
          </a:xfrm>
          <a:prstGeom prst="line">
            <a:avLst/>
          </a:prstGeom>
          <a:noFill/>
          <a:ln w="9525">
            <a:solidFill>
              <a:srgbClr val="DDDFE3"/>
            </a:solidFill>
            <a:prstDash val="solid"/>
          </a:ln>
        </p:spPr>
      </p:sp>
      <p:sp>
        <p:nvSpPr>
          <p:cNvPr id="63" name="mot-label-4"/>
          <p:cNvSpPr txBox="1"/>
          <p:nvPr/>
        </p:nvSpPr>
        <p:spPr>
          <a:xfrm>
            <a:off x="548640" y="4370832"/>
            <a:ext cx="3017520" cy="566928"/>
          </a:xfrm>
          <a:prstGeom prst="rect">
            <a:avLst/>
          </a:prstGeom>
          <a:noFill/>
          <a:ln/>
        </p:spPr>
        <p:txBody>
          <a:bodyPr wrap="square" lIns="0" tIns="0" rIns="0" bIns="0" rtlCol="0" anchor="ctr"/>
          <a:lstStyle/>
          <a:p>
            <a:pPr indent="0" marL="0">
              <a:buNone/>
            </a:pPr>
            <a:r>
              <a:rPr lang="en-US" sz="1500" b="1" dirty="0">
                <a:solidFill>
                  <a:schemeClr val="tx1"/>
                </a:solidFill>
              </a:rPr>
              <a:t>Speed and agility</a:t>
            </a:r>
            <a:endParaRPr lang="en-US" sz="1500" dirty="0"/>
          </a:p>
        </p:txBody>
      </p:sp>
      <p:sp>
        <p:nvSpPr>
          <p:cNvPr id="64" name="mot-dot-4-0"/>
          <p:cNvSpPr/>
          <p:nvPr/>
        </p:nvSpPr>
        <p:spPr>
          <a:xfrm>
            <a:off x="3977640" y="4517136"/>
            <a:ext cx="274320" cy="274320"/>
          </a:xfrm>
          <a:prstGeom prst="ellipse">
            <a:avLst/>
          </a:prstGeom>
          <a:solidFill>
            <a:schemeClr val="tx2"/>
          </a:solidFill>
          <a:ln w="12700">
            <a:solidFill>
              <a:schemeClr val="tx2"/>
            </a:solidFill>
            <a:prstDash val="solid"/>
          </a:ln>
        </p:spPr>
      </p:sp>
      <p:sp>
        <p:nvSpPr>
          <p:cNvPr id="65" name="mot-ref-4-0"/>
          <p:cNvSpPr txBox="1"/>
          <p:nvPr/>
        </p:nvSpPr>
        <p:spPr>
          <a:xfrm>
            <a:off x="4270248" y="4453128"/>
            <a:ext cx="292608" cy="182880"/>
          </a:xfrm>
          <a:prstGeom prst="rect">
            <a:avLst/>
          </a:prstGeom>
          <a:noFill/>
          <a:ln/>
        </p:spPr>
        <p:txBody>
          <a:bodyPr wrap="square" lIns="0" tIns="0" rIns="0" bIns="0" rtlCol="0" anchor="ctr"/>
          <a:lstStyle/>
          <a:p>
            <a:pPr indent="0" marL="0">
              <a:buNone/>
            </a:pPr>
            <a:r>
              <a:rPr lang="en-US" sz="900" dirty="0">
                <a:solidFill>
                  <a:schemeClr val="accent1"/>
                </a:solidFill>
              </a:rPr>
              <a:t>3</a:t>
            </a:r>
            <a:endParaRPr lang="en-US" sz="900" dirty="0"/>
          </a:p>
        </p:txBody>
      </p:sp>
      <p:sp>
        <p:nvSpPr>
          <p:cNvPr id="66" name="mot-empty-4-1"/>
          <p:cNvSpPr/>
          <p:nvPr/>
        </p:nvSpPr>
        <p:spPr>
          <a:xfrm>
            <a:off x="4992624" y="4617720"/>
            <a:ext cx="73152" cy="73152"/>
          </a:xfrm>
          <a:prstGeom prst="ellipse">
            <a:avLst/>
          </a:prstGeom>
          <a:solidFill>
            <a:srgbClr val="D5D8DD"/>
          </a:solidFill>
          <a:ln w="12700">
            <a:solidFill>
              <a:srgbClr val="D5D8DD"/>
            </a:solidFill>
            <a:prstDash val="solid"/>
          </a:ln>
        </p:spPr>
      </p:sp>
      <p:sp>
        <p:nvSpPr>
          <p:cNvPr id="67" name="mot-dot-4-2"/>
          <p:cNvSpPr/>
          <p:nvPr/>
        </p:nvSpPr>
        <p:spPr>
          <a:xfrm>
            <a:off x="5806440" y="4517136"/>
            <a:ext cx="274320" cy="274320"/>
          </a:xfrm>
          <a:prstGeom prst="ellipse">
            <a:avLst/>
          </a:prstGeom>
          <a:solidFill>
            <a:schemeClr val="tx2"/>
          </a:solidFill>
          <a:ln w="12700">
            <a:solidFill>
              <a:schemeClr val="tx2"/>
            </a:solidFill>
            <a:prstDash val="solid"/>
          </a:ln>
        </p:spPr>
      </p:sp>
      <p:sp>
        <p:nvSpPr>
          <p:cNvPr id="68" name="mot-ref-4-2"/>
          <p:cNvSpPr txBox="1"/>
          <p:nvPr/>
        </p:nvSpPr>
        <p:spPr>
          <a:xfrm>
            <a:off x="6099048" y="4453128"/>
            <a:ext cx="292608" cy="182880"/>
          </a:xfrm>
          <a:prstGeom prst="rect">
            <a:avLst/>
          </a:prstGeom>
          <a:noFill/>
          <a:ln/>
        </p:spPr>
        <p:txBody>
          <a:bodyPr wrap="square" lIns="0" tIns="0" rIns="0" bIns="0" rtlCol="0" anchor="ctr"/>
          <a:lstStyle/>
          <a:p>
            <a:pPr indent="0" marL="0">
              <a:buNone/>
            </a:pPr>
            <a:r>
              <a:rPr lang="en-US" sz="900" dirty="0">
                <a:solidFill>
                  <a:schemeClr val="accent1"/>
                </a:solidFill>
              </a:rPr>
              <a:t>11</a:t>
            </a:r>
            <a:endParaRPr lang="en-US" sz="900" dirty="0"/>
          </a:p>
        </p:txBody>
      </p:sp>
      <p:sp>
        <p:nvSpPr>
          <p:cNvPr id="69" name="mot-empty-4-3"/>
          <p:cNvSpPr/>
          <p:nvPr/>
        </p:nvSpPr>
        <p:spPr>
          <a:xfrm>
            <a:off x="6821424" y="4617720"/>
            <a:ext cx="73152" cy="73152"/>
          </a:xfrm>
          <a:prstGeom prst="ellipse">
            <a:avLst/>
          </a:prstGeom>
          <a:solidFill>
            <a:srgbClr val="D5D8DD"/>
          </a:solidFill>
          <a:ln w="12700">
            <a:solidFill>
              <a:srgbClr val="D5D8DD"/>
            </a:solidFill>
            <a:prstDash val="solid"/>
          </a:ln>
        </p:spPr>
      </p:sp>
      <p:sp>
        <p:nvSpPr>
          <p:cNvPr id="70" name="mot-empty-4-4"/>
          <p:cNvSpPr/>
          <p:nvPr/>
        </p:nvSpPr>
        <p:spPr>
          <a:xfrm>
            <a:off x="7735824" y="4617720"/>
            <a:ext cx="73152" cy="73152"/>
          </a:xfrm>
          <a:prstGeom prst="ellipse">
            <a:avLst/>
          </a:prstGeom>
          <a:solidFill>
            <a:srgbClr val="D5D8DD"/>
          </a:solidFill>
          <a:ln w="12700">
            <a:solidFill>
              <a:srgbClr val="D5D8DD"/>
            </a:solidFill>
            <a:prstDash val="solid"/>
          </a:ln>
        </p:spPr>
      </p:sp>
      <p:sp>
        <p:nvSpPr>
          <p:cNvPr id="71" name="mot-count-4"/>
          <p:cNvSpPr txBox="1"/>
          <p:nvPr/>
        </p:nvSpPr>
        <p:spPr>
          <a:xfrm>
            <a:off x="8229600" y="4370832"/>
            <a:ext cx="640080" cy="566928"/>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72" name="mot-rule-5"/>
          <p:cNvSpPr/>
          <p:nvPr/>
        </p:nvSpPr>
        <p:spPr>
          <a:xfrm>
            <a:off x="548640" y="4937760"/>
            <a:ext cx="8321040" cy="0"/>
          </a:xfrm>
          <a:prstGeom prst="line">
            <a:avLst/>
          </a:prstGeom>
          <a:noFill/>
          <a:ln w="9525">
            <a:solidFill>
              <a:srgbClr val="DDDFE3"/>
            </a:solidFill>
            <a:prstDash val="solid"/>
          </a:ln>
        </p:spPr>
      </p:sp>
      <p:sp>
        <p:nvSpPr>
          <p:cNvPr id="73" name="mot-label-5"/>
          <p:cNvSpPr txBox="1"/>
          <p:nvPr/>
        </p:nvSpPr>
        <p:spPr>
          <a:xfrm>
            <a:off x="548640" y="4937760"/>
            <a:ext cx="3017520" cy="566928"/>
          </a:xfrm>
          <a:prstGeom prst="rect">
            <a:avLst/>
          </a:prstGeom>
          <a:noFill/>
          <a:ln/>
        </p:spPr>
        <p:txBody>
          <a:bodyPr wrap="square" lIns="0" tIns="0" rIns="0" bIns="0" rtlCol="0" anchor="ctr"/>
          <a:lstStyle/>
          <a:p>
            <a:pPr indent="0" marL="0">
              <a:buNone/>
            </a:pPr>
            <a:r>
              <a:rPr lang="en-US" sz="1500" b="1" dirty="0">
                <a:solidFill>
                  <a:schemeClr val="tx1"/>
                </a:solidFill>
              </a:rPr>
              <a:t>Better services for the public</a:t>
            </a:r>
            <a:endParaRPr lang="en-US" sz="1500" dirty="0"/>
          </a:p>
        </p:txBody>
      </p:sp>
      <p:sp>
        <p:nvSpPr>
          <p:cNvPr id="74" name="mot-dot-5-0"/>
          <p:cNvSpPr/>
          <p:nvPr/>
        </p:nvSpPr>
        <p:spPr>
          <a:xfrm>
            <a:off x="3977640" y="5084064"/>
            <a:ext cx="274320" cy="274320"/>
          </a:xfrm>
          <a:prstGeom prst="ellipse">
            <a:avLst/>
          </a:prstGeom>
          <a:solidFill>
            <a:schemeClr val="tx2"/>
          </a:solidFill>
          <a:ln w="12700">
            <a:solidFill>
              <a:schemeClr val="tx2"/>
            </a:solidFill>
            <a:prstDash val="solid"/>
          </a:ln>
        </p:spPr>
      </p:sp>
      <p:sp>
        <p:nvSpPr>
          <p:cNvPr id="75" name="mot-ref-5-0"/>
          <p:cNvSpPr txBox="1"/>
          <p:nvPr/>
        </p:nvSpPr>
        <p:spPr>
          <a:xfrm>
            <a:off x="4270248" y="5020056"/>
            <a:ext cx="292608" cy="182880"/>
          </a:xfrm>
          <a:prstGeom prst="rect">
            <a:avLst/>
          </a:prstGeom>
          <a:noFill/>
          <a:ln/>
        </p:spPr>
        <p:txBody>
          <a:bodyPr wrap="square" lIns="0" tIns="0" rIns="0" bIns="0" rtlCol="0" anchor="ctr"/>
          <a:lstStyle/>
          <a:p>
            <a:pPr indent="0" marL="0">
              <a:buNone/>
            </a:pPr>
            <a:r>
              <a:rPr lang="en-US" sz="900" dirty="0">
                <a:solidFill>
                  <a:schemeClr val="accent1"/>
                </a:solidFill>
              </a:rPr>
              <a:t>3</a:t>
            </a:r>
            <a:endParaRPr lang="en-US" sz="900" dirty="0"/>
          </a:p>
        </p:txBody>
      </p:sp>
      <p:sp>
        <p:nvSpPr>
          <p:cNvPr id="76" name="mot-empty-5-1"/>
          <p:cNvSpPr/>
          <p:nvPr/>
        </p:nvSpPr>
        <p:spPr>
          <a:xfrm>
            <a:off x="4992624" y="5184648"/>
            <a:ext cx="73152" cy="73152"/>
          </a:xfrm>
          <a:prstGeom prst="ellipse">
            <a:avLst/>
          </a:prstGeom>
          <a:solidFill>
            <a:srgbClr val="D5D8DD"/>
          </a:solidFill>
          <a:ln w="12700">
            <a:solidFill>
              <a:srgbClr val="D5D8DD"/>
            </a:solidFill>
            <a:prstDash val="solid"/>
          </a:ln>
        </p:spPr>
      </p:sp>
      <p:sp>
        <p:nvSpPr>
          <p:cNvPr id="77" name="mot-empty-5-2"/>
          <p:cNvSpPr/>
          <p:nvPr/>
        </p:nvSpPr>
        <p:spPr>
          <a:xfrm>
            <a:off x="5907024" y="5184648"/>
            <a:ext cx="73152" cy="73152"/>
          </a:xfrm>
          <a:prstGeom prst="ellipse">
            <a:avLst/>
          </a:prstGeom>
          <a:solidFill>
            <a:srgbClr val="D5D8DD"/>
          </a:solidFill>
          <a:ln w="12700">
            <a:solidFill>
              <a:srgbClr val="D5D8DD"/>
            </a:solidFill>
            <a:prstDash val="solid"/>
          </a:ln>
        </p:spPr>
      </p:sp>
      <p:sp>
        <p:nvSpPr>
          <p:cNvPr id="78" name="mot-empty-5-3"/>
          <p:cNvSpPr/>
          <p:nvPr/>
        </p:nvSpPr>
        <p:spPr>
          <a:xfrm>
            <a:off x="6821424" y="5184648"/>
            <a:ext cx="73152" cy="73152"/>
          </a:xfrm>
          <a:prstGeom prst="ellipse">
            <a:avLst/>
          </a:prstGeom>
          <a:solidFill>
            <a:srgbClr val="D5D8DD"/>
          </a:solidFill>
          <a:ln w="12700">
            <a:solidFill>
              <a:srgbClr val="D5D8DD"/>
            </a:solidFill>
            <a:prstDash val="solid"/>
          </a:ln>
        </p:spPr>
      </p:sp>
      <p:sp>
        <p:nvSpPr>
          <p:cNvPr id="79" name="mot-dot-5-4"/>
          <p:cNvSpPr/>
          <p:nvPr/>
        </p:nvSpPr>
        <p:spPr>
          <a:xfrm>
            <a:off x="7635240" y="5084064"/>
            <a:ext cx="274320" cy="274320"/>
          </a:xfrm>
          <a:prstGeom prst="ellipse">
            <a:avLst/>
          </a:prstGeom>
          <a:solidFill>
            <a:schemeClr val="tx2"/>
          </a:solidFill>
          <a:ln w="12700">
            <a:solidFill>
              <a:schemeClr val="tx2"/>
            </a:solidFill>
            <a:prstDash val="solid"/>
          </a:ln>
        </p:spPr>
      </p:sp>
      <p:sp>
        <p:nvSpPr>
          <p:cNvPr id="80" name="mot-ref-5-4"/>
          <p:cNvSpPr txBox="1"/>
          <p:nvPr/>
        </p:nvSpPr>
        <p:spPr>
          <a:xfrm>
            <a:off x="7927848" y="5020056"/>
            <a:ext cx="292608" cy="182880"/>
          </a:xfrm>
          <a:prstGeom prst="rect">
            <a:avLst/>
          </a:prstGeom>
          <a:noFill/>
          <a:ln/>
        </p:spPr>
        <p:txBody>
          <a:bodyPr wrap="square" lIns="0" tIns="0" rIns="0" bIns="0" rtlCol="0" anchor="ctr"/>
          <a:lstStyle/>
          <a:p>
            <a:pPr indent="0" marL="0">
              <a:buNone/>
            </a:pPr>
            <a:r>
              <a:rPr lang="en-US" sz="900" dirty="0">
                <a:solidFill>
                  <a:schemeClr val="accent1"/>
                </a:solidFill>
              </a:rPr>
              <a:t>25</a:t>
            </a:r>
            <a:endParaRPr lang="en-US" sz="900" dirty="0"/>
          </a:p>
        </p:txBody>
      </p:sp>
      <p:sp>
        <p:nvSpPr>
          <p:cNvPr id="81" name="mot-count-5"/>
          <p:cNvSpPr txBox="1"/>
          <p:nvPr/>
        </p:nvSpPr>
        <p:spPr>
          <a:xfrm>
            <a:off x="8229600" y="4937760"/>
            <a:ext cx="640080" cy="566928"/>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82" name="mot-rule-6"/>
          <p:cNvSpPr/>
          <p:nvPr/>
        </p:nvSpPr>
        <p:spPr>
          <a:xfrm>
            <a:off x="548640" y="5504688"/>
            <a:ext cx="8321040" cy="0"/>
          </a:xfrm>
          <a:prstGeom prst="line">
            <a:avLst/>
          </a:prstGeom>
          <a:noFill/>
          <a:ln w="9525">
            <a:solidFill>
              <a:srgbClr val="DDDFE3"/>
            </a:solidFill>
            <a:prstDash val="solid"/>
          </a:ln>
        </p:spPr>
      </p:sp>
      <p:sp>
        <p:nvSpPr>
          <p:cNvPr id="83" name="mot-label-6"/>
          <p:cNvSpPr txBox="1"/>
          <p:nvPr/>
        </p:nvSpPr>
        <p:spPr>
          <a:xfrm>
            <a:off x="548640" y="5504688"/>
            <a:ext cx="3017520" cy="566928"/>
          </a:xfrm>
          <a:prstGeom prst="rect">
            <a:avLst/>
          </a:prstGeom>
          <a:noFill/>
          <a:ln/>
        </p:spPr>
        <p:txBody>
          <a:bodyPr wrap="square" lIns="0" tIns="0" rIns="0" bIns="0" rtlCol="0" anchor="ctr"/>
          <a:lstStyle/>
          <a:p>
            <a:pPr indent="0" marL="0">
              <a:buNone/>
            </a:pPr>
            <a:r>
              <a:rPr lang="en-US" sz="1500" b="1" dirty="0">
                <a:solidFill>
                  <a:schemeClr val="tx1"/>
                </a:solidFill>
              </a:rPr>
              <a:t>Policy push (cloud-first mandate)</a:t>
            </a:r>
            <a:endParaRPr lang="en-US" sz="1500" dirty="0"/>
          </a:p>
        </p:txBody>
      </p:sp>
      <p:sp>
        <p:nvSpPr>
          <p:cNvPr id="84" name="mot-empty-6-0"/>
          <p:cNvSpPr/>
          <p:nvPr/>
        </p:nvSpPr>
        <p:spPr>
          <a:xfrm>
            <a:off x="4078224" y="5751576"/>
            <a:ext cx="73152" cy="73152"/>
          </a:xfrm>
          <a:prstGeom prst="ellipse">
            <a:avLst/>
          </a:prstGeom>
          <a:solidFill>
            <a:srgbClr val="D5D8DD"/>
          </a:solidFill>
          <a:ln w="12700">
            <a:solidFill>
              <a:srgbClr val="D5D8DD"/>
            </a:solidFill>
            <a:prstDash val="solid"/>
          </a:ln>
        </p:spPr>
      </p:sp>
      <p:sp>
        <p:nvSpPr>
          <p:cNvPr id="85" name="mot-dot-6-1"/>
          <p:cNvSpPr/>
          <p:nvPr/>
        </p:nvSpPr>
        <p:spPr>
          <a:xfrm>
            <a:off x="4892040" y="5650992"/>
            <a:ext cx="274320" cy="274320"/>
          </a:xfrm>
          <a:prstGeom prst="ellipse">
            <a:avLst/>
          </a:prstGeom>
          <a:solidFill>
            <a:schemeClr val="tx2"/>
          </a:solidFill>
          <a:ln w="12700">
            <a:solidFill>
              <a:schemeClr val="tx2"/>
            </a:solidFill>
            <a:prstDash val="solid"/>
          </a:ln>
        </p:spPr>
      </p:sp>
      <p:sp>
        <p:nvSpPr>
          <p:cNvPr id="86" name="mot-ref-6-1"/>
          <p:cNvSpPr txBox="1"/>
          <p:nvPr/>
        </p:nvSpPr>
        <p:spPr>
          <a:xfrm>
            <a:off x="5184648" y="5586984"/>
            <a:ext cx="292608" cy="182880"/>
          </a:xfrm>
          <a:prstGeom prst="rect">
            <a:avLst/>
          </a:prstGeom>
          <a:noFill/>
          <a:ln/>
        </p:spPr>
        <p:txBody>
          <a:bodyPr wrap="square" lIns="0" tIns="0" rIns="0" bIns="0" rtlCol="0" anchor="ctr"/>
          <a:lstStyle/>
          <a:p>
            <a:pPr indent="0" marL="0">
              <a:buNone/>
            </a:pPr>
            <a:r>
              <a:rPr lang="en-US" sz="900" dirty="0">
                <a:solidFill>
                  <a:schemeClr val="accent1"/>
                </a:solidFill>
              </a:rPr>
              <a:t>7</a:t>
            </a:r>
            <a:endParaRPr lang="en-US" sz="900" dirty="0"/>
          </a:p>
        </p:txBody>
      </p:sp>
      <p:sp>
        <p:nvSpPr>
          <p:cNvPr id="87" name="mot-dot-6-2"/>
          <p:cNvSpPr/>
          <p:nvPr/>
        </p:nvSpPr>
        <p:spPr>
          <a:xfrm>
            <a:off x="5806440" y="5650992"/>
            <a:ext cx="274320" cy="274320"/>
          </a:xfrm>
          <a:prstGeom prst="ellipse">
            <a:avLst/>
          </a:prstGeom>
          <a:solidFill>
            <a:schemeClr val="tx2"/>
          </a:solidFill>
          <a:ln w="12700">
            <a:solidFill>
              <a:schemeClr val="tx2"/>
            </a:solidFill>
            <a:prstDash val="solid"/>
          </a:ln>
        </p:spPr>
      </p:sp>
      <p:sp>
        <p:nvSpPr>
          <p:cNvPr id="88" name="mot-ref-6-2"/>
          <p:cNvSpPr txBox="1"/>
          <p:nvPr/>
        </p:nvSpPr>
        <p:spPr>
          <a:xfrm>
            <a:off x="6099048" y="5586984"/>
            <a:ext cx="292608" cy="182880"/>
          </a:xfrm>
          <a:prstGeom prst="rect">
            <a:avLst/>
          </a:prstGeom>
          <a:noFill/>
          <a:ln/>
        </p:spPr>
        <p:txBody>
          <a:bodyPr wrap="square" lIns="0" tIns="0" rIns="0" bIns="0" rtlCol="0" anchor="ctr"/>
          <a:lstStyle/>
          <a:p>
            <a:pPr indent="0" marL="0">
              <a:buNone/>
            </a:pPr>
            <a:r>
              <a:rPr lang="en-US" sz="900" dirty="0">
                <a:solidFill>
                  <a:schemeClr val="accent1"/>
                </a:solidFill>
              </a:rPr>
              <a:t>11</a:t>
            </a:r>
            <a:endParaRPr lang="en-US" sz="900" dirty="0"/>
          </a:p>
        </p:txBody>
      </p:sp>
      <p:sp>
        <p:nvSpPr>
          <p:cNvPr id="89" name="mot-empty-6-3"/>
          <p:cNvSpPr/>
          <p:nvPr/>
        </p:nvSpPr>
        <p:spPr>
          <a:xfrm>
            <a:off x="6821424" y="5751576"/>
            <a:ext cx="73152" cy="73152"/>
          </a:xfrm>
          <a:prstGeom prst="ellipse">
            <a:avLst/>
          </a:prstGeom>
          <a:solidFill>
            <a:srgbClr val="D5D8DD"/>
          </a:solidFill>
          <a:ln w="12700">
            <a:solidFill>
              <a:srgbClr val="D5D8DD"/>
            </a:solidFill>
            <a:prstDash val="solid"/>
          </a:ln>
        </p:spPr>
      </p:sp>
      <p:sp>
        <p:nvSpPr>
          <p:cNvPr id="90" name="mot-empty-6-4"/>
          <p:cNvSpPr/>
          <p:nvPr/>
        </p:nvSpPr>
        <p:spPr>
          <a:xfrm>
            <a:off x="7735824" y="5751576"/>
            <a:ext cx="73152" cy="73152"/>
          </a:xfrm>
          <a:prstGeom prst="ellipse">
            <a:avLst/>
          </a:prstGeom>
          <a:solidFill>
            <a:srgbClr val="D5D8DD"/>
          </a:solidFill>
          <a:ln w="12700">
            <a:solidFill>
              <a:srgbClr val="D5D8DD"/>
            </a:solidFill>
            <a:prstDash val="solid"/>
          </a:ln>
        </p:spPr>
      </p:sp>
      <p:sp>
        <p:nvSpPr>
          <p:cNvPr id="91" name="mot-count-6"/>
          <p:cNvSpPr txBox="1"/>
          <p:nvPr/>
        </p:nvSpPr>
        <p:spPr>
          <a:xfrm>
            <a:off x="8229600" y="5504688"/>
            <a:ext cx="640080" cy="566928"/>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92" name="mot-rule-end"/>
          <p:cNvSpPr/>
          <p:nvPr/>
        </p:nvSpPr>
        <p:spPr>
          <a:xfrm>
            <a:off x="548640" y="6071616"/>
            <a:ext cx="8321040" cy="0"/>
          </a:xfrm>
          <a:prstGeom prst="line">
            <a:avLst/>
          </a:prstGeom>
          <a:noFill/>
          <a:ln w="9525">
            <a:solidFill>
              <a:srgbClr val="DDDFE3"/>
            </a:solidFill>
            <a:prstDash val="solid"/>
          </a:ln>
        </p:spPr>
      </p:sp>
      <p:sp>
        <p:nvSpPr>
          <p:cNvPr id="93" name="mot-note"/>
          <p:cNvSpPr txBox="1"/>
          <p:nvPr/>
        </p:nvSpPr>
        <p:spPr>
          <a:xfrm>
            <a:off x="548640" y="6035040"/>
            <a:ext cx="7955280" cy="320040"/>
          </a:xfrm>
          <a:prstGeom prst="rect">
            <a:avLst/>
          </a:prstGeom>
          <a:noFill/>
          <a:ln/>
        </p:spPr>
        <p:txBody>
          <a:bodyPr wrap="square" lIns="0" tIns="0" rIns="0" bIns="0" rtlCol="0" anchor="ctr"/>
          <a:lstStyle/>
          <a:p>
            <a:pPr indent="0" marL="0">
              <a:buNone/>
            </a:pPr>
            <a:r>
              <a:rPr lang="en-US" sz="1000" i="1" dirty="0">
                <a:solidFill>
                  <a:schemeClr val="accent5"/>
                </a:solidFill>
              </a:rPr>
              <a:t>A dot means that case's source gave the reason; the small number is the source. No dot means the reason was not mentioned, not that it didn't matter.*</a:t>
            </a:r>
            <a:endParaRPr lang="en-US" sz="1000" dirty="0"/>
          </a:p>
        </p:txBody>
      </p:sp>
      <p:sp>
        <p:nvSpPr>
          <p:cNvPr id="94" name="mot-panel"/>
          <p:cNvSpPr/>
          <p:nvPr/>
        </p:nvSpPr>
        <p:spPr>
          <a:xfrm>
            <a:off x="8732520" y="1234440"/>
            <a:ext cx="2907792" cy="5074920"/>
          </a:xfrm>
          <a:prstGeom prst="rect">
            <a:avLst/>
          </a:prstGeom>
          <a:solidFill>
            <a:schemeClr val="bg2"/>
          </a:solidFill>
          <a:ln w="12700">
            <a:solidFill>
              <a:schemeClr val="bg2"/>
            </a:solidFill>
            <a:prstDash val="solid"/>
          </a:ln>
        </p:spPr>
      </p:sp>
      <p:sp>
        <p:nvSpPr>
          <p:cNvPr id="95" name="mot-takeaways"/>
          <p:cNvSpPr txBox="1"/>
          <p:nvPr/>
        </p:nvSpPr>
        <p:spPr>
          <a:xfrm>
            <a:off x="8961120" y="1417320"/>
            <a:ext cx="2450592" cy="47548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Risk came first</a:t>
            </a:r>
            <a:endParaRPr lang="en-US" sz="1700" dirty="0"/>
          </a:p>
          <a:p>
            <a:pPr indent="0" marL="0">
              <a:buNone/>
            </a:pPr>
            <a:r>
              <a:rPr lang="en-US" sz="1400" dirty="0">
                <a:solidFill>
                  <a:schemeClr val="tx1"/>
                </a:solidFill>
              </a:rPr>
              <a:t>Security, reliability and ageing systems each came up in three of the five cases.</a:t>
            </a:r>
            <a:r>
              <a:rPr lang="en-US" sz="1400" baseline="30000" dirty="0">
                <a:solidFill>
                  <a:schemeClr val="tx1"/>
                </a:solidFill>
              </a:rPr>
              <a:t>7,11,14,25</a:t>
            </a:r>
            <a:endParaRPr lang="en-US" sz="1700" dirty="0"/>
          </a:p>
          <a:p>
            <a:pPr indent="0" marL="0">
              <a:spcBef>
                <a:spcPts val="1400"/>
              </a:spcBef>
              <a:buNone/>
            </a:pPr>
            <a:r>
              <a:rPr lang="en-US" sz="1700" b="1" dirty="0">
                <a:solidFill>
                  <a:schemeClr val="tx2"/>
                </a:solidFill>
                <a:latin typeface="Cambria" pitchFamily="34" charset="0"/>
                <a:ea typeface="Cambria" pitchFamily="34" charset="-122"/>
                <a:cs typeface="Cambria" pitchFamily="34" charset="-120"/>
              </a:rPr>
              <a:t>Two moved under orders</a:t>
            </a:r>
            <a:endParaRPr lang="en-US" sz="1700" dirty="0"/>
          </a:p>
          <a:p>
            <a:pPr indent="0" marL="0">
              <a:buNone/>
            </a:pPr>
            <a:r>
              <a:rPr lang="en-US" sz="1400" dirty="0">
                <a:solidFill>
                  <a:schemeClr val="tx1"/>
                </a:solidFill>
              </a:rPr>
              <a:t>New Zealand and the US worked under formal cloud-first policies.</a:t>
            </a:r>
            <a:r>
              <a:rPr lang="en-US" sz="1400" baseline="30000" dirty="0">
                <a:solidFill>
                  <a:schemeClr val="tx1"/>
                </a:solidFill>
              </a:rPr>
              <a:t>7,11</a:t>
            </a:r>
            <a:r>
              <a:rPr lang="en-US" sz="1400" dirty="0">
                <a:solidFill>
                  <a:schemeClr val="tx1"/>
                </a:solidFill>
              </a:rPr>
              <a:t> Singapore set its own five-year strategy.</a:t>
            </a:r>
            <a:r>
              <a:rPr lang="en-US" sz="1400" baseline="30000" dirty="0">
                <a:solidFill>
                  <a:schemeClr val="tx1"/>
                </a:solidFill>
              </a:rPr>
              <a:t>3</a:t>
            </a:r>
            <a:endParaRPr lang="en-US" sz="1700" dirty="0"/>
          </a:p>
          <a:p>
            <a:pPr indent="0" marL="0">
              <a:spcBef>
                <a:spcPts val="1400"/>
              </a:spcBef>
              <a:buNone/>
            </a:pPr>
            <a:r>
              <a:rPr lang="en-US" sz="1700" b="1" dirty="0">
                <a:solidFill>
                  <a:schemeClr val="tx2"/>
                </a:solidFill>
                <a:latin typeface="Cambria" pitchFamily="34" charset="0"/>
                <a:ea typeface="Cambria" pitchFamily="34" charset="-122"/>
                <a:cs typeface="Cambria" pitchFamily="34" charset="-120"/>
              </a:rPr>
              <a:t>Cost was a reason for only two</a:t>
            </a:r>
            <a:endParaRPr lang="en-US" sz="1700" dirty="0"/>
          </a:p>
          <a:p>
            <a:pPr indent="0" marL="0">
              <a:buNone/>
            </a:pPr>
            <a:r>
              <a:rPr lang="en-US" sz="1400" dirty="0">
                <a:solidFill>
                  <a:schemeClr val="tx1"/>
                </a:solidFill>
              </a:rPr>
              <a:t>In the US, about 75% of IT spending went on running existing systems.</a:t>
            </a:r>
            <a:r>
              <a:rPr lang="en-US" sz="1400" baseline="30000" dirty="0">
                <a:solidFill>
                  <a:schemeClr val="tx1"/>
                </a:solidFill>
              </a:rPr>
              <a:t>11</a:t>
            </a:r>
            <a:r>
              <a:rPr lang="en-US" sz="1400" dirty="0">
                <a:solidFill>
                  <a:schemeClr val="tx1"/>
                </a:solidFill>
              </a:rPr>
              <a:t> In New Zealand, legacy systems challenged cost-effectiveness.</a:t>
            </a:r>
            <a:r>
              <a:rPr lang="en-US" sz="1400" baseline="30000" dirty="0">
                <a:solidFill>
                  <a:schemeClr val="tx1"/>
                </a:solidFill>
              </a:rPr>
              <a:t>7</a:t>
            </a:r>
            <a:endParaRPr lang="en-US" sz="1700" dirty="0"/>
          </a:p>
        </p:txBody>
      </p:sp>
      <p:sp>
        <p:nvSpPr>
          <p:cNvPr id="25" name="Slide Number Placeholder 0"/>
          <p:cNvSpPr>
            <a:spLocks noGrp="1"/>
          </p:cNvSpPr>
          <p:nvPr>
            <p:ph type="sldNum" sz="quarter" idx="4294967295"/>
          </p:nvPr>
        </p:nvSpPr>
        <p:spPr>
          <a:xfrm>
            <a:off x="11155680"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Singapore: one platform, a clear target</a:t>
            </a:r>
            <a:endParaRPr lang="en-US" sz="3400" dirty="0"/>
          </a:p>
        </p:txBody>
      </p:sp>
      <p:pic>
        <p:nvPicPr>
          <p:cNvPr id="3" name="flag-sg-0.60" descr="Flag of Singapore">    </p:cNvPr>
          <p:cNvPicPr>
            <a:picLocks noChangeAspect="1"/>
          </p:cNvPicPr>
          <p:nvPr/>
        </p:nvPicPr>
        <p:blipFill>
          <a:blip r:embed="rId1"/>
          <a:stretch>
            <a:fillRect/>
          </a:stretch>
        </p:blipFill>
        <p:spPr>
          <a:xfrm>
            <a:off x="548640" y="987552"/>
            <a:ext cx="274320" cy="274320"/>
          </a:xfrm>
          <a:prstGeom prst="rect">
            <a:avLst/>
          </a:prstGeom>
        </p:spPr>
      </p:pic>
      <p:sp>
        <p:nvSpPr>
          <p:cNvPr id="4" name="flag-ring-sg-0.60"/>
          <p:cNvSpPr/>
          <p:nvPr/>
        </p:nvSpPr>
        <p:spPr>
          <a:xfrm>
            <a:off x="548640" y="987552"/>
            <a:ext cx="274320" cy="274320"/>
          </a:xfrm>
          <a:prstGeom prst="ellipse">
            <a:avLst/>
          </a:prstGeom>
          <a:noFill/>
          <a:ln w="9525">
            <a:solidFill>
              <a:srgbClr val="C9CDD3"/>
            </a:solidFill>
            <a:prstDash val="solid"/>
          </a:ln>
        </p:spPr>
      </p:sp>
      <p:sp>
        <p:nvSpPr>
          <p:cNvPr id="5" name="case-meta"/>
          <p:cNvSpPr txBox="1"/>
          <p:nvPr/>
        </p:nvSpPr>
        <p:spPr>
          <a:xfrm>
            <a:off x="932688" y="978408"/>
            <a:ext cx="8138160" cy="292608"/>
          </a:xfrm>
          <a:prstGeom prst="rect">
            <a:avLst/>
          </a:prstGeom>
          <a:noFill/>
          <a:ln/>
        </p:spPr>
        <p:txBody>
          <a:bodyPr wrap="square" lIns="0" tIns="0" rIns="0" bIns="0" rtlCol="0" anchor="ctr"/>
          <a:lstStyle/>
          <a:p>
            <a:pPr indent="0" marL="0">
              <a:buNone/>
            </a:pPr>
            <a:r>
              <a:rPr lang="en-US" sz="1200" dirty="0">
                <a:solidFill>
                  <a:schemeClr val="accent5"/>
                </a:solidFill>
              </a:rPr>
              <a:t>Singapore  ·  2018–2024  ·  AWS, Azure and Google Cloud through GovTech's GCC platform</a:t>
            </a:r>
            <a:r>
              <a:rPr lang="en-US" sz="1200" baseline="30000" dirty="0">
                <a:solidFill>
                  <a:schemeClr val="accent5"/>
                </a:solidFill>
              </a:rPr>
              <a:t>2</a:t>
            </a:r>
            <a:r>
              <a:rPr lang="en-US" sz="1200" dirty="0">
                <a:solidFill>
                  <a:schemeClr val="accent5"/>
                </a:solidFill>
              </a:rPr>
              <a:t>  ·  Partial move</a:t>
            </a:r>
            <a:r>
              <a:rPr lang="en-US" sz="1200" baseline="30000" dirty="0">
                <a:solidFill>
                  <a:schemeClr val="accent5"/>
                </a:solidFill>
              </a:rPr>
              <a:t>1</a:t>
            </a:r>
            <a:endParaRPr lang="en-US" sz="1200" dirty="0"/>
          </a:p>
        </p:txBody>
      </p:sp>
      <p:sp>
        <p:nvSpPr>
          <p:cNvPr id="6" name="case-evidence"/>
          <p:cNvSpPr txBox="1"/>
          <p:nvPr/>
        </p:nvSpPr>
        <p:spPr>
          <a:xfrm>
            <a:off x="9052560" y="978408"/>
            <a:ext cx="2587752" cy="292608"/>
          </a:xfrm>
          <a:prstGeom prst="rect">
            <a:avLst/>
          </a:prstGeom>
          <a:noFill/>
          <a:ln/>
        </p:spPr>
        <p:txBody>
          <a:bodyPr wrap="square" lIns="0" tIns="0" rIns="0" bIns="0" rtlCol="0" anchor="ctr"/>
          <a:lstStyle/>
          <a:p>
            <a:pPr algn="r" indent="0" marL="0">
              <a:buNone/>
            </a:pPr>
            <a:r>
              <a:rPr lang="en-US" sz="1200" b="1" dirty="0">
                <a:solidFill>
                  <a:schemeClr val="tx2"/>
                </a:solidFill>
              </a:rPr>
              <a:t>Evidence: </a:t>
            </a:r>
            <a:r>
              <a:rPr lang="en-US" sz="1200" dirty="0">
                <a:solidFill>
                  <a:schemeClr val="tx2"/>
                </a:solidFill>
              </a:rPr>
              <a:t>Self-reported (government)</a:t>
            </a:r>
            <a:endParaRPr lang="en-US" sz="1200" dirty="0"/>
          </a:p>
        </p:txBody>
      </p:sp>
      <p:sp>
        <p:nvSpPr>
          <p:cNvPr id="7" name="stat-card-0"/>
          <p:cNvSpPr/>
          <p:nvPr/>
        </p:nvSpPr>
        <p:spPr>
          <a:xfrm>
            <a:off x="548640" y="1389888"/>
            <a:ext cx="3593592" cy="713232"/>
          </a:xfrm>
          <a:prstGeom prst="rect">
            <a:avLst/>
          </a:prstGeom>
          <a:solidFill>
            <a:schemeClr val="bg2"/>
          </a:solidFill>
          <a:ln w="12700">
            <a:solidFill>
              <a:schemeClr val="bg2"/>
            </a:solidFill>
            <a:prstDash val="solid"/>
          </a:ln>
        </p:spPr>
      </p:sp>
      <p:sp>
        <p:nvSpPr>
          <p:cNvPr id="8" name="stat-value-0"/>
          <p:cNvSpPr txBox="1"/>
          <p:nvPr/>
        </p:nvSpPr>
        <p:spPr>
          <a:xfrm>
            <a:off x="731520" y="1399032"/>
            <a:ext cx="1645920" cy="694944"/>
          </a:xfrm>
          <a:prstGeom prst="rect">
            <a:avLst/>
          </a:prstGeom>
          <a:noFill/>
          <a:ln/>
        </p:spPr>
        <p:txBody>
          <a:bodyPr wrap="square" lIns="0" tIns="0" rIns="0" bIns="0" rtlCol="0" anchor="ctr">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80%+</a:t>
            </a:r>
            <a:endParaRPr lang="en-US" sz="2600" dirty="0"/>
          </a:p>
        </p:txBody>
      </p:sp>
      <p:sp>
        <p:nvSpPr>
          <p:cNvPr id="9" name="stat-label-0"/>
          <p:cNvSpPr txBox="1"/>
          <p:nvPr/>
        </p:nvSpPr>
        <p:spPr>
          <a:xfrm>
            <a:off x="2423160" y="1399032"/>
            <a:ext cx="1600200" cy="694944"/>
          </a:xfrm>
          <a:prstGeom prst="rect">
            <a:avLst/>
          </a:prstGeom>
          <a:noFill/>
          <a:ln/>
        </p:spPr>
        <p:txBody>
          <a:bodyPr wrap="square" lIns="0" tIns="0" rIns="0" bIns="0" rtlCol="0" anchor="ctr"/>
          <a:lstStyle/>
          <a:p>
            <a:pPr indent="0" marL="0">
              <a:buNone/>
            </a:pPr>
            <a:r>
              <a:rPr lang="en-US" sz="1100" dirty="0">
                <a:solidFill>
                  <a:schemeClr val="tx1"/>
                </a:solidFill>
              </a:rPr>
              <a:t>of eligible systems on cloud by 2024; the target was 70%</a:t>
            </a:r>
            <a:r>
              <a:rPr lang="en-US" sz="1100" baseline="30000" dirty="0">
                <a:solidFill>
                  <a:schemeClr val="tx1"/>
                </a:solidFill>
              </a:rPr>
              <a:t>5</a:t>
            </a:r>
            <a:endParaRPr lang="en-US" sz="1100" dirty="0"/>
          </a:p>
        </p:txBody>
      </p:sp>
      <p:sp>
        <p:nvSpPr>
          <p:cNvPr id="10" name="stat-card-1"/>
          <p:cNvSpPr/>
          <p:nvPr/>
        </p:nvSpPr>
        <p:spPr>
          <a:xfrm>
            <a:off x="4297680" y="1389888"/>
            <a:ext cx="3593592" cy="713232"/>
          </a:xfrm>
          <a:prstGeom prst="rect">
            <a:avLst/>
          </a:prstGeom>
          <a:solidFill>
            <a:schemeClr val="bg2"/>
          </a:solidFill>
          <a:ln w="12700">
            <a:solidFill>
              <a:schemeClr val="bg2"/>
            </a:solidFill>
            <a:prstDash val="solid"/>
          </a:ln>
        </p:spPr>
      </p:sp>
      <p:sp>
        <p:nvSpPr>
          <p:cNvPr id="11" name="stat-value-1"/>
          <p:cNvSpPr txBox="1"/>
          <p:nvPr/>
        </p:nvSpPr>
        <p:spPr>
          <a:xfrm>
            <a:off x="4480560" y="1399032"/>
            <a:ext cx="1645920" cy="694944"/>
          </a:xfrm>
          <a:prstGeom prst="rect">
            <a:avLst/>
          </a:prstGeom>
          <a:noFill/>
          <a:ln/>
        </p:spPr>
        <p:txBody>
          <a:bodyPr wrap="square" lIns="0" tIns="0" rIns="0" bIns="0" rtlCol="0" anchor="ctr">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30–40%</a:t>
            </a:r>
            <a:endParaRPr lang="en-US" sz="2600" dirty="0"/>
          </a:p>
        </p:txBody>
      </p:sp>
      <p:sp>
        <p:nvSpPr>
          <p:cNvPr id="12" name="stat-label-1"/>
          <p:cNvSpPr txBox="1"/>
          <p:nvPr/>
        </p:nvSpPr>
        <p:spPr>
          <a:xfrm>
            <a:off x="6172200" y="1399032"/>
            <a:ext cx="1600200" cy="694944"/>
          </a:xfrm>
          <a:prstGeom prst="rect">
            <a:avLst/>
          </a:prstGeom>
          <a:noFill/>
          <a:ln/>
        </p:spPr>
        <p:txBody>
          <a:bodyPr wrap="square" lIns="0" tIns="0" rIns="0" bIns="0" rtlCol="0" anchor="ctr"/>
          <a:lstStyle/>
          <a:p>
            <a:pPr indent="0" marL="0">
              <a:buNone/>
            </a:pPr>
            <a:r>
              <a:rPr lang="en-US" sz="1100" dirty="0">
                <a:solidFill>
                  <a:schemeClr val="tx1"/>
                </a:solidFill>
              </a:rPr>
              <a:t>average saving per system moved, as reported by GovTech</a:t>
            </a:r>
            <a:r>
              <a:rPr lang="en-US" sz="1100" baseline="30000" dirty="0">
                <a:solidFill>
                  <a:schemeClr val="tx1"/>
                </a:solidFill>
              </a:rPr>
              <a:t>3</a:t>
            </a:r>
            <a:endParaRPr lang="en-US" sz="1100" dirty="0"/>
          </a:p>
        </p:txBody>
      </p:sp>
      <p:sp>
        <p:nvSpPr>
          <p:cNvPr id="13" name="stat-card-2"/>
          <p:cNvSpPr/>
          <p:nvPr/>
        </p:nvSpPr>
        <p:spPr>
          <a:xfrm>
            <a:off x="8046720" y="1389888"/>
            <a:ext cx="3593592" cy="713232"/>
          </a:xfrm>
          <a:prstGeom prst="rect">
            <a:avLst/>
          </a:prstGeom>
          <a:solidFill>
            <a:schemeClr val="bg2"/>
          </a:solidFill>
          <a:ln w="12700">
            <a:solidFill>
              <a:schemeClr val="bg2"/>
            </a:solidFill>
            <a:prstDash val="solid"/>
          </a:ln>
        </p:spPr>
      </p:sp>
      <p:sp>
        <p:nvSpPr>
          <p:cNvPr id="14" name="stat-value-2"/>
          <p:cNvSpPr txBox="1"/>
          <p:nvPr/>
        </p:nvSpPr>
        <p:spPr>
          <a:xfrm>
            <a:off x="8229600" y="1399032"/>
            <a:ext cx="1645920" cy="694944"/>
          </a:xfrm>
          <a:prstGeom prst="rect">
            <a:avLst/>
          </a:prstGeom>
          <a:noFill/>
          <a:ln/>
        </p:spPr>
        <p:txBody>
          <a:bodyPr wrap="square" lIns="0" tIns="0" rIns="0" bIns="0" rtlCol="0" anchor="ctr">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S$200M+</a:t>
            </a:r>
            <a:endParaRPr lang="en-US" sz="2600" dirty="0"/>
          </a:p>
        </p:txBody>
      </p:sp>
      <p:sp>
        <p:nvSpPr>
          <p:cNvPr id="15" name="stat-label-2"/>
          <p:cNvSpPr txBox="1"/>
          <p:nvPr/>
        </p:nvSpPr>
        <p:spPr>
          <a:xfrm>
            <a:off x="9921240" y="1399032"/>
            <a:ext cx="1600200" cy="694944"/>
          </a:xfrm>
          <a:prstGeom prst="rect">
            <a:avLst/>
          </a:prstGeom>
          <a:noFill/>
          <a:ln/>
        </p:spPr>
        <p:txBody>
          <a:bodyPr wrap="square" lIns="0" tIns="0" rIns="0" bIns="0" rtlCol="0" anchor="ctr"/>
          <a:lstStyle/>
          <a:p>
            <a:pPr indent="0" marL="0">
              <a:buNone/>
            </a:pPr>
            <a:r>
              <a:rPr lang="en-US" sz="1100" dirty="0">
                <a:solidFill>
                  <a:schemeClr val="tx1"/>
                </a:solidFill>
              </a:rPr>
              <a:t>spent 2018 to mid-2022 building cloud capability</a:t>
            </a:r>
            <a:r>
              <a:rPr lang="en-US" sz="1100" baseline="30000" dirty="0">
                <a:solidFill>
                  <a:schemeClr val="tx1"/>
                </a:solidFill>
              </a:rPr>
              <a:t>3</a:t>
            </a:r>
            <a:endParaRPr lang="en-US" sz="1100" dirty="0"/>
          </a:p>
        </p:txBody>
      </p:sp>
      <p:sp>
        <p:nvSpPr>
          <p:cNvPr id="16" name="col-head-0"/>
          <p:cNvSpPr txBox="1"/>
          <p:nvPr/>
        </p:nvSpPr>
        <p:spPr>
          <a:xfrm>
            <a:off x="548640" y="2267712"/>
            <a:ext cx="2651760" cy="292608"/>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Why they moved</a:t>
            </a:r>
            <a:endParaRPr lang="en-US" sz="1500" dirty="0"/>
          </a:p>
        </p:txBody>
      </p:sp>
      <p:sp>
        <p:nvSpPr>
          <p:cNvPr id="17" name="col-body-0"/>
          <p:cNvSpPr txBox="1"/>
          <p:nvPr/>
        </p:nvSpPr>
        <p:spPr>
          <a:xfrm>
            <a:off x="548640" y="2615184"/>
            <a:ext cx="2651760"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In 2018, the government announced a five-year plan to move most of its IT systems from on-premises infrastructure to commercial cloud.</a:t>
            </a:r>
            <a:r>
              <a:rPr lang="en-US" sz="1100" baseline="30000" dirty="0">
                <a:solidFill>
                  <a:schemeClr val="tx1"/>
                </a:solidFill>
              </a:rPr>
              <a:t>3</a:t>
            </a:r>
            <a:endParaRPr lang="en-US" sz="1100" dirty="0"/>
          </a:p>
          <a:p>
            <a:pPr marL="165100" indent="-165100">
              <a:spcAft>
                <a:spcPts val="500"/>
              </a:spcAft>
              <a:buSzPct val="100000"/>
              <a:buChar char="•"/>
            </a:pPr>
            <a:r>
              <a:rPr lang="en-US" sz="1100" dirty="0">
                <a:solidFill>
                  <a:schemeClr val="tx1"/>
                </a:solidFill>
              </a:rPr>
              <a:t>The aim was to speed up delivery.</a:t>
            </a:r>
            <a:r>
              <a:rPr lang="en-US" sz="1100" baseline="30000" dirty="0">
                <a:solidFill>
                  <a:schemeClr val="tx1"/>
                </a:solidFill>
              </a:rPr>
              <a:t>3</a:t>
            </a:r>
            <a:endParaRPr lang="en-US" sz="1100" dirty="0"/>
          </a:p>
          <a:p>
            <a:pPr marL="165100" indent="-165100">
              <a:spcAft>
                <a:spcPts val="500"/>
              </a:spcAft>
              <a:buSzPct val="100000"/>
              <a:buChar char="•"/>
            </a:pPr>
            <a:r>
              <a:rPr lang="en-US" sz="1100" dirty="0">
                <a:solidFill>
                  <a:schemeClr val="tx1"/>
                </a:solidFill>
              </a:rPr>
              <a:t>It also aimed to improve the quality of services for citizens and businesses.</a:t>
            </a:r>
            <a:r>
              <a:rPr lang="en-US" sz="1100" baseline="30000" dirty="0">
                <a:solidFill>
                  <a:schemeClr val="tx1"/>
                </a:solidFill>
              </a:rPr>
              <a:t>3</a:t>
            </a:r>
            <a:endParaRPr lang="en-US" sz="1100" dirty="0"/>
          </a:p>
        </p:txBody>
      </p:sp>
      <p:sp>
        <p:nvSpPr>
          <p:cNvPr id="18" name="col-head-1"/>
          <p:cNvSpPr txBox="1"/>
          <p:nvPr/>
        </p:nvSpPr>
        <p:spPr>
          <a:xfrm>
            <a:off x="3361944" y="2267712"/>
            <a:ext cx="2651760" cy="292608"/>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What they did</a:t>
            </a:r>
            <a:endParaRPr lang="en-US" sz="1500" dirty="0"/>
          </a:p>
        </p:txBody>
      </p:sp>
      <p:sp>
        <p:nvSpPr>
          <p:cNvPr id="19" name="col-body-1"/>
          <p:cNvSpPr txBox="1"/>
          <p:nvPr/>
        </p:nvSpPr>
        <p:spPr>
          <a:xfrm>
            <a:off x="3361944" y="2615184"/>
            <a:ext cx="2651760"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October 2018: "Cloud First" strategy announced.</a:t>
            </a:r>
            <a:r>
              <a:rPr lang="en-US" sz="1100" baseline="30000" dirty="0">
                <a:solidFill>
                  <a:schemeClr val="tx1"/>
                </a:solidFill>
              </a:rPr>
              <a:t>3</a:t>
            </a:r>
            <a:endParaRPr lang="en-US" sz="1100" dirty="0"/>
          </a:p>
          <a:p>
            <a:pPr marL="165100" indent="-165100">
              <a:spcAft>
                <a:spcPts val="500"/>
              </a:spcAft>
              <a:buSzPct val="100000"/>
              <a:buChar char="•"/>
            </a:pPr>
            <a:r>
              <a:rPr lang="en-US" sz="1100" dirty="0">
                <a:solidFill>
                  <a:schemeClr val="tx1"/>
                </a:solidFill>
              </a:rPr>
              <a:t>Instead of each agency buying cloud separately, GovTech built GCC, one platform through which agencies use commercial clouds.</a:t>
            </a:r>
            <a:r>
              <a:rPr lang="en-US" sz="1100" baseline="30000" dirty="0">
                <a:solidFill>
                  <a:schemeClr val="tx1"/>
                </a:solidFill>
              </a:rPr>
              <a:t>2</a:t>
            </a:r>
            <a:endParaRPr lang="en-US" sz="1100" dirty="0"/>
          </a:p>
          <a:p>
            <a:pPr marL="165100" indent="-165100">
              <a:spcAft>
                <a:spcPts val="500"/>
              </a:spcAft>
              <a:buSzPct val="100000"/>
              <a:buChar char="•"/>
            </a:pPr>
            <a:r>
              <a:rPr lang="en-US" sz="1100" dirty="0">
                <a:solidFill>
                  <a:schemeClr val="tx1"/>
                </a:solidFill>
              </a:rPr>
              <a:t>2022: GCC 2.0 sped up onboarding; July 2023: GCC+ let more sensitive systems move.</a:t>
            </a:r>
            <a:r>
              <a:rPr lang="en-US" sz="1100" baseline="30000" dirty="0">
                <a:solidFill>
                  <a:schemeClr val="tx1"/>
                </a:solidFill>
              </a:rPr>
              <a:t>5</a:t>
            </a:r>
            <a:endParaRPr lang="en-US" sz="1100" dirty="0"/>
          </a:p>
          <a:p>
            <a:pPr marL="165100" indent="-165100">
              <a:spcAft>
                <a:spcPts val="500"/>
              </a:spcAft>
              <a:buSzPct val="100000"/>
              <a:buChar char="•"/>
            </a:pPr>
            <a:r>
              <a:rPr lang="en-US" sz="1100" dirty="0">
                <a:solidFill>
                  <a:schemeClr val="tx1"/>
                </a:solidFill>
              </a:rPr>
              <a:t>Agencies chose their route: rehost unchanged, redevelop, or buy ready-made software.</a:t>
            </a:r>
            <a:r>
              <a:rPr lang="en-US" sz="1100" baseline="30000" dirty="0">
                <a:solidFill>
                  <a:schemeClr val="tx1"/>
                </a:solidFill>
              </a:rPr>
              <a:t>5</a:t>
            </a:r>
            <a:endParaRPr lang="en-US" sz="1100" dirty="0"/>
          </a:p>
        </p:txBody>
      </p:sp>
      <p:sp>
        <p:nvSpPr>
          <p:cNvPr id="20" name="col-head-2"/>
          <p:cNvSpPr txBox="1"/>
          <p:nvPr/>
        </p:nvSpPr>
        <p:spPr>
          <a:xfrm>
            <a:off x="6175248" y="2267712"/>
            <a:ext cx="2651760" cy="292608"/>
          </a:xfrm>
          <a:prstGeom prst="rect">
            <a:avLst/>
          </a:prstGeom>
          <a:noFill/>
          <a:ln/>
        </p:spPr>
        <p:txBody>
          <a:bodyPr wrap="square" lIns="0" tIns="0" rIns="0" bIns="0" rtlCol="0" anchor="t"/>
          <a:lstStyle/>
          <a:p>
            <a:pPr indent="0" marL="0">
              <a:buNone/>
            </a:pPr>
            <a:r>
              <a:rPr lang="en-US" sz="1500" b="1" dirty="0">
                <a:solidFill>
                  <a:schemeClr val="accent3"/>
                </a:solidFill>
                <a:latin typeface="Cambria" pitchFamily="34" charset="0"/>
                <a:ea typeface="Cambria" pitchFamily="34" charset="-122"/>
                <a:cs typeface="Cambria" pitchFamily="34" charset="-120"/>
              </a:rPr>
              <a:t>What went well</a:t>
            </a:r>
            <a:endParaRPr lang="en-US" sz="1500" dirty="0"/>
          </a:p>
        </p:txBody>
      </p:sp>
      <p:sp>
        <p:nvSpPr>
          <p:cNvPr id="21" name="col-body-2"/>
          <p:cNvSpPr txBox="1"/>
          <p:nvPr/>
        </p:nvSpPr>
        <p:spPr>
          <a:xfrm>
            <a:off x="6175248" y="2615184"/>
            <a:ext cx="2651760"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About 55% of eligible systems moved by June 2022.</a:t>
            </a:r>
            <a:r>
              <a:rPr lang="en-US" sz="1100" baseline="30000" dirty="0">
                <a:solidFill>
                  <a:schemeClr val="tx1"/>
                </a:solidFill>
              </a:rPr>
              <a:t>3</a:t>
            </a:r>
            <a:endParaRPr lang="en-US" sz="1100" dirty="0"/>
          </a:p>
          <a:p>
            <a:pPr marL="165100" indent="-165100">
              <a:spcAft>
                <a:spcPts val="500"/>
              </a:spcAft>
              <a:buSzPct val="100000"/>
              <a:buChar char="•"/>
            </a:pPr>
            <a:r>
              <a:rPr lang="en-US" sz="1100" dirty="0">
                <a:solidFill>
                  <a:schemeClr val="tx1"/>
                </a:solidFill>
              </a:rPr>
              <a:t>Over 80% moved by 2024, exceeding the 70% target.</a:t>
            </a:r>
            <a:r>
              <a:rPr lang="en-US" sz="1100" baseline="30000" dirty="0">
                <a:solidFill>
                  <a:schemeClr val="tx1"/>
                </a:solidFill>
              </a:rPr>
              <a:t>5</a:t>
            </a:r>
            <a:endParaRPr lang="en-US" sz="1100" dirty="0"/>
          </a:p>
          <a:p>
            <a:pPr marL="165100" indent="-165100">
              <a:spcAft>
                <a:spcPts val="500"/>
              </a:spcAft>
              <a:buSzPct val="100000"/>
              <a:buChar char="•"/>
            </a:pPr>
            <a:r>
              <a:rPr lang="en-US" sz="1100" dirty="0">
                <a:solidFill>
                  <a:schemeClr val="tx1"/>
                </a:solidFill>
              </a:rPr>
              <a:t>More than 150 systems moved, including IRIN, the main tax system.</a:t>
            </a:r>
            <a:r>
              <a:rPr lang="en-US" sz="1100" baseline="30000" dirty="0">
                <a:solidFill>
                  <a:schemeClr val="tx1"/>
                </a:solidFill>
              </a:rPr>
              <a:t>4</a:t>
            </a:r>
            <a:endParaRPr lang="en-US" sz="1100" dirty="0"/>
          </a:p>
          <a:p>
            <a:pPr marL="165100" indent="-165100">
              <a:spcAft>
                <a:spcPts val="500"/>
              </a:spcAft>
              <a:buSzPct val="100000"/>
              <a:buChar char="•"/>
            </a:pPr>
            <a:r>
              <a:rPr lang="en-US" sz="1100" dirty="0">
                <a:solidFill>
                  <a:schemeClr val="tx1"/>
                </a:solidFill>
              </a:rPr>
              <a:t>Average savings of 30–40% per system moved, GovTech reports.</a:t>
            </a:r>
            <a:r>
              <a:rPr lang="en-US" sz="1100" baseline="30000" dirty="0">
                <a:solidFill>
                  <a:schemeClr val="tx1"/>
                </a:solidFill>
              </a:rPr>
              <a:t>3</a:t>
            </a:r>
            <a:endParaRPr lang="en-US" sz="1100" dirty="0"/>
          </a:p>
          <a:p>
            <a:pPr marL="165100" indent="-165100">
              <a:spcAft>
                <a:spcPts val="500"/>
              </a:spcAft>
              <a:buSzPct val="100000"/>
              <a:buChar char="•"/>
            </a:pPr>
            <a:r>
              <a:rPr lang="en-US" sz="1100" dirty="0">
                <a:solidFill>
                  <a:schemeClr val="tx1"/>
                </a:solidFill>
              </a:rPr>
              <a:t>GovTech says IT became more agile and resilient, with 99.5% platform uptime.</a:t>
            </a:r>
            <a:r>
              <a:rPr lang="en-US" sz="1100" baseline="30000" dirty="0">
                <a:solidFill>
                  <a:schemeClr val="tx1"/>
                </a:solidFill>
              </a:rPr>
              <a:t>2,3</a:t>
            </a:r>
            <a:endParaRPr lang="en-US" sz="1100" dirty="0"/>
          </a:p>
        </p:txBody>
      </p:sp>
      <p:sp>
        <p:nvSpPr>
          <p:cNvPr id="22" name="bad-panel"/>
          <p:cNvSpPr/>
          <p:nvPr/>
        </p:nvSpPr>
        <p:spPr>
          <a:xfrm>
            <a:off x="8988552" y="2194560"/>
            <a:ext cx="2651760" cy="3456432"/>
          </a:xfrm>
          <a:prstGeom prst="rect">
            <a:avLst/>
          </a:prstGeom>
          <a:solidFill>
            <a:srgbClr val="FBEDEA"/>
          </a:solidFill>
          <a:ln w="12700">
            <a:solidFill>
              <a:srgbClr val="FBEDEA"/>
            </a:solidFill>
            <a:prstDash val="solid"/>
          </a:ln>
        </p:spPr>
      </p:sp>
      <p:sp>
        <p:nvSpPr>
          <p:cNvPr id="23" name="col-head-3"/>
          <p:cNvSpPr txBox="1"/>
          <p:nvPr/>
        </p:nvSpPr>
        <p:spPr>
          <a:xfrm>
            <a:off x="9098280" y="2267712"/>
            <a:ext cx="2432304" cy="292608"/>
          </a:xfrm>
          <a:prstGeom prst="rect">
            <a:avLst/>
          </a:prstGeom>
          <a:noFill/>
          <a:ln/>
        </p:spPr>
        <p:txBody>
          <a:bodyPr wrap="square" lIns="0" tIns="0" rIns="0" bIns="0" rtlCol="0" anchor="t"/>
          <a:lstStyle/>
          <a:p>
            <a:pPr indent="0" marL="0">
              <a:buNone/>
            </a:pPr>
            <a:r>
              <a:rPr lang="en-US" sz="1500" b="1" dirty="0">
                <a:solidFill>
                  <a:schemeClr val="accent2"/>
                </a:solidFill>
                <a:latin typeface="Cambria" pitchFamily="34" charset="0"/>
                <a:ea typeface="Cambria" pitchFamily="34" charset="-122"/>
                <a:cs typeface="Cambria" pitchFamily="34" charset="-120"/>
              </a:rPr>
              <a:t>Challenges and setbacks</a:t>
            </a:r>
            <a:endParaRPr lang="en-US" sz="1500" dirty="0"/>
          </a:p>
        </p:txBody>
      </p:sp>
      <p:sp>
        <p:nvSpPr>
          <p:cNvPr id="24" name="col-body-3"/>
          <p:cNvSpPr txBox="1"/>
          <p:nvPr/>
        </p:nvSpPr>
        <p:spPr>
          <a:xfrm>
            <a:off x="9098280" y="2615184"/>
            <a:ext cx="2432304"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High cost: more than S$200M spent from 2018 to mid-2022 on cloud infrastructure and skills.</a:t>
            </a:r>
            <a:r>
              <a:rPr lang="en-US" sz="1100" baseline="30000" dirty="0">
                <a:solidFill>
                  <a:schemeClr val="tx1"/>
                </a:solidFill>
              </a:rPr>
              <a:t>3</a:t>
            </a:r>
            <a:endParaRPr lang="en-US" sz="1100" dirty="0"/>
          </a:p>
          <a:p>
            <a:pPr marL="165100" indent="-165100">
              <a:spcAft>
                <a:spcPts val="500"/>
              </a:spcAft>
              <a:buSzPct val="100000"/>
              <a:buChar char="•"/>
            </a:pPr>
            <a:r>
              <a:rPr lang="en-US" sz="1100" dirty="0">
                <a:solidFill>
                  <a:schemeClr val="tx1"/>
                </a:solidFill>
              </a:rPr>
              <a:t>Over S$870M of contracts reserved in a single year to double the systems on cloud.</a:t>
            </a:r>
            <a:r>
              <a:rPr lang="en-US" sz="1100" baseline="30000" dirty="0">
                <a:solidFill>
                  <a:schemeClr val="tx1"/>
                </a:solidFill>
              </a:rPr>
              <a:t>4</a:t>
            </a:r>
            <a:endParaRPr lang="en-US" sz="1100" dirty="0"/>
          </a:p>
          <a:p>
            <a:pPr marL="165100" indent="-165100">
              <a:spcAft>
                <a:spcPts val="500"/>
              </a:spcAft>
              <a:buSzPct val="100000"/>
              <a:buChar char="•"/>
            </a:pPr>
            <a:r>
              <a:rPr lang="en-US" sz="1100" dirty="0">
                <a:solidFill>
                  <a:schemeClr val="tx1"/>
                </a:solidFill>
              </a:rPr>
              <a:t>Larger systems could be too challenging to migrate.</a:t>
            </a:r>
            <a:r>
              <a:rPr lang="en-US" sz="1100" baseline="30000" dirty="0">
                <a:solidFill>
                  <a:schemeClr val="tx1"/>
                </a:solidFill>
              </a:rPr>
              <a:t>5</a:t>
            </a:r>
            <a:endParaRPr lang="en-US" sz="1100" dirty="0"/>
          </a:p>
          <a:p>
            <a:pPr marL="165100" indent="-165100">
              <a:spcAft>
                <a:spcPts val="500"/>
              </a:spcAft>
              <a:buSzPct val="100000"/>
              <a:buChar char="•"/>
            </a:pPr>
            <a:r>
              <a:rPr lang="en-US" sz="1100" dirty="0">
                <a:solidFill>
                  <a:schemeClr val="tx1"/>
                </a:solidFill>
              </a:rPr>
              <a:t>The target covers only "eligible" systems; sensitive systems had to wait for GCC+ in 2023.</a:t>
            </a:r>
            <a:r>
              <a:rPr lang="en-US" sz="1100" baseline="30000" dirty="0">
                <a:solidFill>
                  <a:schemeClr val="tx1"/>
                </a:solidFill>
              </a:rPr>
              <a:t>1,5</a:t>
            </a:r>
            <a:endParaRPr lang="en-US" sz="1100" dirty="0"/>
          </a:p>
          <a:p>
            <a:pPr marL="165100" indent="-165100">
              <a:spcAft>
                <a:spcPts val="500"/>
              </a:spcAft>
              <a:buSzPct val="100000"/>
              <a:buChar char="•"/>
            </a:pPr>
            <a:r>
              <a:rPr lang="en-US" sz="1100" dirty="0">
                <a:solidFill>
                  <a:schemeClr val="tx1"/>
                </a:solidFill>
              </a:rPr>
              <a:t>Some systems were moved unchanged ("lift and shift").</a:t>
            </a:r>
            <a:r>
              <a:rPr lang="en-US" sz="1100" baseline="30000" dirty="0">
                <a:solidFill>
                  <a:schemeClr val="tx1"/>
                </a:solidFill>
              </a:rPr>
              <a:t>5</a:t>
            </a:r>
            <a:endParaRPr lang="en-US" sz="1100" dirty="0"/>
          </a:p>
          <a:p>
            <a:pPr marL="165100" indent="-165100">
              <a:spcAft>
                <a:spcPts val="500"/>
              </a:spcAft>
              <a:buSzPct val="100000"/>
              <a:buChar char="•"/>
            </a:pPr>
            <a:r>
              <a:rPr lang="en-US" sz="1100" dirty="0">
                <a:solidFill>
                  <a:schemeClr val="tx1"/>
                </a:solidFill>
              </a:rPr>
              <a:t>No independent audit: every figure is GovTech's own.*</a:t>
            </a:r>
            <a:endParaRPr lang="en-US" sz="1100" dirty="0"/>
          </a:p>
        </p:txBody>
      </p:sp>
      <p:sp>
        <p:nvSpPr>
          <p:cNvPr id="25" name="verdict-band"/>
          <p:cNvSpPr/>
          <p:nvPr/>
        </p:nvSpPr>
        <p:spPr>
          <a:xfrm>
            <a:off x="548640" y="5779008"/>
            <a:ext cx="11091672" cy="548640"/>
          </a:xfrm>
          <a:prstGeom prst="rect">
            <a:avLst/>
          </a:prstGeom>
          <a:solidFill>
            <a:schemeClr val="tx2"/>
          </a:solidFill>
          <a:ln w="12700">
            <a:solidFill>
              <a:schemeClr val="tx2"/>
            </a:solidFill>
            <a:prstDash val="solid"/>
          </a:ln>
        </p:spPr>
      </p:sp>
      <p:sp>
        <p:nvSpPr>
          <p:cNvPr id="26" name="verdict-text"/>
          <p:cNvSpPr txBox="1"/>
          <p:nvPr/>
        </p:nvSpPr>
        <p:spPr>
          <a:xfrm>
            <a:off x="731520" y="5779008"/>
            <a:ext cx="10789920" cy="548640"/>
          </a:xfrm>
          <a:prstGeom prst="rect">
            <a:avLst/>
          </a:prstGeom>
          <a:noFill/>
          <a:ln/>
        </p:spPr>
        <p:txBody>
          <a:bodyPr wrap="square" lIns="0" tIns="0" rIns="0" bIns="0" rtlCol="0" anchor="ctr"/>
          <a:lstStyle/>
          <a:p>
            <a:pPr indent="0" marL="0">
              <a:buNone/>
            </a:pPr>
            <a:r>
              <a:rPr lang="en-US" sz="1300" b="1" dirty="0">
                <a:solidFill>
                  <a:schemeClr val="bg1"/>
                </a:solidFill>
              </a:rPr>
              <a:t>Verdict: </a:t>
            </a:r>
            <a:r>
              <a:rPr lang="en-US" sz="1300" b="1" dirty="0">
                <a:solidFill>
                  <a:schemeClr val="bg1"/>
                </a:solidFill>
              </a:rPr>
              <a:t>Positive (self-reported).*</a:t>
            </a:r>
            <a:r>
              <a:rPr lang="en-US" sz="1300" dirty="0">
                <a:solidFill>
                  <a:schemeClr val="bg1"/>
                </a:solidFill>
              </a:rPr>
              <a:t> A central platform, a clear target and constant tracking let Singapore beat its goal,</a:t>
            </a:r>
            <a:r>
              <a:rPr lang="en-US" sz="1300" baseline="30000" dirty="0">
                <a:solidFill>
                  <a:schemeClr val="bg1"/>
                </a:solidFill>
              </a:rPr>
              <a:t>2,5</a:t>
            </a:r>
            <a:r>
              <a:rPr lang="en-US" sz="1300" dirty="0">
                <a:solidFill>
                  <a:schemeClr val="bg1"/>
                </a:solidFill>
              </a:rPr>
              <a:t> but the savings and progress figures are the government's own and unaudited.*</a:t>
            </a:r>
            <a:endParaRPr lang="en-US" sz="1300" dirty="0"/>
          </a:p>
        </p:txBody>
      </p:sp>
      <p:sp>
        <p:nvSpPr>
          <p:cNvPr id="25" name="Slide Number Placeholder 0"/>
          <p:cNvSpPr>
            <a:spLocks noGrp="1"/>
          </p:cNvSpPr>
          <p:nvPr>
            <p:ph type="sldNum" sz="quarter" idx="4294967295"/>
          </p:nvPr>
        </p:nvSpPr>
        <p:spPr>
          <a:xfrm>
            <a:off x="11155680"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New Zealand: uptake "uneven and lower than expected"</a:t>
            </a:r>
            <a:r>
              <a:rPr lang="en-US" sz="3400" b="1" baseline="30000" dirty="0">
                <a:solidFill>
                  <a:schemeClr val="tx2"/>
                </a:solidFill>
                <a:latin typeface="Cambria" pitchFamily="34" charset="0"/>
                <a:ea typeface="Cambria" pitchFamily="34" charset="-122"/>
                <a:cs typeface="Cambria" pitchFamily="34" charset="-120"/>
              </a:rPr>
              <a:t>7</a:t>
            </a:r>
            <a:endParaRPr lang="en-US" sz="3400" dirty="0"/>
          </a:p>
        </p:txBody>
      </p:sp>
      <p:pic>
        <p:nvPicPr>
          <p:cNvPr id="3" name="flag-nz-0.60" descr="Flag of New Zealand">    </p:cNvPr>
          <p:cNvPicPr>
            <a:picLocks noChangeAspect="1"/>
          </p:cNvPicPr>
          <p:nvPr/>
        </p:nvPicPr>
        <p:blipFill>
          <a:blip r:embed="rId1"/>
          <a:stretch>
            <a:fillRect/>
          </a:stretch>
        </p:blipFill>
        <p:spPr>
          <a:xfrm>
            <a:off x="548640" y="987552"/>
            <a:ext cx="274320" cy="274320"/>
          </a:xfrm>
          <a:prstGeom prst="rect">
            <a:avLst/>
          </a:prstGeom>
        </p:spPr>
      </p:pic>
      <p:sp>
        <p:nvSpPr>
          <p:cNvPr id="4" name="flag-ring-nz-0.60"/>
          <p:cNvSpPr/>
          <p:nvPr/>
        </p:nvSpPr>
        <p:spPr>
          <a:xfrm>
            <a:off x="548640" y="987552"/>
            <a:ext cx="274320" cy="274320"/>
          </a:xfrm>
          <a:prstGeom prst="ellipse">
            <a:avLst/>
          </a:prstGeom>
          <a:noFill/>
          <a:ln w="9525">
            <a:solidFill>
              <a:srgbClr val="C9CDD3"/>
            </a:solidFill>
            <a:prstDash val="solid"/>
          </a:ln>
        </p:spPr>
      </p:sp>
      <p:sp>
        <p:nvSpPr>
          <p:cNvPr id="5" name="case-meta"/>
          <p:cNvSpPr txBox="1"/>
          <p:nvPr/>
        </p:nvSpPr>
        <p:spPr>
          <a:xfrm>
            <a:off x="932688" y="978408"/>
            <a:ext cx="8138160" cy="292608"/>
          </a:xfrm>
          <a:prstGeom prst="rect">
            <a:avLst/>
          </a:prstGeom>
          <a:noFill/>
          <a:ln/>
        </p:spPr>
        <p:txBody>
          <a:bodyPr wrap="square" lIns="0" tIns="0" rIns="0" bIns="0" rtlCol="0" anchor="ctr"/>
          <a:lstStyle/>
          <a:p>
            <a:pPr indent="0" marL="0">
              <a:buNone/>
            </a:pPr>
            <a:r>
              <a:rPr lang="en-US" sz="1200" dirty="0">
                <a:solidFill>
                  <a:schemeClr val="accent5"/>
                </a:solidFill>
              </a:rPr>
              <a:t>New Zealand  ·  2012–2023  ·  NZ-based and global cloud providers</a:t>
            </a:r>
            <a:r>
              <a:rPr lang="en-US" sz="1200" baseline="30000" dirty="0">
                <a:solidFill>
                  <a:schemeClr val="accent5"/>
                </a:solidFill>
              </a:rPr>
              <a:t>7</a:t>
            </a:r>
            <a:r>
              <a:rPr lang="en-US" sz="1200" dirty="0">
                <a:solidFill>
                  <a:schemeClr val="accent5"/>
                </a:solidFill>
              </a:rPr>
              <a:t>  ·  Partial move</a:t>
            </a:r>
            <a:r>
              <a:rPr lang="en-US" sz="1200" baseline="30000" dirty="0">
                <a:solidFill>
                  <a:schemeClr val="accent5"/>
                </a:solidFill>
              </a:rPr>
              <a:t>7</a:t>
            </a:r>
            <a:endParaRPr lang="en-US" sz="1200" dirty="0"/>
          </a:p>
        </p:txBody>
      </p:sp>
      <p:sp>
        <p:nvSpPr>
          <p:cNvPr id="6" name="case-evidence"/>
          <p:cNvSpPr txBox="1"/>
          <p:nvPr/>
        </p:nvSpPr>
        <p:spPr>
          <a:xfrm>
            <a:off x="9052560" y="978408"/>
            <a:ext cx="2587752" cy="292608"/>
          </a:xfrm>
          <a:prstGeom prst="rect">
            <a:avLst/>
          </a:prstGeom>
          <a:noFill/>
          <a:ln/>
        </p:spPr>
        <p:txBody>
          <a:bodyPr wrap="square" lIns="0" tIns="0" rIns="0" bIns="0" rtlCol="0" anchor="ctr"/>
          <a:lstStyle/>
          <a:p>
            <a:pPr algn="r" indent="0" marL="0">
              <a:buNone/>
            </a:pPr>
            <a:r>
              <a:rPr lang="en-US" sz="1200" b="1" dirty="0">
                <a:solidFill>
                  <a:schemeClr val="tx2"/>
                </a:solidFill>
              </a:rPr>
              <a:t>Evidence: </a:t>
            </a:r>
            <a:r>
              <a:rPr lang="en-US" sz="1200" dirty="0">
                <a:solidFill>
                  <a:schemeClr val="tx2"/>
                </a:solidFill>
              </a:rPr>
              <a:t>Government and auditor</a:t>
            </a:r>
            <a:endParaRPr lang="en-US" sz="1200" dirty="0"/>
          </a:p>
        </p:txBody>
      </p:sp>
      <p:sp>
        <p:nvSpPr>
          <p:cNvPr id="7" name="stat-card-0"/>
          <p:cNvSpPr/>
          <p:nvPr/>
        </p:nvSpPr>
        <p:spPr>
          <a:xfrm>
            <a:off x="548640" y="1389888"/>
            <a:ext cx="3593592" cy="713232"/>
          </a:xfrm>
          <a:prstGeom prst="rect">
            <a:avLst/>
          </a:prstGeom>
          <a:solidFill>
            <a:schemeClr val="bg2"/>
          </a:solidFill>
          <a:ln w="12700">
            <a:solidFill>
              <a:schemeClr val="bg2"/>
            </a:solidFill>
            <a:prstDash val="solid"/>
          </a:ln>
        </p:spPr>
      </p:sp>
      <p:sp>
        <p:nvSpPr>
          <p:cNvPr id="8" name="stat-value-0"/>
          <p:cNvSpPr txBox="1"/>
          <p:nvPr/>
        </p:nvSpPr>
        <p:spPr>
          <a:xfrm>
            <a:off x="731520" y="1399032"/>
            <a:ext cx="1645920" cy="694944"/>
          </a:xfrm>
          <a:prstGeom prst="rect">
            <a:avLst/>
          </a:prstGeom>
          <a:noFill/>
          <a:ln/>
        </p:spPr>
        <p:txBody>
          <a:bodyPr wrap="square" lIns="0" tIns="0" rIns="0" bIns="0" rtlCol="0" anchor="ctr">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32.5%</a:t>
            </a:r>
            <a:endParaRPr lang="en-US" sz="2600" dirty="0"/>
          </a:p>
        </p:txBody>
      </p:sp>
      <p:sp>
        <p:nvSpPr>
          <p:cNvPr id="9" name="stat-label-0"/>
          <p:cNvSpPr txBox="1"/>
          <p:nvPr/>
        </p:nvSpPr>
        <p:spPr>
          <a:xfrm>
            <a:off x="2423160" y="1399032"/>
            <a:ext cx="1600200" cy="694944"/>
          </a:xfrm>
          <a:prstGeom prst="rect">
            <a:avLst/>
          </a:prstGeom>
          <a:noFill/>
          <a:ln/>
        </p:spPr>
        <p:txBody>
          <a:bodyPr wrap="square" lIns="0" tIns="0" rIns="0" bIns="0" rtlCol="0" anchor="ctr"/>
          <a:lstStyle/>
          <a:p>
            <a:pPr indent="0" marL="0">
              <a:buNone/>
            </a:pPr>
            <a:r>
              <a:rPr lang="en-US" sz="1100" dirty="0">
                <a:solidFill>
                  <a:schemeClr val="tx1"/>
                </a:solidFill>
              </a:rPr>
              <a:t>of public service systems in the cloud in 2022, only 13.3% by value</a:t>
            </a:r>
            <a:r>
              <a:rPr lang="en-US" sz="1100" baseline="30000" dirty="0">
                <a:solidFill>
                  <a:schemeClr val="tx1"/>
                </a:solidFill>
              </a:rPr>
              <a:t>7</a:t>
            </a:r>
            <a:endParaRPr lang="en-US" sz="1100" dirty="0"/>
          </a:p>
        </p:txBody>
      </p:sp>
      <p:sp>
        <p:nvSpPr>
          <p:cNvPr id="10" name="stat-card-1"/>
          <p:cNvSpPr/>
          <p:nvPr/>
        </p:nvSpPr>
        <p:spPr>
          <a:xfrm>
            <a:off x="4297680" y="1389888"/>
            <a:ext cx="3593592" cy="713232"/>
          </a:xfrm>
          <a:prstGeom prst="rect">
            <a:avLst/>
          </a:prstGeom>
          <a:solidFill>
            <a:schemeClr val="bg2"/>
          </a:solidFill>
          <a:ln w="12700">
            <a:solidFill>
              <a:schemeClr val="bg2"/>
            </a:solidFill>
            <a:prstDash val="solid"/>
          </a:ln>
        </p:spPr>
      </p:sp>
      <p:sp>
        <p:nvSpPr>
          <p:cNvPr id="11" name="stat-value-1"/>
          <p:cNvSpPr txBox="1"/>
          <p:nvPr/>
        </p:nvSpPr>
        <p:spPr>
          <a:xfrm>
            <a:off x="4480560" y="1399032"/>
            <a:ext cx="1645920" cy="694944"/>
          </a:xfrm>
          <a:prstGeom prst="rect">
            <a:avLst/>
          </a:prstGeom>
          <a:noFill/>
          <a:ln/>
        </p:spPr>
        <p:txBody>
          <a:bodyPr wrap="square" lIns="0" tIns="0" rIns="0" bIns="0" rtlCol="0" anchor="ctr">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~¼</a:t>
            </a:r>
            <a:endParaRPr lang="en-US" sz="2600" dirty="0"/>
          </a:p>
        </p:txBody>
      </p:sp>
      <p:sp>
        <p:nvSpPr>
          <p:cNvPr id="12" name="stat-label-1"/>
          <p:cNvSpPr txBox="1"/>
          <p:nvPr/>
        </p:nvSpPr>
        <p:spPr>
          <a:xfrm>
            <a:off x="6172200" y="1399032"/>
            <a:ext cx="1600200" cy="694944"/>
          </a:xfrm>
          <a:prstGeom prst="rect">
            <a:avLst/>
          </a:prstGeom>
          <a:noFill/>
          <a:ln/>
        </p:spPr>
        <p:txBody>
          <a:bodyPr wrap="square" lIns="0" tIns="0" rIns="0" bIns="0" rtlCol="0" anchor="ctr"/>
          <a:lstStyle/>
          <a:p>
            <a:pPr indent="0" marL="0">
              <a:buNone/>
            </a:pPr>
            <a:r>
              <a:rPr lang="en-US" sz="1100" dirty="0">
                <a:solidFill>
                  <a:schemeClr val="tx1"/>
                </a:solidFill>
              </a:rPr>
              <a:t>of eligible bodies were using the shared IaaS service in 2018</a:t>
            </a:r>
            <a:r>
              <a:rPr lang="en-US" sz="1100" baseline="30000" dirty="0">
                <a:solidFill>
                  <a:schemeClr val="tx1"/>
                </a:solidFill>
              </a:rPr>
              <a:t>8</a:t>
            </a:r>
            <a:endParaRPr lang="en-US" sz="1100" dirty="0"/>
          </a:p>
        </p:txBody>
      </p:sp>
      <p:sp>
        <p:nvSpPr>
          <p:cNvPr id="13" name="stat-card-2"/>
          <p:cNvSpPr/>
          <p:nvPr/>
        </p:nvSpPr>
        <p:spPr>
          <a:xfrm>
            <a:off x="8046720" y="1389888"/>
            <a:ext cx="3593592" cy="713232"/>
          </a:xfrm>
          <a:prstGeom prst="rect">
            <a:avLst/>
          </a:prstGeom>
          <a:solidFill>
            <a:schemeClr val="bg2"/>
          </a:solidFill>
          <a:ln w="12700">
            <a:solidFill>
              <a:schemeClr val="bg2"/>
            </a:solidFill>
            <a:prstDash val="solid"/>
          </a:ln>
        </p:spPr>
      </p:sp>
      <p:sp>
        <p:nvSpPr>
          <p:cNvPr id="14" name="stat-value-2"/>
          <p:cNvSpPr txBox="1"/>
          <p:nvPr/>
        </p:nvSpPr>
        <p:spPr>
          <a:xfrm>
            <a:off x="8229600" y="1399032"/>
            <a:ext cx="1645920" cy="694944"/>
          </a:xfrm>
          <a:prstGeom prst="rect">
            <a:avLst/>
          </a:prstGeom>
          <a:noFill/>
          <a:ln/>
        </p:spPr>
        <p:txBody>
          <a:bodyPr wrap="square" lIns="0" tIns="0" rIns="0" bIns="0" rtlCol="0" anchor="ctr">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NZ$1.2B</a:t>
            </a:r>
            <a:endParaRPr lang="en-US" sz="2600" dirty="0"/>
          </a:p>
        </p:txBody>
      </p:sp>
      <p:sp>
        <p:nvSpPr>
          <p:cNvPr id="15" name="stat-label-2"/>
          <p:cNvSpPr txBox="1"/>
          <p:nvPr/>
        </p:nvSpPr>
        <p:spPr>
          <a:xfrm>
            <a:off x="9921240" y="1399032"/>
            <a:ext cx="1600200" cy="694944"/>
          </a:xfrm>
          <a:prstGeom prst="rect">
            <a:avLst/>
          </a:prstGeom>
          <a:noFill/>
          <a:ln/>
        </p:spPr>
        <p:txBody>
          <a:bodyPr wrap="square" lIns="0" tIns="0" rIns="0" bIns="0" rtlCol="0" anchor="ctr"/>
          <a:lstStyle/>
          <a:p>
            <a:pPr indent="0" marL="0">
              <a:buNone/>
            </a:pPr>
            <a:r>
              <a:rPr lang="en-US" sz="1100" dirty="0">
                <a:solidFill>
                  <a:schemeClr val="tx1"/>
                </a:solidFill>
              </a:rPr>
              <a:t>spent on cloud since 2017, not counting migration costs</a:t>
            </a:r>
            <a:r>
              <a:rPr lang="en-US" sz="1100" baseline="30000" dirty="0">
                <a:solidFill>
                  <a:schemeClr val="tx1"/>
                </a:solidFill>
              </a:rPr>
              <a:t>10</a:t>
            </a:r>
            <a:endParaRPr lang="en-US" sz="1100" dirty="0"/>
          </a:p>
        </p:txBody>
      </p:sp>
      <p:sp>
        <p:nvSpPr>
          <p:cNvPr id="16" name="col-head-0"/>
          <p:cNvSpPr txBox="1"/>
          <p:nvPr/>
        </p:nvSpPr>
        <p:spPr>
          <a:xfrm>
            <a:off x="548640" y="2267712"/>
            <a:ext cx="2651760" cy="292608"/>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Why they moved</a:t>
            </a:r>
            <a:endParaRPr lang="en-US" sz="1500" dirty="0"/>
          </a:p>
        </p:txBody>
      </p:sp>
      <p:sp>
        <p:nvSpPr>
          <p:cNvPr id="17" name="col-body-0"/>
          <p:cNvSpPr txBox="1"/>
          <p:nvPr/>
        </p:nvSpPr>
        <p:spPr>
          <a:xfrm>
            <a:off x="548640" y="2615184"/>
            <a:ext cx="2651760"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Cloud can provide improved security, flexibility, resilience, insights and innovation, the Cabinet paper says.</a:t>
            </a:r>
            <a:r>
              <a:rPr lang="en-US" sz="1100" baseline="30000" dirty="0">
                <a:solidFill>
                  <a:schemeClr val="tx1"/>
                </a:solidFill>
              </a:rPr>
              <a:t>7</a:t>
            </a:r>
            <a:endParaRPr lang="en-US" sz="1100" dirty="0"/>
          </a:p>
          <a:p>
            <a:pPr marL="165100" indent="-165100">
              <a:spcAft>
                <a:spcPts val="500"/>
              </a:spcAft>
              <a:buSzPct val="100000"/>
              <a:buChar char="•"/>
            </a:pPr>
            <a:r>
              <a:rPr lang="en-US" sz="1100" dirty="0">
                <a:solidFill>
                  <a:schemeClr val="tx1"/>
                </a:solidFill>
              </a:rPr>
              <a:t>Legacy on-premises systems can present challenges to security, continuity, resilience and cost-effectiveness.</a:t>
            </a:r>
            <a:r>
              <a:rPr lang="en-US" sz="1100" baseline="30000" dirty="0">
                <a:solidFill>
                  <a:schemeClr val="tx1"/>
                </a:solidFill>
              </a:rPr>
              <a:t>7</a:t>
            </a:r>
            <a:endParaRPr lang="en-US" sz="1100" dirty="0"/>
          </a:p>
          <a:p>
            <a:pPr marL="165100" indent="-165100">
              <a:spcAft>
                <a:spcPts val="500"/>
              </a:spcAft>
              <a:buSzPct val="100000"/>
              <a:buChar char="•"/>
            </a:pPr>
            <a:r>
              <a:rPr lang="en-US" sz="1100" dirty="0">
                <a:solidFill>
                  <a:schemeClr val="tx1"/>
                </a:solidFill>
              </a:rPr>
              <a:t>More than 27% of systems were over 10 years old in 2022.</a:t>
            </a:r>
            <a:r>
              <a:rPr lang="en-US" sz="1100" baseline="30000" dirty="0">
                <a:solidFill>
                  <a:schemeClr val="tx1"/>
                </a:solidFill>
              </a:rPr>
              <a:t>7</a:t>
            </a:r>
            <a:endParaRPr lang="en-US" sz="1100" dirty="0"/>
          </a:p>
        </p:txBody>
      </p:sp>
      <p:sp>
        <p:nvSpPr>
          <p:cNvPr id="18" name="col-head-1"/>
          <p:cNvSpPr txBox="1"/>
          <p:nvPr/>
        </p:nvSpPr>
        <p:spPr>
          <a:xfrm>
            <a:off x="3361944" y="2267712"/>
            <a:ext cx="2651760" cy="292608"/>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What they did</a:t>
            </a:r>
            <a:endParaRPr lang="en-US" sz="1500" dirty="0"/>
          </a:p>
        </p:txBody>
      </p:sp>
      <p:sp>
        <p:nvSpPr>
          <p:cNvPr id="19" name="col-body-1"/>
          <p:cNvSpPr txBox="1"/>
          <p:nvPr/>
        </p:nvSpPr>
        <p:spPr>
          <a:xfrm>
            <a:off x="3361944" y="2615184"/>
            <a:ext cx="2651760"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August 2012: Cabinet agreed an all-of-government "cloud first" approach.</a:t>
            </a:r>
            <a:r>
              <a:rPr lang="en-US" sz="1100" baseline="30000" dirty="0">
                <a:solidFill>
                  <a:schemeClr val="tx1"/>
                </a:solidFill>
              </a:rPr>
              <a:t>7</a:t>
            </a:r>
            <a:endParaRPr lang="en-US" sz="1100" dirty="0"/>
          </a:p>
          <a:p>
            <a:pPr marL="165100" indent="-165100">
              <a:spcAft>
                <a:spcPts val="500"/>
              </a:spcAft>
              <a:buSzPct val="100000"/>
              <a:buChar char="•"/>
            </a:pPr>
            <a:r>
              <a:rPr lang="en-US" sz="1100" dirty="0">
                <a:solidFill>
                  <a:schemeClr val="tx1"/>
                </a:solidFill>
              </a:rPr>
              <a:t>From 2012/13: agencies bought virtual servers, storage and backup as a service instead of their own equipment.</a:t>
            </a:r>
            <a:r>
              <a:rPr lang="en-US" sz="1100" baseline="30000" dirty="0">
                <a:solidFill>
                  <a:schemeClr val="tx1"/>
                </a:solidFill>
              </a:rPr>
              <a:t>8</a:t>
            </a:r>
            <a:endParaRPr lang="en-US" sz="1100" dirty="0"/>
          </a:p>
          <a:p>
            <a:pPr marL="165100" indent="-165100">
              <a:spcAft>
                <a:spcPts val="500"/>
              </a:spcAft>
              <a:buSzPct val="100000"/>
              <a:buChar char="•"/>
            </a:pPr>
            <a:r>
              <a:rPr lang="en-US" sz="1100" dirty="0">
                <a:solidFill>
                  <a:schemeClr val="tx1"/>
                </a:solidFill>
              </a:rPr>
              <a:t>Framework agreements with providers then made cloud easier to buy.</a:t>
            </a:r>
            <a:r>
              <a:rPr lang="en-US" sz="1100" baseline="30000" dirty="0">
                <a:solidFill>
                  <a:schemeClr val="tx1"/>
                </a:solidFill>
              </a:rPr>
              <a:t>9</a:t>
            </a:r>
            <a:endParaRPr lang="en-US" sz="1100" dirty="0"/>
          </a:p>
          <a:p>
            <a:pPr marL="165100" indent="-165100">
              <a:spcAft>
                <a:spcPts val="500"/>
              </a:spcAft>
              <a:buSzPct val="100000"/>
              <a:buChar char="•"/>
            </a:pPr>
            <a:r>
              <a:rPr lang="en-US" sz="1100" dirty="0">
                <a:solidFill>
                  <a:schemeClr val="tx1"/>
                </a:solidFill>
              </a:rPr>
              <a:t>April 2023: no new on-premises investment unless criteria are met or the GCDO approves.</a:t>
            </a:r>
            <a:r>
              <a:rPr lang="en-US" sz="1100" baseline="30000" dirty="0">
                <a:solidFill>
                  <a:schemeClr val="tx1"/>
                </a:solidFill>
              </a:rPr>
              <a:t>7</a:t>
            </a:r>
            <a:endParaRPr lang="en-US" sz="1100" dirty="0"/>
          </a:p>
        </p:txBody>
      </p:sp>
      <p:sp>
        <p:nvSpPr>
          <p:cNvPr id="20" name="col-head-2"/>
          <p:cNvSpPr txBox="1"/>
          <p:nvPr/>
        </p:nvSpPr>
        <p:spPr>
          <a:xfrm>
            <a:off x="6175248" y="2267712"/>
            <a:ext cx="2651760" cy="292608"/>
          </a:xfrm>
          <a:prstGeom prst="rect">
            <a:avLst/>
          </a:prstGeom>
          <a:noFill/>
          <a:ln/>
        </p:spPr>
        <p:txBody>
          <a:bodyPr wrap="square" lIns="0" tIns="0" rIns="0" bIns="0" rtlCol="0" anchor="t"/>
          <a:lstStyle/>
          <a:p>
            <a:pPr indent="0" marL="0">
              <a:buNone/>
            </a:pPr>
            <a:r>
              <a:rPr lang="en-US" sz="1500" b="1" dirty="0">
                <a:solidFill>
                  <a:schemeClr val="accent3"/>
                </a:solidFill>
                <a:latin typeface="Cambria" pitchFamily="34" charset="0"/>
                <a:ea typeface="Cambria" pitchFamily="34" charset="-122"/>
                <a:cs typeface="Cambria" pitchFamily="34" charset="-120"/>
              </a:rPr>
              <a:t>What went well</a:t>
            </a:r>
            <a:endParaRPr lang="en-US" sz="1500" dirty="0"/>
          </a:p>
        </p:txBody>
      </p:sp>
      <p:sp>
        <p:nvSpPr>
          <p:cNvPr id="21" name="col-body-2"/>
          <p:cNvSpPr txBox="1"/>
          <p:nvPr/>
        </p:nvSpPr>
        <p:spPr>
          <a:xfrm>
            <a:off x="6175248" y="2615184"/>
            <a:ext cx="2651760"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Agencies using shared IaaS found it worthwhile and meeting expectations.</a:t>
            </a:r>
            <a:r>
              <a:rPr lang="en-US" sz="1100" baseline="30000" dirty="0">
                <a:solidFill>
                  <a:schemeClr val="tx1"/>
                </a:solidFill>
              </a:rPr>
              <a:t>8</a:t>
            </a:r>
            <a:endParaRPr lang="en-US" sz="1100" dirty="0"/>
          </a:p>
          <a:p>
            <a:pPr marL="165100" indent="-165100">
              <a:spcAft>
                <a:spcPts val="500"/>
              </a:spcAft>
              <a:buSzPct val="100000"/>
              <a:buChar char="•"/>
            </a:pPr>
            <a:r>
              <a:rPr lang="en-US" sz="1100" dirty="0">
                <a:solidFill>
                  <a:schemeClr val="tx1"/>
                </a:solidFill>
              </a:rPr>
              <a:t>127 agencies used it by 2023.</a:t>
            </a:r>
            <a:r>
              <a:rPr lang="en-US" sz="1100" baseline="30000" dirty="0">
                <a:solidFill>
                  <a:schemeClr val="tx1"/>
                </a:solidFill>
              </a:rPr>
              <a:t>9</a:t>
            </a:r>
            <a:endParaRPr lang="en-US" sz="1100" dirty="0"/>
          </a:p>
          <a:p>
            <a:pPr marL="165100" indent="-165100">
              <a:spcAft>
                <a:spcPts val="500"/>
              </a:spcAft>
              <a:buSzPct val="100000"/>
              <a:buChar char="•"/>
            </a:pPr>
            <a:r>
              <a:rPr lang="en-US" sz="1100" dirty="0">
                <a:solidFill>
                  <a:schemeClr val="tx1"/>
                </a:solidFill>
              </a:rPr>
              <a:t>Joint buying secured discounts of 5–40% for 195 agencies.</a:t>
            </a:r>
            <a:r>
              <a:rPr lang="en-US" sz="1100" baseline="30000" dirty="0">
                <a:solidFill>
                  <a:schemeClr val="tx1"/>
                </a:solidFill>
              </a:rPr>
              <a:t>10</a:t>
            </a:r>
            <a:endParaRPr lang="en-US" sz="1100" dirty="0"/>
          </a:p>
          <a:p>
            <a:pPr marL="165100" indent="-165100">
              <a:spcAft>
                <a:spcPts val="500"/>
              </a:spcAft>
              <a:buSzPct val="100000"/>
              <a:buChar char="•"/>
            </a:pPr>
            <a:r>
              <a:rPr lang="en-US" sz="1100" dirty="0">
                <a:solidFill>
                  <a:schemeClr val="tx1"/>
                </a:solidFill>
              </a:rPr>
              <a:t>2020 lockdown: all 6,000 Oranga Tamariki staff worked from home from day one.</a:t>
            </a:r>
            <a:r>
              <a:rPr lang="en-US" sz="1100" baseline="30000" dirty="0">
                <a:solidFill>
                  <a:schemeClr val="tx1"/>
                </a:solidFill>
              </a:rPr>
              <a:t>7</a:t>
            </a:r>
            <a:endParaRPr lang="en-US" sz="1100" dirty="0"/>
          </a:p>
          <a:p>
            <a:pPr marL="165100" indent="-165100">
              <a:spcAft>
                <a:spcPts val="500"/>
              </a:spcAft>
              <a:buSzPct val="100000"/>
              <a:buChar char="•"/>
            </a:pPr>
            <a:r>
              <a:rPr lang="en-US" sz="1100" dirty="0">
                <a:solidFill>
                  <a:schemeClr val="tx1"/>
                </a:solidFill>
              </a:rPr>
              <a:t>Its cloud contact centre scaled overnight from 250 to 800–1,000 users, then back down.</a:t>
            </a:r>
            <a:r>
              <a:rPr lang="en-US" sz="1100" baseline="30000" dirty="0">
                <a:solidFill>
                  <a:schemeClr val="tx1"/>
                </a:solidFill>
              </a:rPr>
              <a:t>7</a:t>
            </a:r>
            <a:endParaRPr lang="en-US" sz="1100" dirty="0"/>
          </a:p>
        </p:txBody>
      </p:sp>
      <p:sp>
        <p:nvSpPr>
          <p:cNvPr id="22" name="bad-panel"/>
          <p:cNvSpPr/>
          <p:nvPr/>
        </p:nvSpPr>
        <p:spPr>
          <a:xfrm>
            <a:off x="8988552" y="2194560"/>
            <a:ext cx="2651760" cy="3456432"/>
          </a:xfrm>
          <a:prstGeom prst="rect">
            <a:avLst/>
          </a:prstGeom>
          <a:solidFill>
            <a:srgbClr val="FBEDEA"/>
          </a:solidFill>
          <a:ln w="12700">
            <a:solidFill>
              <a:srgbClr val="FBEDEA"/>
            </a:solidFill>
            <a:prstDash val="solid"/>
          </a:ln>
        </p:spPr>
      </p:sp>
      <p:sp>
        <p:nvSpPr>
          <p:cNvPr id="23" name="col-head-3"/>
          <p:cNvSpPr txBox="1"/>
          <p:nvPr/>
        </p:nvSpPr>
        <p:spPr>
          <a:xfrm>
            <a:off x="9098280" y="2267712"/>
            <a:ext cx="2432304" cy="292608"/>
          </a:xfrm>
          <a:prstGeom prst="rect">
            <a:avLst/>
          </a:prstGeom>
          <a:noFill/>
          <a:ln/>
        </p:spPr>
        <p:txBody>
          <a:bodyPr wrap="square" lIns="0" tIns="0" rIns="0" bIns="0" rtlCol="0" anchor="t"/>
          <a:lstStyle/>
          <a:p>
            <a:pPr indent="0" marL="0">
              <a:buNone/>
            </a:pPr>
            <a:r>
              <a:rPr lang="en-US" sz="1500" b="1" dirty="0">
                <a:solidFill>
                  <a:schemeClr val="accent2"/>
                </a:solidFill>
                <a:latin typeface="Cambria" pitchFamily="34" charset="0"/>
                <a:ea typeface="Cambria" pitchFamily="34" charset="-122"/>
                <a:cs typeface="Cambria" pitchFamily="34" charset="-120"/>
              </a:rPr>
              <a:t>Challenges and setbacks</a:t>
            </a:r>
            <a:endParaRPr lang="en-US" sz="1500" dirty="0"/>
          </a:p>
        </p:txBody>
      </p:sp>
      <p:sp>
        <p:nvSpPr>
          <p:cNvPr id="24" name="col-body-3"/>
          <p:cNvSpPr txBox="1"/>
          <p:nvPr/>
        </p:nvSpPr>
        <p:spPr>
          <a:xfrm>
            <a:off x="9098280" y="2615184"/>
            <a:ext cx="2432304"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Uptake stayed uneven and lower than expected; policy alone would not change this.</a:t>
            </a:r>
            <a:r>
              <a:rPr lang="en-US" sz="1100" baseline="30000" dirty="0">
                <a:solidFill>
                  <a:schemeClr val="tx1"/>
                </a:solidFill>
              </a:rPr>
              <a:t>7</a:t>
            </a:r>
            <a:endParaRPr lang="en-US" sz="1100" dirty="0"/>
          </a:p>
          <a:p>
            <a:pPr marL="165100" indent="-165100">
              <a:spcAft>
                <a:spcPts val="500"/>
              </a:spcAft>
              <a:buSzPct val="100000"/>
              <a:buChar char="•"/>
            </a:pPr>
            <a:r>
              <a:rPr lang="en-US" sz="1100" dirty="0">
                <a:solidFill>
                  <a:schemeClr val="tx1"/>
                </a:solidFill>
              </a:rPr>
              <a:t>Skills: a lack of capacity and capability led to inertia or inefficient "lift and shift" moves.</a:t>
            </a:r>
            <a:r>
              <a:rPr lang="en-US" sz="1100" baseline="30000" dirty="0">
                <a:solidFill>
                  <a:schemeClr val="tx1"/>
                </a:solidFill>
              </a:rPr>
              <a:t>7</a:t>
            </a:r>
            <a:endParaRPr lang="en-US" sz="1100" dirty="0"/>
          </a:p>
          <a:p>
            <a:pPr marL="165100" indent="-165100">
              <a:spcAft>
                <a:spcPts val="500"/>
              </a:spcAft>
              <a:buSzPct val="100000"/>
              <a:buChar char="•"/>
            </a:pPr>
            <a:r>
              <a:rPr lang="en-US" sz="1100" dirty="0">
                <a:solidFill>
                  <a:schemeClr val="tx1"/>
                </a:solidFill>
              </a:rPr>
              <a:t>Paying twice: running old and new systems in parallel strained budgets.</a:t>
            </a:r>
            <a:r>
              <a:rPr lang="en-US" sz="1100" baseline="30000" dirty="0">
                <a:solidFill>
                  <a:schemeClr val="tx1"/>
                </a:solidFill>
              </a:rPr>
              <a:t>7</a:t>
            </a:r>
            <a:endParaRPr lang="en-US" sz="1100" dirty="0"/>
          </a:p>
          <a:p>
            <a:pPr marL="165100" indent="-165100">
              <a:spcAft>
                <a:spcPts val="500"/>
              </a:spcAft>
              <a:buSzPct val="100000"/>
              <a:buChar char="•"/>
            </a:pPr>
            <a:r>
              <a:rPr lang="en-US" sz="1100" dirty="0">
                <a:solidFill>
                  <a:schemeClr val="tx1"/>
                </a:solidFill>
              </a:rPr>
              <a:t>Funding: capital-based IT budgets slowed the move to pay-as-you-go.</a:t>
            </a:r>
            <a:r>
              <a:rPr lang="en-US" sz="1100" baseline="30000" dirty="0">
                <a:solidFill>
                  <a:schemeClr val="tx1"/>
                </a:solidFill>
              </a:rPr>
              <a:t>7</a:t>
            </a:r>
            <a:endParaRPr lang="en-US" sz="1100" dirty="0"/>
          </a:p>
          <a:p>
            <a:pPr marL="165100" indent="-165100">
              <a:spcAft>
                <a:spcPts val="500"/>
              </a:spcAft>
              <a:buSzPct val="100000"/>
              <a:buChar char="•"/>
            </a:pPr>
            <a:r>
              <a:rPr lang="en-US" sz="1100" dirty="0">
                <a:solidFill>
                  <a:schemeClr val="tx1"/>
                </a:solidFill>
              </a:rPr>
              <a:t>Unclear understanding of cloud and the policy, and perceived security risks.</a:t>
            </a:r>
            <a:r>
              <a:rPr lang="en-US" sz="1100" baseline="30000" dirty="0">
                <a:solidFill>
                  <a:schemeClr val="tx1"/>
                </a:solidFill>
              </a:rPr>
              <a:t>7</a:t>
            </a:r>
            <a:endParaRPr lang="en-US" sz="1100" dirty="0"/>
          </a:p>
          <a:p>
            <a:pPr marL="165100" indent="-165100">
              <a:spcAft>
                <a:spcPts val="500"/>
              </a:spcAft>
              <a:buSzPct val="100000"/>
              <a:buChar char="•"/>
            </a:pPr>
            <a:r>
              <a:rPr lang="en-US" sz="1100" dirty="0">
                <a:solidFill>
                  <a:schemeClr val="tx1"/>
                </a:solidFill>
              </a:rPr>
              <a:t>Benefits were not all measured,</a:t>
            </a:r>
            <a:r>
              <a:rPr lang="en-US" sz="1100" baseline="30000" dirty="0">
                <a:solidFill>
                  <a:schemeClr val="tx1"/>
                </a:solidFill>
              </a:rPr>
              <a:t>8</a:t>
            </a:r>
            <a:r>
              <a:rPr lang="en-US" sz="1100" dirty="0">
                <a:solidFill>
                  <a:schemeClr val="tx1"/>
                </a:solidFill>
              </a:rPr>
              <a:t> and cloud pricing was seen as costly and complex.</a:t>
            </a:r>
            <a:r>
              <a:rPr lang="en-US" sz="1100" baseline="30000" dirty="0">
                <a:solidFill>
                  <a:schemeClr val="tx1"/>
                </a:solidFill>
              </a:rPr>
              <a:t>10</a:t>
            </a:r>
            <a:endParaRPr lang="en-US" sz="1100" dirty="0"/>
          </a:p>
        </p:txBody>
      </p:sp>
      <p:sp>
        <p:nvSpPr>
          <p:cNvPr id="25" name="verdict-band"/>
          <p:cNvSpPr/>
          <p:nvPr/>
        </p:nvSpPr>
        <p:spPr>
          <a:xfrm>
            <a:off x="548640" y="5779008"/>
            <a:ext cx="11091672" cy="548640"/>
          </a:xfrm>
          <a:prstGeom prst="rect">
            <a:avLst/>
          </a:prstGeom>
          <a:solidFill>
            <a:schemeClr val="tx2"/>
          </a:solidFill>
          <a:ln w="12700">
            <a:solidFill>
              <a:schemeClr val="tx2"/>
            </a:solidFill>
            <a:prstDash val="solid"/>
          </a:ln>
        </p:spPr>
      </p:sp>
      <p:sp>
        <p:nvSpPr>
          <p:cNvPr id="26" name="verdict-text"/>
          <p:cNvSpPr txBox="1"/>
          <p:nvPr/>
        </p:nvSpPr>
        <p:spPr>
          <a:xfrm>
            <a:off x="731520" y="5779008"/>
            <a:ext cx="10789920" cy="548640"/>
          </a:xfrm>
          <a:prstGeom prst="rect">
            <a:avLst/>
          </a:prstGeom>
          <a:noFill/>
          <a:ln/>
        </p:spPr>
        <p:txBody>
          <a:bodyPr wrap="square" lIns="0" tIns="0" rIns="0" bIns="0" rtlCol="0" anchor="ctr"/>
          <a:lstStyle/>
          <a:p>
            <a:pPr indent="0" marL="0">
              <a:buNone/>
            </a:pPr>
            <a:r>
              <a:rPr lang="en-US" sz="1300" b="1" dirty="0">
                <a:solidFill>
                  <a:schemeClr val="bg1"/>
                </a:solidFill>
              </a:rPr>
              <a:t>Verdict: </a:t>
            </a:r>
            <a:r>
              <a:rPr lang="en-US" sz="1300" b="1" dirty="0">
                <a:solidFill>
                  <a:schemeClr val="bg1"/>
                </a:solidFill>
              </a:rPr>
              <a:t>Mixed.*</a:t>
            </a:r>
            <a:r>
              <a:rPr lang="en-US" sz="1300" dirty="0">
                <a:solidFill>
                  <a:schemeClr val="bg1"/>
                </a:solidFill>
              </a:rPr>
              <a:t> Agencies that used the cloud saw real benefits,</a:t>
            </a:r>
            <a:r>
              <a:rPr lang="en-US" sz="1300" baseline="30000" dirty="0">
                <a:solidFill>
                  <a:schemeClr val="bg1"/>
                </a:solidFill>
              </a:rPr>
              <a:t>7,8</a:t>
            </a:r>
            <a:r>
              <a:rPr lang="en-US" sz="1300" dirty="0">
                <a:solidFill>
                  <a:schemeClr val="bg1"/>
                </a:solidFill>
              </a:rPr>
              <a:t> but uptake a decade on was low and uneven, and policy alone did not produce a migration.</a:t>
            </a:r>
            <a:r>
              <a:rPr lang="en-US" sz="1300" baseline="30000" dirty="0">
                <a:solidFill>
                  <a:schemeClr val="bg1"/>
                </a:solidFill>
              </a:rPr>
              <a:t>7</a:t>
            </a:r>
            <a:endParaRPr lang="en-US" sz="1300" dirty="0"/>
          </a:p>
        </p:txBody>
      </p:sp>
      <p:sp>
        <p:nvSpPr>
          <p:cNvPr id="25" name="Slide Number Placeholder 0"/>
          <p:cNvSpPr>
            <a:spLocks noGrp="1"/>
          </p:cNvSpPr>
          <p:nvPr>
            <p:ph type="sldNum" sz="quarter" idx="4294967295"/>
          </p:nvPr>
        </p:nvSpPr>
        <p:spPr>
          <a:xfrm>
            <a:off x="11155680"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US federal agencies: service up, savings unknown</a:t>
            </a:r>
            <a:endParaRPr lang="en-US" sz="3400" dirty="0"/>
          </a:p>
        </p:txBody>
      </p:sp>
      <p:pic>
        <p:nvPicPr>
          <p:cNvPr id="3" name="flag-us-0.60" descr="Flag of the United States">    </p:cNvPr>
          <p:cNvPicPr>
            <a:picLocks noChangeAspect="1"/>
          </p:cNvPicPr>
          <p:nvPr/>
        </p:nvPicPr>
        <p:blipFill>
          <a:blip r:embed="rId1"/>
          <a:stretch>
            <a:fillRect/>
          </a:stretch>
        </p:blipFill>
        <p:spPr>
          <a:xfrm>
            <a:off x="548640" y="987552"/>
            <a:ext cx="274320" cy="274320"/>
          </a:xfrm>
          <a:prstGeom prst="rect">
            <a:avLst/>
          </a:prstGeom>
        </p:spPr>
      </p:pic>
      <p:sp>
        <p:nvSpPr>
          <p:cNvPr id="4" name="flag-ring-us-0.60"/>
          <p:cNvSpPr/>
          <p:nvPr/>
        </p:nvSpPr>
        <p:spPr>
          <a:xfrm>
            <a:off x="548640" y="987552"/>
            <a:ext cx="274320" cy="274320"/>
          </a:xfrm>
          <a:prstGeom prst="ellipse">
            <a:avLst/>
          </a:prstGeom>
          <a:noFill/>
          <a:ln w="9525">
            <a:solidFill>
              <a:srgbClr val="C9CDD3"/>
            </a:solidFill>
            <a:prstDash val="solid"/>
          </a:ln>
        </p:spPr>
      </p:sp>
      <p:sp>
        <p:nvSpPr>
          <p:cNvPr id="5" name="case-meta"/>
          <p:cNvSpPr txBox="1"/>
          <p:nvPr/>
        </p:nvSpPr>
        <p:spPr>
          <a:xfrm>
            <a:off x="932688" y="978408"/>
            <a:ext cx="8138160" cy="292608"/>
          </a:xfrm>
          <a:prstGeom prst="rect">
            <a:avLst/>
          </a:prstGeom>
          <a:noFill/>
          <a:ln/>
        </p:spPr>
        <p:txBody>
          <a:bodyPr wrap="square" lIns="0" tIns="0" rIns="0" bIns="0" rtlCol="0" anchor="ctr"/>
          <a:lstStyle/>
          <a:p>
            <a:pPr indent="0" marL="0">
              <a:buNone/>
            </a:pPr>
            <a:r>
              <a:rPr lang="en-US" sz="1200" dirty="0">
                <a:solidFill>
                  <a:schemeClr val="accent5"/>
                </a:solidFill>
              </a:rPr>
              <a:t>United States  ·  2011–2019  ·  Providers not named by the GAO</a:t>
            </a:r>
            <a:r>
              <a:rPr lang="en-US" sz="1200" baseline="30000" dirty="0">
                <a:solidFill>
                  <a:schemeClr val="accent5"/>
                </a:solidFill>
              </a:rPr>
              <a:t>11</a:t>
            </a:r>
            <a:r>
              <a:rPr lang="en-US" sz="1200" dirty="0">
                <a:solidFill>
                  <a:schemeClr val="accent5"/>
                </a:solidFill>
              </a:rPr>
              <a:t>  ·  Partial move, 16 agencies reviewed</a:t>
            </a:r>
            <a:r>
              <a:rPr lang="en-US" sz="1200" baseline="30000" dirty="0">
                <a:solidFill>
                  <a:schemeClr val="accent5"/>
                </a:solidFill>
              </a:rPr>
              <a:t>11</a:t>
            </a:r>
            <a:endParaRPr lang="en-US" sz="1200" dirty="0"/>
          </a:p>
        </p:txBody>
      </p:sp>
      <p:sp>
        <p:nvSpPr>
          <p:cNvPr id="6" name="case-evidence"/>
          <p:cNvSpPr txBox="1"/>
          <p:nvPr/>
        </p:nvSpPr>
        <p:spPr>
          <a:xfrm>
            <a:off x="9052560" y="978408"/>
            <a:ext cx="2587752" cy="292608"/>
          </a:xfrm>
          <a:prstGeom prst="rect">
            <a:avLst/>
          </a:prstGeom>
          <a:noFill/>
          <a:ln/>
        </p:spPr>
        <p:txBody>
          <a:bodyPr wrap="square" lIns="0" tIns="0" rIns="0" bIns="0" rtlCol="0" anchor="ctr"/>
          <a:lstStyle/>
          <a:p>
            <a:pPr algn="r" indent="0" marL="0">
              <a:buNone/>
            </a:pPr>
            <a:r>
              <a:rPr lang="en-US" sz="1200" b="1" dirty="0">
                <a:solidFill>
                  <a:schemeClr val="tx2"/>
                </a:solidFill>
              </a:rPr>
              <a:t>Evidence: </a:t>
            </a:r>
            <a:r>
              <a:rPr lang="en-US" sz="1200" dirty="0">
                <a:solidFill>
                  <a:schemeClr val="tx2"/>
                </a:solidFill>
              </a:rPr>
              <a:t>Audit (GAO, 2019)</a:t>
            </a:r>
            <a:endParaRPr lang="en-US" sz="1200" dirty="0"/>
          </a:p>
        </p:txBody>
      </p:sp>
      <p:sp>
        <p:nvSpPr>
          <p:cNvPr id="7" name="stat-card-0"/>
          <p:cNvSpPr/>
          <p:nvPr/>
        </p:nvSpPr>
        <p:spPr>
          <a:xfrm>
            <a:off x="548640" y="1389888"/>
            <a:ext cx="3593592" cy="713232"/>
          </a:xfrm>
          <a:prstGeom prst="rect">
            <a:avLst/>
          </a:prstGeom>
          <a:solidFill>
            <a:schemeClr val="bg2"/>
          </a:solidFill>
          <a:ln w="12700">
            <a:solidFill>
              <a:schemeClr val="bg2"/>
            </a:solidFill>
            <a:prstDash val="solid"/>
          </a:ln>
        </p:spPr>
      </p:sp>
      <p:sp>
        <p:nvSpPr>
          <p:cNvPr id="8" name="stat-value-0"/>
          <p:cNvSpPr txBox="1"/>
          <p:nvPr/>
        </p:nvSpPr>
        <p:spPr>
          <a:xfrm>
            <a:off x="731520" y="1399032"/>
            <a:ext cx="1645920" cy="694944"/>
          </a:xfrm>
          <a:prstGeom prst="rect">
            <a:avLst/>
          </a:prstGeom>
          <a:noFill/>
          <a:ln/>
        </p:spPr>
        <p:txBody>
          <a:bodyPr wrap="square" lIns="0" tIns="0" rIns="0" bIns="0" rtlCol="0" anchor="ctr">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$291M</a:t>
            </a:r>
            <a:endParaRPr lang="en-US" sz="2600" dirty="0"/>
          </a:p>
        </p:txBody>
      </p:sp>
      <p:sp>
        <p:nvSpPr>
          <p:cNvPr id="9" name="stat-label-0"/>
          <p:cNvSpPr txBox="1"/>
          <p:nvPr/>
        </p:nvSpPr>
        <p:spPr>
          <a:xfrm>
            <a:off x="2423160" y="1399032"/>
            <a:ext cx="1600200" cy="694944"/>
          </a:xfrm>
          <a:prstGeom prst="rect">
            <a:avLst/>
          </a:prstGeom>
          <a:noFill/>
          <a:ln/>
        </p:spPr>
        <p:txBody>
          <a:bodyPr wrap="square" lIns="0" tIns="0" rIns="0" bIns="0" rtlCol="0" anchor="ctr"/>
          <a:lstStyle/>
          <a:p>
            <a:pPr indent="0" marL="0">
              <a:buNone/>
            </a:pPr>
            <a:r>
              <a:rPr lang="en-US" sz="1100" dirty="0">
                <a:solidFill>
                  <a:schemeClr val="tx1"/>
                </a:solidFill>
              </a:rPr>
              <a:t>savings reported since 2014 by 13 of the 16 agencies</a:t>
            </a:r>
            <a:r>
              <a:rPr lang="en-US" sz="1100" baseline="30000" dirty="0">
                <a:solidFill>
                  <a:schemeClr val="tx1"/>
                </a:solidFill>
              </a:rPr>
              <a:t>11</a:t>
            </a:r>
            <a:endParaRPr lang="en-US" sz="1100" dirty="0"/>
          </a:p>
        </p:txBody>
      </p:sp>
      <p:sp>
        <p:nvSpPr>
          <p:cNvPr id="10" name="stat-card-1"/>
          <p:cNvSpPr/>
          <p:nvPr/>
        </p:nvSpPr>
        <p:spPr>
          <a:xfrm>
            <a:off x="4297680" y="1389888"/>
            <a:ext cx="3593592" cy="713232"/>
          </a:xfrm>
          <a:prstGeom prst="rect">
            <a:avLst/>
          </a:prstGeom>
          <a:solidFill>
            <a:schemeClr val="bg2"/>
          </a:solidFill>
          <a:ln w="12700">
            <a:solidFill>
              <a:schemeClr val="bg2"/>
            </a:solidFill>
            <a:prstDash val="solid"/>
          </a:ln>
        </p:spPr>
      </p:sp>
      <p:sp>
        <p:nvSpPr>
          <p:cNvPr id="11" name="stat-value-1"/>
          <p:cNvSpPr txBox="1"/>
          <p:nvPr/>
        </p:nvSpPr>
        <p:spPr>
          <a:xfrm>
            <a:off x="4480560" y="1399032"/>
            <a:ext cx="1645920" cy="694944"/>
          </a:xfrm>
          <a:prstGeom prst="rect">
            <a:avLst/>
          </a:prstGeom>
          <a:noFill/>
          <a:ln/>
        </p:spPr>
        <p:txBody>
          <a:bodyPr wrap="square" lIns="0" tIns="0" rIns="0" bIns="0" rtlCol="0" anchor="ctr">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84%</a:t>
            </a:r>
            <a:endParaRPr lang="en-US" sz="2600" dirty="0"/>
          </a:p>
        </p:txBody>
      </p:sp>
      <p:sp>
        <p:nvSpPr>
          <p:cNvPr id="12" name="stat-label-1"/>
          <p:cNvSpPr txBox="1"/>
          <p:nvPr/>
        </p:nvSpPr>
        <p:spPr>
          <a:xfrm>
            <a:off x="6172200" y="1399032"/>
            <a:ext cx="1600200" cy="694944"/>
          </a:xfrm>
          <a:prstGeom prst="rect">
            <a:avLst/>
          </a:prstGeom>
          <a:noFill/>
          <a:ln/>
        </p:spPr>
        <p:txBody>
          <a:bodyPr wrap="square" lIns="0" tIns="0" rIns="0" bIns="0" rtlCol="0" anchor="ctr"/>
          <a:lstStyle/>
          <a:p>
            <a:pPr indent="0" marL="0">
              <a:buNone/>
            </a:pPr>
            <a:r>
              <a:rPr lang="en-US" sz="1100" dirty="0">
                <a:solidFill>
                  <a:schemeClr val="tx1"/>
                </a:solidFill>
              </a:rPr>
              <a:t>of cloud investments (411 of 488) had no savings data</a:t>
            </a:r>
            <a:r>
              <a:rPr lang="en-US" sz="1100" baseline="30000" dirty="0">
                <a:solidFill>
                  <a:schemeClr val="tx1"/>
                </a:solidFill>
              </a:rPr>
              <a:t>11</a:t>
            </a:r>
            <a:endParaRPr lang="en-US" sz="1100" dirty="0"/>
          </a:p>
        </p:txBody>
      </p:sp>
      <p:sp>
        <p:nvSpPr>
          <p:cNvPr id="13" name="stat-card-2"/>
          <p:cNvSpPr/>
          <p:nvPr/>
        </p:nvSpPr>
        <p:spPr>
          <a:xfrm>
            <a:off x="8046720" y="1389888"/>
            <a:ext cx="3593592" cy="713232"/>
          </a:xfrm>
          <a:prstGeom prst="rect">
            <a:avLst/>
          </a:prstGeom>
          <a:solidFill>
            <a:schemeClr val="bg2"/>
          </a:solidFill>
          <a:ln w="12700">
            <a:solidFill>
              <a:schemeClr val="bg2"/>
            </a:solidFill>
            <a:prstDash val="solid"/>
          </a:ln>
        </p:spPr>
      </p:sp>
      <p:sp>
        <p:nvSpPr>
          <p:cNvPr id="14" name="stat-value-2"/>
          <p:cNvSpPr txBox="1"/>
          <p:nvPr/>
        </p:nvSpPr>
        <p:spPr>
          <a:xfrm>
            <a:off x="8229600" y="1399032"/>
            <a:ext cx="1645920" cy="694944"/>
          </a:xfrm>
          <a:prstGeom prst="rect">
            <a:avLst/>
          </a:prstGeom>
          <a:noFill/>
          <a:ln/>
        </p:spPr>
        <p:txBody>
          <a:bodyPr wrap="square" lIns="0" tIns="0" rIns="0" bIns="0" rtlCol="0" anchor="ctr">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11%</a:t>
            </a:r>
            <a:endParaRPr lang="en-US" sz="2600" dirty="0"/>
          </a:p>
        </p:txBody>
      </p:sp>
      <p:sp>
        <p:nvSpPr>
          <p:cNvPr id="15" name="stat-label-2"/>
          <p:cNvSpPr txBox="1"/>
          <p:nvPr/>
        </p:nvSpPr>
        <p:spPr>
          <a:xfrm>
            <a:off x="9921240" y="1399032"/>
            <a:ext cx="1600200" cy="694944"/>
          </a:xfrm>
          <a:prstGeom prst="rect">
            <a:avLst/>
          </a:prstGeom>
          <a:noFill/>
          <a:ln/>
        </p:spPr>
        <p:txBody>
          <a:bodyPr wrap="square" lIns="0" tIns="0" rIns="0" bIns="0" rtlCol="0" anchor="ctr"/>
          <a:lstStyle/>
          <a:p>
            <a:pPr indent="0" marL="0">
              <a:buNone/>
            </a:pPr>
            <a:r>
              <a:rPr lang="en-US" sz="1100" dirty="0">
                <a:solidFill>
                  <a:schemeClr val="tx1"/>
                </a:solidFill>
              </a:rPr>
              <a:t>of 6,157 IT investments projected to use cloud in FY2019</a:t>
            </a:r>
            <a:r>
              <a:rPr lang="en-US" sz="1100" baseline="30000" dirty="0">
                <a:solidFill>
                  <a:schemeClr val="tx1"/>
                </a:solidFill>
              </a:rPr>
              <a:t>11</a:t>
            </a:r>
            <a:endParaRPr lang="en-US" sz="1100" dirty="0"/>
          </a:p>
        </p:txBody>
      </p:sp>
      <p:sp>
        <p:nvSpPr>
          <p:cNvPr id="16" name="col-head-0"/>
          <p:cNvSpPr txBox="1"/>
          <p:nvPr/>
        </p:nvSpPr>
        <p:spPr>
          <a:xfrm>
            <a:off x="548640" y="2267712"/>
            <a:ext cx="2651760" cy="292608"/>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Why they moved</a:t>
            </a:r>
            <a:endParaRPr lang="en-US" sz="1500" dirty="0"/>
          </a:p>
        </p:txBody>
      </p:sp>
      <p:sp>
        <p:nvSpPr>
          <p:cNvPr id="17" name="col-body-0"/>
          <p:cNvSpPr txBox="1"/>
          <p:nvPr/>
        </p:nvSpPr>
        <p:spPr>
          <a:xfrm>
            <a:off x="548640" y="2615184"/>
            <a:ext cx="2651760"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The government spends about $90B a year on IT, about 75% of it on operating and maintaining existing systems.</a:t>
            </a:r>
            <a:r>
              <a:rPr lang="en-US" sz="1100" baseline="30000" dirty="0">
                <a:solidFill>
                  <a:schemeClr val="tx1"/>
                </a:solidFill>
              </a:rPr>
              <a:t>11</a:t>
            </a:r>
            <a:endParaRPr lang="en-US" sz="1100" dirty="0"/>
          </a:p>
          <a:p>
            <a:pPr marL="165100" indent="-165100">
              <a:spcAft>
                <a:spcPts val="500"/>
              </a:spcAft>
              <a:buSzPct val="100000"/>
              <a:buChar char="•"/>
            </a:pPr>
            <a:r>
              <a:rPr lang="en-US" sz="1100" dirty="0">
                <a:solidFill>
                  <a:schemeClr val="tx1"/>
                </a:solidFill>
              </a:rPr>
              <a:t>GAO: reliance on custom-built systems has become costly to maintain.</a:t>
            </a:r>
            <a:r>
              <a:rPr lang="en-US" sz="1100" baseline="30000" dirty="0">
                <a:solidFill>
                  <a:schemeClr val="tx1"/>
                </a:solidFill>
              </a:rPr>
              <a:t>11</a:t>
            </a:r>
            <a:endParaRPr lang="en-US" sz="1100" dirty="0"/>
          </a:p>
          <a:p>
            <a:pPr marL="165100" indent="-165100">
              <a:spcAft>
                <a:spcPts val="500"/>
              </a:spcAft>
              <a:buSzPct val="100000"/>
              <a:buChar char="•"/>
            </a:pPr>
            <a:r>
              <a:rPr lang="en-US" sz="1100" dirty="0">
                <a:solidFill>
                  <a:schemeClr val="tx1"/>
                </a:solidFill>
              </a:rPr>
              <a:t>GAO: federal IT investments have often failed or run over cost and schedule, contributing little to missions.</a:t>
            </a:r>
            <a:r>
              <a:rPr lang="en-US" sz="1100" baseline="30000" dirty="0">
                <a:solidFill>
                  <a:schemeClr val="tx1"/>
                </a:solidFill>
              </a:rPr>
              <a:t>11</a:t>
            </a:r>
            <a:endParaRPr lang="en-US" sz="1100" dirty="0"/>
          </a:p>
          <a:p>
            <a:pPr marL="165100" indent="-165100">
              <a:spcAft>
                <a:spcPts val="500"/>
              </a:spcAft>
              <a:buSzPct val="100000"/>
              <a:buChar char="•"/>
            </a:pPr>
            <a:r>
              <a:rPr lang="en-US" sz="1100" dirty="0">
                <a:solidFill>
                  <a:schemeClr val="tx1"/>
                </a:solidFill>
              </a:rPr>
              <a:t>GAO: billions of dollars were spent on failed and poorly performing IT.</a:t>
            </a:r>
            <a:r>
              <a:rPr lang="en-US" sz="1100" baseline="30000" dirty="0">
                <a:solidFill>
                  <a:schemeClr val="tx1"/>
                </a:solidFill>
              </a:rPr>
              <a:t>11</a:t>
            </a:r>
            <a:endParaRPr lang="en-US" sz="1100" dirty="0"/>
          </a:p>
          <a:p>
            <a:pPr marL="165100" indent="-165100">
              <a:spcAft>
                <a:spcPts val="500"/>
              </a:spcAft>
              <a:buSzPct val="100000"/>
              <a:buChar char="•"/>
            </a:pPr>
            <a:r>
              <a:rPr lang="en-US" sz="1100" dirty="0">
                <a:solidFill>
                  <a:schemeClr val="tx1"/>
                </a:solidFill>
              </a:rPr>
              <a:t>GAO: cloud gets computing faster and cheaper than maintaining your own computers.</a:t>
            </a:r>
            <a:r>
              <a:rPr lang="en-US" sz="1100" baseline="30000" dirty="0">
                <a:solidFill>
                  <a:schemeClr val="tx1"/>
                </a:solidFill>
              </a:rPr>
              <a:t>11</a:t>
            </a:r>
            <a:endParaRPr lang="en-US" sz="1100" dirty="0"/>
          </a:p>
        </p:txBody>
      </p:sp>
      <p:sp>
        <p:nvSpPr>
          <p:cNvPr id="18" name="col-head-1"/>
          <p:cNvSpPr txBox="1"/>
          <p:nvPr/>
        </p:nvSpPr>
        <p:spPr>
          <a:xfrm>
            <a:off x="3361944" y="2267712"/>
            <a:ext cx="2651760" cy="292608"/>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What they did</a:t>
            </a:r>
            <a:endParaRPr lang="en-US" sz="1500" dirty="0"/>
          </a:p>
        </p:txBody>
      </p:sp>
      <p:sp>
        <p:nvSpPr>
          <p:cNvPr id="19" name="col-body-1"/>
          <p:cNvSpPr txBox="1"/>
          <p:nvPr/>
        </p:nvSpPr>
        <p:spPr>
          <a:xfrm>
            <a:off x="3361944" y="2615184"/>
            <a:ext cx="2651760"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Who: 16 agencies, including Defense, Education, Energy, Homeland Security, Labor, State, Treasury and Veterans Affairs.</a:t>
            </a:r>
            <a:r>
              <a:rPr lang="en-US" sz="1100" baseline="30000" dirty="0">
                <a:solidFill>
                  <a:schemeClr val="tx1"/>
                </a:solidFill>
              </a:rPr>
              <a:t>11</a:t>
            </a:r>
            <a:endParaRPr lang="en-US" sz="1100" dirty="0"/>
          </a:p>
          <a:p>
            <a:pPr marL="165100" indent="-165100">
              <a:spcAft>
                <a:spcPts val="500"/>
              </a:spcAft>
              <a:buSzPct val="100000"/>
              <a:buChar char="•"/>
            </a:pPr>
            <a:r>
              <a:rPr lang="en-US" sz="1100" dirty="0">
                <a:solidFill>
                  <a:schemeClr val="tx1"/>
                </a:solidFill>
              </a:rPr>
              <a:t>2011: Cloud First policy, plus FedRAMP security approval.</a:t>
            </a:r>
            <a:r>
              <a:rPr lang="en-US" sz="1100" baseline="30000" dirty="0">
                <a:solidFill>
                  <a:schemeClr val="tx1"/>
                </a:solidFill>
              </a:rPr>
              <a:t>11</a:t>
            </a:r>
            <a:endParaRPr lang="en-US" sz="1100" dirty="0"/>
          </a:p>
          <a:p>
            <a:pPr marL="165100" indent="-165100">
              <a:spcAft>
                <a:spcPts val="500"/>
              </a:spcAft>
              <a:buSzPct val="100000"/>
              <a:buChar char="•"/>
            </a:pPr>
            <a:r>
              <a:rPr lang="en-US" sz="1100" dirty="0">
                <a:solidFill>
                  <a:schemeClr val="tx1"/>
                </a:solidFill>
              </a:rPr>
              <a:t>2012: every IT investment to be assessed for cloud.</a:t>
            </a:r>
            <a:r>
              <a:rPr lang="en-US" sz="1100" baseline="30000" dirty="0">
                <a:solidFill>
                  <a:schemeClr val="tx1"/>
                </a:solidFill>
              </a:rPr>
              <a:t>11</a:t>
            </a:r>
            <a:endParaRPr lang="en-US" sz="1100" dirty="0"/>
          </a:p>
          <a:p>
            <a:pPr marL="165100" indent="-165100">
              <a:spcAft>
                <a:spcPts val="500"/>
              </a:spcAft>
              <a:buSzPct val="100000"/>
              <a:buChar char="•"/>
            </a:pPr>
            <a:r>
              <a:rPr lang="en-US" sz="1100" dirty="0">
                <a:solidFill>
                  <a:schemeClr val="tx1"/>
                </a:solidFill>
              </a:rPr>
              <a:t>Moved email, websites, analytics, weather data and data-centre workloads.</a:t>
            </a:r>
            <a:r>
              <a:rPr lang="en-US" sz="1100" baseline="30000" dirty="0">
                <a:solidFill>
                  <a:schemeClr val="tx1"/>
                </a:solidFill>
              </a:rPr>
              <a:t>11</a:t>
            </a:r>
            <a:endParaRPr lang="en-US" sz="1100" dirty="0"/>
          </a:p>
          <a:p>
            <a:pPr marL="165100" indent="-165100">
              <a:spcAft>
                <a:spcPts val="500"/>
              </a:spcAft>
              <a:buSzPct val="100000"/>
              <a:buChar char="•"/>
            </a:pPr>
            <a:r>
              <a:rPr lang="en-US" sz="1100" dirty="0">
                <a:solidFill>
                  <a:schemeClr val="tx1"/>
                </a:solidFill>
              </a:rPr>
              <a:t>2018: Cloud Smart strategy drafted.</a:t>
            </a:r>
            <a:r>
              <a:rPr lang="en-US" sz="1100" baseline="30000" dirty="0">
                <a:solidFill>
                  <a:schemeClr val="tx1"/>
                </a:solidFill>
              </a:rPr>
              <a:t>11</a:t>
            </a:r>
            <a:endParaRPr lang="en-US" sz="1100" dirty="0"/>
          </a:p>
        </p:txBody>
      </p:sp>
      <p:sp>
        <p:nvSpPr>
          <p:cNvPr id="20" name="col-head-2"/>
          <p:cNvSpPr txBox="1"/>
          <p:nvPr/>
        </p:nvSpPr>
        <p:spPr>
          <a:xfrm>
            <a:off x="6175248" y="2267712"/>
            <a:ext cx="2651760" cy="292608"/>
          </a:xfrm>
          <a:prstGeom prst="rect">
            <a:avLst/>
          </a:prstGeom>
          <a:noFill/>
          <a:ln/>
        </p:spPr>
        <p:txBody>
          <a:bodyPr wrap="square" lIns="0" tIns="0" rIns="0" bIns="0" rtlCol="0" anchor="t"/>
          <a:lstStyle/>
          <a:p>
            <a:pPr indent="0" marL="0">
              <a:buNone/>
            </a:pPr>
            <a:r>
              <a:rPr lang="en-US" sz="1500" b="1" dirty="0">
                <a:solidFill>
                  <a:schemeClr val="accent3"/>
                </a:solidFill>
                <a:latin typeface="Cambria" pitchFamily="34" charset="0"/>
                <a:ea typeface="Cambria" pitchFamily="34" charset="-122"/>
                <a:cs typeface="Cambria" pitchFamily="34" charset="-120"/>
              </a:rPr>
              <a:t>What went well</a:t>
            </a:r>
            <a:endParaRPr lang="en-US" sz="1500" dirty="0"/>
          </a:p>
        </p:txBody>
      </p:sp>
      <p:sp>
        <p:nvSpPr>
          <p:cNvPr id="21" name="col-body-2"/>
          <p:cNvSpPr txBox="1"/>
          <p:nvPr/>
        </p:nvSpPr>
        <p:spPr>
          <a:xfrm>
            <a:off x="6175248" y="2615184"/>
            <a:ext cx="2651760"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15 of 16 agencies reported significant benefits, such as better customer service.</a:t>
            </a:r>
            <a:r>
              <a:rPr lang="en-US" sz="1100" baseline="30000" dirty="0">
                <a:solidFill>
                  <a:schemeClr val="tx1"/>
                </a:solidFill>
              </a:rPr>
              <a:t>11</a:t>
            </a:r>
            <a:endParaRPr lang="en-US" sz="1100" dirty="0"/>
          </a:p>
          <a:p>
            <a:pPr marL="165100" indent="-165100">
              <a:spcAft>
                <a:spcPts val="500"/>
              </a:spcAft>
              <a:buSzPct val="100000"/>
              <a:buChar char="•"/>
            </a:pPr>
            <a:r>
              <a:rPr lang="en-US" sz="1100" dirty="0">
                <a:solidFill>
                  <a:schemeClr val="tx1"/>
                </a:solidFill>
              </a:rPr>
              <a:t>Education: about $3.3M a year in hosting charges avoided.</a:t>
            </a:r>
            <a:r>
              <a:rPr lang="en-US" sz="1100" baseline="30000" dirty="0">
                <a:solidFill>
                  <a:schemeClr val="tx1"/>
                </a:solidFill>
              </a:rPr>
              <a:t>11</a:t>
            </a:r>
            <a:endParaRPr lang="en-US" sz="1100" dirty="0"/>
          </a:p>
          <a:p>
            <a:pPr marL="165100" indent="-165100">
              <a:spcAft>
                <a:spcPts val="500"/>
              </a:spcAft>
              <a:buSzPct val="100000"/>
              <a:buChar char="•"/>
            </a:pPr>
            <a:r>
              <a:rPr lang="en-US" sz="1100" dirty="0">
                <a:solidFill>
                  <a:schemeClr val="tx1"/>
                </a:solidFill>
              </a:rPr>
              <a:t>Energy: $900,000 saved in FY2013–14.</a:t>
            </a:r>
            <a:r>
              <a:rPr lang="en-US" sz="1100" baseline="30000" dirty="0">
                <a:solidFill>
                  <a:schemeClr val="tx1"/>
                </a:solidFill>
              </a:rPr>
              <a:t>11</a:t>
            </a:r>
            <a:endParaRPr lang="en-US" sz="1100" dirty="0"/>
          </a:p>
          <a:p>
            <a:pPr marL="165100" indent="-165100">
              <a:spcAft>
                <a:spcPts val="500"/>
              </a:spcAft>
              <a:buSzPct val="100000"/>
              <a:buChar char="•"/>
            </a:pPr>
            <a:r>
              <a:rPr lang="en-US" sz="1100" dirty="0">
                <a:solidFill>
                  <a:schemeClr val="tx1"/>
                </a:solidFill>
              </a:rPr>
              <a:t>State: 800+ paper forms replaced, saving ~50,000 staff hours.</a:t>
            </a:r>
            <a:r>
              <a:rPr lang="en-US" sz="1100" baseline="30000" dirty="0">
                <a:solidFill>
                  <a:schemeClr val="tx1"/>
                </a:solidFill>
              </a:rPr>
              <a:t>11</a:t>
            </a:r>
            <a:endParaRPr lang="en-US" sz="1100" dirty="0"/>
          </a:p>
          <a:p>
            <a:pPr marL="165100" indent="-165100">
              <a:spcAft>
                <a:spcPts val="500"/>
              </a:spcAft>
              <a:buSzPct val="100000"/>
              <a:buChar char="•"/>
            </a:pPr>
            <a:r>
              <a:rPr lang="en-US" sz="1100" dirty="0">
                <a:solidFill>
                  <a:schemeClr val="tx1"/>
                </a:solidFill>
              </a:rPr>
              <a:t>Army: an ammunition system went from minutes to seconds.</a:t>
            </a:r>
            <a:r>
              <a:rPr lang="en-US" sz="1100" baseline="30000" dirty="0">
                <a:solidFill>
                  <a:schemeClr val="tx1"/>
                </a:solidFill>
              </a:rPr>
              <a:t>11</a:t>
            </a:r>
            <a:endParaRPr lang="en-US" sz="1100" dirty="0"/>
          </a:p>
          <a:p>
            <a:pPr marL="165100" indent="-165100">
              <a:spcAft>
                <a:spcPts val="500"/>
              </a:spcAft>
              <a:buSzPct val="100000"/>
              <a:buChar char="•"/>
            </a:pPr>
            <a:r>
              <a:rPr lang="en-US" sz="1100" dirty="0">
                <a:solidFill>
                  <a:schemeClr val="tx1"/>
                </a:solidFill>
              </a:rPr>
              <a:t>Small Business Administration: $7.8M of savings reinvested.</a:t>
            </a:r>
            <a:r>
              <a:rPr lang="en-US" sz="1100" baseline="30000" dirty="0">
                <a:solidFill>
                  <a:schemeClr val="tx1"/>
                </a:solidFill>
              </a:rPr>
              <a:t>11</a:t>
            </a:r>
            <a:endParaRPr lang="en-US" sz="1100" dirty="0"/>
          </a:p>
        </p:txBody>
      </p:sp>
      <p:sp>
        <p:nvSpPr>
          <p:cNvPr id="22" name="bad-panel"/>
          <p:cNvSpPr/>
          <p:nvPr/>
        </p:nvSpPr>
        <p:spPr>
          <a:xfrm>
            <a:off x="8988552" y="2194560"/>
            <a:ext cx="2651760" cy="3456432"/>
          </a:xfrm>
          <a:prstGeom prst="rect">
            <a:avLst/>
          </a:prstGeom>
          <a:solidFill>
            <a:srgbClr val="FBEDEA"/>
          </a:solidFill>
          <a:ln w="12700">
            <a:solidFill>
              <a:srgbClr val="FBEDEA"/>
            </a:solidFill>
            <a:prstDash val="solid"/>
          </a:ln>
        </p:spPr>
      </p:sp>
      <p:sp>
        <p:nvSpPr>
          <p:cNvPr id="23" name="col-head-3"/>
          <p:cNvSpPr txBox="1"/>
          <p:nvPr/>
        </p:nvSpPr>
        <p:spPr>
          <a:xfrm>
            <a:off x="9098280" y="2267712"/>
            <a:ext cx="2432304" cy="292608"/>
          </a:xfrm>
          <a:prstGeom prst="rect">
            <a:avLst/>
          </a:prstGeom>
          <a:noFill/>
          <a:ln/>
        </p:spPr>
        <p:txBody>
          <a:bodyPr wrap="square" lIns="0" tIns="0" rIns="0" bIns="0" rtlCol="0" anchor="t"/>
          <a:lstStyle/>
          <a:p>
            <a:pPr indent="0" marL="0">
              <a:buNone/>
            </a:pPr>
            <a:r>
              <a:rPr lang="en-US" sz="1500" b="1" dirty="0">
                <a:solidFill>
                  <a:schemeClr val="accent2"/>
                </a:solidFill>
                <a:latin typeface="Cambria" pitchFamily="34" charset="0"/>
                <a:ea typeface="Cambria" pitchFamily="34" charset="-122"/>
                <a:cs typeface="Cambria" pitchFamily="34" charset="-120"/>
              </a:rPr>
              <a:t>Challenges and setbacks</a:t>
            </a:r>
            <a:endParaRPr lang="en-US" sz="1500" dirty="0"/>
          </a:p>
        </p:txBody>
      </p:sp>
      <p:sp>
        <p:nvSpPr>
          <p:cNvPr id="24" name="col-body-3"/>
          <p:cNvSpPr txBox="1"/>
          <p:nvPr/>
        </p:nvSpPr>
        <p:spPr>
          <a:xfrm>
            <a:off x="9098280" y="2615184"/>
            <a:ext cx="2432304"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Savings not tracked: no savings data for 411 of 488 cloud investments (84%).</a:t>
            </a:r>
            <a:r>
              <a:rPr lang="en-US" sz="1100" baseline="30000" dirty="0">
                <a:solidFill>
                  <a:schemeClr val="tx1"/>
                </a:solidFill>
              </a:rPr>
              <a:t>11</a:t>
            </a:r>
            <a:endParaRPr lang="en-US" sz="1100" dirty="0"/>
          </a:p>
          <a:p>
            <a:pPr marL="165100" indent="-165100">
              <a:spcAft>
                <a:spcPts val="500"/>
              </a:spcAft>
              <a:buSzPct val="100000"/>
              <a:buChar char="•"/>
            </a:pPr>
            <a:r>
              <a:rPr lang="en-US" sz="1100" dirty="0">
                <a:solidFill>
                  <a:schemeClr val="tx1"/>
                </a:solidFill>
              </a:rPr>
              <a:t>Reported savings were likely underreported, so the true financial result is unknown.</a:t>
            </a:r>
            <a:r>
              <a:rPr lang="en-US" sz="1100" baseline="30000" dirty="0">
                <a:solidFill>
                  <a:schemeClr val="tx1"/>
                </a:solidFill>
              </a:rPr>
              <a:t>11</a:t>
            </a:r>
            <a:endParaRPr lang="en-US" sz="1100" dirty="0"/>
          </a:p>
          <a:p>
            <a:pPr marL="165100" indent="-165100">
              <a:spcAft>
                <a:spcPts val="500"/>
              </a:spcAft>
              <a:buSzPct val="100000"/>
              <a:buChar char="•"/>
            </a:pPr>
            <a:r>
              <a:rPr lang="en-US" sz="1100" dirty="0">
                <a:solidFill>
                  <a:schemeClr val="tx1"/>
                </a:solidFill>
              </a:rPr>
              <a:t>Slow uptake: only 11% of FY2019 IT investments were projected to use cloud.</a:t>
            </a:r>
            <a:r>
              <a:rPr lang="en-US" sz="1100" baseline="30000" dirty="0">
                <a:solidFill>
                  <a:schemeClr val="tx1"/>
                </a:solidFill>
              </a:rPr>
              <a:t>11</a:t>
            </a:r>
            <a:endParaRPr lang="en-US" sz="1100" dirty="0"/>
          </a:p>
          <a:p>
            <a:pPr marL="165100" indent="-165100">
              <a:spcAft>
                <a:spcPts val="500"/>
              </a:spcAft>
              <a:buSzPct val="100000"/>
              <a:buChar char="•"/>
            </a:pPr>
            <a:r>
              <a:rPr lang="en-US" sz="1100" dirty="0">
                <a:solidFill>
                  <a:schemeClr val="tx1"/>
                </a:solidFill>
              </a:rPr>
              <a:t>Treasury and Commerce saw no savings on some systems, because new capabilities and requirements were added.</a:t>
            </a:r>
            <a:r>
              <a:rPr lang="en-US" sz="1100" baseline="30000" dirty="0">
                <a:solidFill>
                  <a:schemeClr val="tx1"/>
                </a:solidFill>
              </a:rPr>
              <a:t>11</a:t>
            </a:r>
            <a:endParaRPr lang="en-US" sz="1100" dirty="0"/>
          </a:p>
          <a:p>
            <a:pPr marL="165100" indent="-165100">
              <a:spcAft>
                <a:spcPts val="500"/>
              </a:spcAft>
              <a:buSzPct val="100000"/>
              <a:buChar char="•"/>
            </a:pPr>
            <a:r>
              <a:rPr lang="en-US" sz="1100" dirty="0">
                <a:solidFill>
                  <a:schemeClr val="tx1"/>
                </a:solidFill>
              </a:rPr>
              <a:t>Cloud spending reached $1.38B in FY2017, up over $1B since FY2015.</a:t>
            </a:r>
            <a:r>
              <a:rPr lang="en-US" sz="1100" baseline="30000" dirty="0">
                <a:solidFill>
                  <a:schemeClr val="tx1"/>
                </a:solidFill>
              </a:rPr>
              <a:t>11</a:t>
            </a:r>
            <a:endParaRPr lang="en-US" sz="1100" dirty="0"/>
          </a:p>
        </p:txBody>
      </p:sp>
      <p:sp>
        <p:nvSpPr>
          <p:cNvPr id="25" name="verdict-band"/>
          <p:cNvSpPr/>
          <p:nvPr/>
        </p:nvSpPr>
        <p:spPr>
          <a:xfrm>
            <a:off x="548640" y="5779008"/>
            <a:ext cx="11091672" cy="548640"/>
          </a:xfrm>
          <a:prstGeom prst="rect">
            <a:avLst/>
          </a:prstGeom>
          <a:solidFill>
            <a:schemeClr val="tx2"/>
          </a:solidFill>
          <a:ln w="12700">
            <a:solidFill>
              <a:schemeClr val="tx2"/>
            </a:solidFill>
            <a:prstDash val="solid"/>
          </a:ln>
        </p:spPr>
      </p:sp>
      <p:sp>
        <p:nvSpPr>
          <p:cNvPr id="26" name="verdict-text"/>
          <p:cNvSpPr txBox="1"/>
          <p:nvPr/>
        </p:nvSpPr>
        <p:spPr>
          <a:xfrm>
            <a:off x="731520" y="5779008"/>
            <a:ext cx="10789920" cy="548640"/>
          </a:xfrm>
          <a:prstGeom prst="rect">
            <a:avLst/>
          </a:prstGeom>
          <a:noFill/>
          <a:ln/>
        </p:spPr>
        <p:txBody>
          <a:bodyPr wrap="square" lIns="0" tIns="0" rIns="0" bIns="0" rtlCol="0" anchor="ctr"/>
          <a:lstStyle/>
          <a:p>
            <a:pPr indent="0" marL="0">
              <a:buNone/>
            </a:pPr>
            <a:r>
              <a:rPr lang="en-US" sz="1300" b="1" dirty="0">
                <a:solidFill>
                  <a:schemeClr val="bg1"/>
                </a:solidFill>
              </a:rPr>
              <a:t>Verdict: </a:t>
            </a:r>
            <a:r>
              <a:rPr lang="en-US" sz="1300" b="1" dirty="0">
                <a:solidFill>
                  <a:schemeClr val="bg1"/>
                </a:solidFill>
              </a:rPr>
              <a:t>Positive on service, incomplete on cost.*</a:t>
            </a:r>
            <a:r>
              <a:rPr lang="en-US" sz="1300" dirty="0">
                <a:solidFill>
                  <a:schemeClr val="bg1"/>
                </a:solidFill>
              </a:rPr>
              <a:t> Gains in speed, flexibility and staff time were real, but without savings tracking the financial result cannot be judged.</a:t>
            </a:r>
            <a:r>
              <a:rPr lang="en-US" sz="1300" baseline="30000" dirty="0">
                <a:solidFill>
                  <a:schemeClr val="bg1"/>
                </a:solidFill>
              </a:rPr>
              <a:t>11</a:t>
            </a:r>
            <a:endParaRPr lang="en-US" sz="1300" dirty="0"/>
          </a:p>
        </p:txBody>
      </p:sp>
      <p:sp>
        <p:nvSpPr>
          <p:cNvPr id="25" name="Slide Number Placeholder 0"/>
          <p:cNvSpPr>
            <a:spLocks noGrp="1"/>
          </p:cNvSpPr>
          <p:nvPr>
            <p:ph type="sldNum" sz="quarter" idx="4294967295"/>
          </p:nvPr>
        </p:nvSpPr>
        <p:spPr>
          <a:xfrm>
            <a:off x="11155680"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HMRC: data-centre exit six years behind schedule</a:t>
            </a:r>
            <a:endParaRPr lang="en-US" sz="3400" dirty="0"/>
          </a:p>
        </p:txBody>
      </p:sp>
      <p:pic>
        <p:nvPicPr>
          <p:cNvPr id="3" name="flag-gb-0.60" descr="Flag of the United Kingdom">    </p:cNvPr>
          <p:cNvPicPr>
            <a:picLocks noChangeAspect="1"/>
          </p:cNvPicPr>
          <p:nvPr/>
        </p:nvPicPr>
        <p:blipFill>
          <a:blip r:embed="rId1"/>
          <a:stretch>
            <a:fillRect/>
          </a:stretch>
        </p:blipFill>
        <p:spPr>
          <a:xfrm>
            <a:off x="548640" y="987552"/>
            <a:ext cx="274320" cy="274320"/>
          </a:xfrm>
          <a:prstGeom prst="rect">
            <a:avLst/>
          </a:prstGeom>
        </p:spPr>
      </p:pic>
      <p:sp>
        <p:nvSpPr>
          <p:cNvPr id="4" name="flag-ring-gb-0.60"/>
          <p:cNvSpPr/>
          <p:nvPr/>
        </p:nvSpPr>
        <p:spPr>
          <a:xfrm>
            <a:off x="548640" y="987552"/>
            <a:ext cx="274320" cy="274320"/>
          </a:xfrm>
          <a:prstGeom prst="ellipse">
            <a:avLst/>
          </a:prstGeom>
          <a:noFill/>
          <a:ln w="9525">
            <a:solidFill>
              <a:srgbClr val="C9CDD3"/>
            </a:solidFill>
            <a:prstDash val="solid"/>
          </a:ln>
        </p:spPr>
      </p:sp>
      <p:sp>
        <p:nvSpPr>
          <p:cNvPr id="5" name="case-meta"/>
          <p:cNvSpPr txBox="1"/>
          <p:nvPr/>
        </p:nvSpPr>
        <p:spPr>
          <a:xfrm>
            <a:off x="932688" y="978408"/>
            <a:ext cx="8138160" cy="292608"/>
          </a:xfrm>
          <a:prstGeom prst="rect">
            <a:avLst/>
          </a:prstGeom>
          <a:noFill/>
          <a:ln/>
        </p:spPr>
        <p:txBody>
          <a:bodyPr wrap="square" lIns="0" tIns="0" rIns="0" bIns="0" rtlCol="0" anchor="ctr"/>
          <a:lstStyle/>
          <a:p>
            <a:pPr indent="0" marL="0">
              <a:buNone/>
            </a:pPr>
            <a:r>
              <a:rPr lang="en-US" sz="1200" dirty="0">
                <a:solidFill>
                  <a:schemeClr val="accent5"/>
                </a:solidFill>
              </a:rPr>
              <a:t>United Kingdom  ·  2018–2028  ·  AWS for the final phase; earlier plans included Azure</a:t>
            </a:r>
            <a:r>
              <a:rPr lang="en-US" sz="1200" baseline="30000" dirty="0">
                <a:solidFill>
                  <a:schemeClr val="accent5"/>
                </a:solidFill>
              </a:rPr>
              <a:t>18,19</a:t>
            </a:r>
            <a:r>
              <a:rPr lang="en-US" sz="1200" dirty="0">
                <a:solidFill>
                  <a:schemeClr val="accent5"/>
                </a:solidFill>
              </a:rPr>
              <a:t>  ·  Partial, still in progress</a:t>
            </a:r>
            <a:r>
              <a:rPr lang="en-US" sz="1200" baseline="30000" dirty="0">
                <a:solidFill>
                  <a:schemeClr val="accent5"/>
                </a:solidFill>
              </a:rPr>
              <a:t>16</a:t>
            </a:r>
            <a:endParaRPr lang="en-US" sz="1200" dirty="0"/>
          </a:p>
        </p:txBody>
      </p:sp>
      <p:sp>
        <p:nvSpPr>
          <p:cNvPr id="6" name="case-evidence"/>
          <p:cNvSpPr txBox="1"/>
          <p:nvPr/>
        </p:nvSpPr>
        <p:spPr>
          <a:xfrm>
            <a:off x="9052560" y="978408"/>
            <a:ext cx="2587752" cy="292608"/>
          </a:xfrm>
          <a:prstGeom prst="rect">
            <a:avLst/>
          </a:prstGeom>
          <a:noFill/>
          <a:ln/>
        </p:spPr>
        <p:txBody>
          <a:bodyPr wrap="square" lIns="0" tIns="0" rIns="0" bIns="0" rtlCol="0" anchor="ctr"/>
          <a:lstStyle/>
          <a:p>
            <a:pPr algn="r" indent="0" marL="0">
              <a:buNone/>
            </a:pPr>
            <a:r>
              <a:rPr lang="en-US" sz="1200" b="1" dirty="0">
                <a:solidFill>
                  <a:schemeClr val="tx2"/>
                </a:solidFill>
              </a:rPr>
              <a:t>Evidence: </a:t>
            </a:r>
            <a:r>
              <a:rPr lang="en-US" sz="1200" dirty="0">
                <a:solidFill>
                  <a:schemeClr val="tx2"/>
                </a:solidFill>
              </a:rPr>
              <a:t>Government and news</a:t>
            </a:r>
            <a:endParaRPr lang="en-US" sz="1200" dirty="0"/>
          </a:p>
        </p:txBody>
      </p:sp>
      <p:sp>
        <p:nvSpPr>
          <p:cNvPr id="7" name="stat-card-0"/>
          <p:cNvSpPr/>
          <p:nvPr/>
        </p:nvSpPr>
        <p:spPr>
          <a:xfrm>
            <a:off x="548640" y="1389888"/>
            <a:ext cx="3593592" cy="713232"/>
          </a:xfrm>
          <a:prstGeom prst="rect">
            <a:avLst/>
          </a:prstGeom>
          <a:solidFill>
            <a:schemeClr val="bg2"/>
          </a:solidFill>
          <a:ln w="12700">
            <a:solidFill>
              <a:schemeClr val="bg2"/>
            </a:solidFill>
            <a:prstDash val="solid"/>
          </a:ln>
        </p:spPr>
      </p:sp>
      <p:sp>
        <p:nvSpPr>
          <p:cNvPr id="8" name="stat-value-0"/>
          <p:cNvSpPr txBox="1"/>
          <p:nvPr/>
        </p:nvSpPr>
        <p:spPr>
          <a:xfrm>
            <a:off x="731520" y="1399032"/>
            <a:ext cx="1645920" cy="694944"/>
          </a:xfrm>
          <a:prstGeom prst="rect">
            <a:avLst/>
          </a:prstGeom>
          <a:noFill/>
          <a:ln/>
        </p:spPr>
        <p:txBody>
          <a:bodyPr wrap="square" lIns="0" tIns="0" rIns="0" bIns="0" rtlCol="0" anchor="ctr">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2028</a:t>
            </a:r>
            <a:endParaRPr lang="en-US" sz="2600" dirty="0"/>
          </a:p>
        </p:txBody>
      </p:sp>
      <p:sp>
        <p:nvSpPr>
          <p:cNvPr id="9" name="stat-label-0"/>
          <p:cNvSpPr txBox="1"/>
          <p:nvPr/>
        </p:nvSpPr>
        <p:spPr>
          <a:xfrm>
            <a:off x="2423160" y="1399032"/>
            <a:ext cx="1600200" cy="694944"/>
          </a:xfrm>
          <a:prstGeom prst="rect">
            <a:avLst/>
          </a:prstGeom>
          <a:noFill/>
          <a:ln/>
        </p:spPr>
        <p:txBody>
          <a:bodyPr wrap="square" lIns="0" tIns="0" rIns="0" bIns="0" rtlCol="0" anchor="ctr"/>
          <a:lstStyle/>
          <a:p>
            <a:pPr indent="0" marL="0">
              <a:buNone/>
            </a:pPr>
            <a:r>
              <a:rPr lang="en-US" sz="1100" dirty="0">
                <a:solidFill>
                  <a:schemeClr val="tx1"/>
                </a:solidFill>
              </a:rPr>
              <a:t>data-centre exit date; the original target was June 2022</a:t>
            </a:r>
            <a:r>
              <a:rPr lang="en-US" sz="1100" baseline="30000" dirty="0">
                <a:solidFill>
                  <a:schemeClr val="tx1"/>
                </a:solidFill>
              </a:rPr>
              <a:t>15,18</a:t>
            </a:r>
            <a:endParaRPr lang="en-US" sz="1100" dirty="0"/>
          </a:p>
        </p:txBody>
      </p:sp>
      <p:sp>
        <p:nvSpPr>
          <p:cNvPr id="10" name="stat-card-1"/>
          <p:cNvSpPr/>
          <p:nvPr/>
        </p:nvSpPr>
        <p:spPr>
          <a:xfrm>
            <a:off x="4297680" y="1389888"/>
            <a:ext cx="3593592" cy="713232"/>
          </a:xfrm>
          <a:prstGeom prst="rect">
            <a:avLst/>
          </a:prstGeom>
          <a:solidFill>
            <a:schemeClr val="bg2"/>
          </a:solidFill>
          <a:ln w="12700">
            <a:solidFill>
              <a:schemeClr val="bg2"/>
            </a:solidFill>
            <a:prstDash val="solid"/>
          </a:ln>
        </p:spPr>
      </p:sp>
      <p:sp>
        <p:nvSpPr>
          <p:cNvPr id="11" name="stat-value-1"/>
          <p:cNvSpPr txBox="1"/>
          <p:nvPr/>
        </p:nvSpPr>
        <p:spPr>
          <a:xfrm>
            <a:off x="4480560" y="1399032"/>
            <a:ext cx="1645920" cy="694944"/>
          </a:xfrm>
          <a:prstGeom prst="rect">
            <a:avLst/>
          </a:prstGeom>
          <a:noFill/>
          <a:ln/>
        </p:spPr>
        <p:txBody>
          <a:bodyPr wrap="square" lIns="0" tIns="0" rIns="0" bIns="0" rtlCol="0" anchor="ctr">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£220.3M</a:t>
            </a:r>
            <a:endParaRPr lang="en-US" sz="2600" dirty="0"/>
          </a:p>
        </p:txBody>
      </p:sp>
      <p:sp>
        <p:nvSpPr>
          <p:cNvPr id="12" name="stat-label-1"/>
          <p:cNvSpPr txBox="1"/>
          <p:nvPr/>
        </p:nvSpPr>
        <p:spPr>
          <a:xfrm>
            <a:off x="6172200" y="1399032"/>
            <a:ext cx="1600200" cy="694944"/>
          </a:xfrm>
          <a:prstGeom prst="rect">
            <a:avLst/>
          </a:prstGeom>
          <a:noFill/>
          <a:ln/>
        </p:spPr>
        <p:txBody>
          <a:bodyPr wrap="square" lIns="0" tIns="0" rIns="0" bIns="0" rtlCol="0" anchor="ctr"/>
          <a:lstStyle/>
          <a:p>
            <a:pPr indent="0" marL="0">
              <a:buNone/>
            </a:pPr>
            <a:r>
              <a:rPr lang="en-US" sz="1100" dirty="0">
                <a:solidFill>
                  <a:schemeClr val="tx1"/>
                </a:solidFill>
              </a:rPr>
              <a:t>Fujitsu extension to keep the old data centres running to 2028</a:t>
            </a:r>
            <a:r>
              <a:rPr lang="en-US" sz="1100" baseline="30000" dirty="0">
                <a:solidFill>
                  <a:schemeClr val="tx1"/>
                </a:solidFill>
              </a:rPr>
              <a:t>23</a:t>
            </a:r>
            <a:endParaRPr lang="en-US" sz="1100" dirty="0"/>
          </a:p>
        </p:txBody>
      </p:sp>
      <p:sp>
        <p:nvSpPr>
          <p:cNvPr id="13" name="stat-card-2"/>
          <p:cNvSpPr/>
          <p:nvPr/>
        </p:nvSpPr>
        <p:spPr>
          <a:xfrm>
            <a:off x="8046720" y="1389888"/>
            <a:ext cx="3593592" cy="713232"/>
          </a:xfrm>
          <a:prstGeom prst="rect">
            <a:avLst/>
          </a:prstGeom>
          <a:solidFill>
            <a:schemeClr val="bg2"/>
          </a:solidFill>
          <a:ln w="12700">
            <a:solidFill>
              <a:schemeClr val="bg2"/>
            </a:solidFill>
            <a:prstDash val="solid"/>
          </a:ln>
        </p:spPr>
      </p:sp>
      <p:sp>
        <p:nvSpPr>
          <p:cNvPr id="14" name="stat-value-2"/>
          <p:cNvSpPr txBox="1"/>
          <p:nvPr/>
        </p:nvSpPr>
        <p:spPr>
          <a:xfrm>
            <a:off x="8229600" y="1399032"/>
            <a:ext cx="1645920" cy="694944"/>
          </a:xfrm>
          <a:prstGeom prst="rect">
            <a:avLst/>
          </a:prstGeom>
          <a:noFill/>
          <a:ln/>
        </p:spPr>
        <p:txBody>
          <a:bodyPr wrap="square" lIns="0" tIns="0" rIns="0" bIns="0" rtlCol="0" anchor="ctr">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372 of 545</a:t>
            </a:r>
            <a:endParaRPr lang="en-US" sz="2600" dirty="0"/>
          </a:p>
        </p:txBody>
      </p:sp>
      <p:sp>
        <p:nvSpPr>
          <p:cNvPr id="15" name="stat-label-2"/>
          <p:cNvSpPr txBox="1"/>
          <p:nvPr/>
        </p:nvSpPr>
        <p:spPr>
          <a:xfrm>
            <a:off x="9921240" y="1399032"/>
            <a:ext cx="1600200" cy="694944"/>
          </a:xfrm>
          <a:prstGeom prst="rect">
            <a:avLst/>
          </a:prstGeom>
          <a:noFill/>
          <a:ln/>
        </p:spPr>
        <p:txBody>
          <a:bodyPr wrap="square" lIns="0" tIns="0" rIns="0" bIns="0" rtlCol="0" anchor="ctr"/>
          <a:lstStyle/>
          <a:p>
            <a:pPr indent="0" marL="0">
              <a:buNone/>
            </a:pPr>
            <a:r>
              <a:rPr lang="en-US" sz="1100" dirty="0">
                <a:solidFill>
                  <a:schemeClr val="tx1"/>
                </a:solidFill>
              </a:rPr>
              <a:t>critical services on cloud by the end of 2023–24</a:t>
            </a:r>
            <a:r>
              <a:rPr lang="en-US" sz="1100" baseline="30000" dirty="0">
                <a:solidFill>
                  <a:schemeClr val="tx1"/>
                </a:solidFill>
              </a:rPr>
              <a:t>21</a:t>
            </a:r>
            <a:endParaRPr lang="en-US" sz="1100" dirty="0"/>
          </a:p>
        </p:txBody>
      </p:sp>
      <p:sp>
        <p:nvSpPr>
          <p:cNvPr id="16" name="col-head-0"/>
          <p:cNvSpPr txBox="1"/>
          <p:nvPr/>
        </p:nvSpPr>
        <p:spPr>
          <a:xfrm>
            <a:off x="548640" y="2267712"/>
            <a:ext cx="2651760" cy="292608"/>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Why they moved</a:t>
            </a:r>
            <a:endParaRPr lang="en-US" sz="1500" dirty="0"/>
          </a:p>
        </p:txBody>
      </p:sp>
      <p:sp>
        <p:nvSpPr>
          <p:cNvPr id="17" name="col-body-0"/>
          <p:cNvSpPr txBox="1"/>
          <p:nvPr/>
        </p:nvSpPr>
        <p:spPr>
          <a:xfrm>
            <a:off x="548640" y="2615184"/>
            <a:ext cx="2651760"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2018: "Securing our Technical Future" set up to stabilize an IT estate that was partly aged and out of support.</a:t>
            </a:r>
            <a:r>
              <a:rPr lang="en-US" sz="1100" baseline="30000" dirty="0">
                <a:solidFill>
                  <a:schemeClr val="tx1"/>
                </a:solidFill>
              </a:rPr>
              <a:t>14</a:t>
            </a:r>
            <a:endParaRPr lang="en-US" sz="1100" dirty="0"/>
          </a:p>
          <a:p>
            <a:pPr marL="165100" indent="-165100">
              <a:spcAft>
                <a:spcPts val="500"/>
              </a:spcAft>
              <a:buSzPct val="100000"/>
              <a:buChar char="•"/>
            </a:pPr>
            <a:r>
              <a:rPr lang="en-US" sz="1100" dirty="0">
                <a:solidFill>
                  <a:schemeClr val="tx1"/>
                </a:solidFill>
              </a:rPr>
              <a:t>Main goals: fix high-priority security vulnerabilities, leave three ageing data centres, and prepare systems for cloud and Crown Hosting.</a:t>
            </a:r>
            <a:r>
              <a:rPr lang="en-US" sz="1100" baseline="30000" dirty="0">
                <a:solidFill>
                  <a:schemeClr val="tx1"/>
                </a:solidFill>
              </a:rPr>
              <a:t>14</a:t>
            </a:r>
            <a:endParaRPr lang="en-US" sz="1100" dirty="0"/>
          </a:p>
          <a:p>
            <a:pPr marL="165100" indent="-165100">
              <a:spcAft>
                <a:spcPts val="500"/>
              </a:spcAft>
              <a:buSzPct val="100000"/>
              <a:buChar char="•"/>
            </a:pPr>
            <a:r>
              <a:rPr lang="en-US" sz="1100" dirty="0">
                <a:solidFill>
                  <a:schemeClr val="tx1"/>
                </a:solidFill>
              </a:rPr>
              <a:t>Modern "hyperscaler" cloud was identified as the preferred solution.</a:t>
            </a:r>
            <a:r>
              <a:rPr lang="en-US" sz="1100" baseline="30000" dirty="0">
                <a:solidFill>
                  <a:schemeClr val="tx1"/>
                </a:solidFill>
              </a:rPr>
              <a:t>17</a:t>
            </a:r>
            <a:endParaRPr lang="en-US" sz="1100" dirty="0"/>
          </a:p>
        </p:txBody>
      </p:sp>
      <p:sp>
        <p:nvSpPr>
          <p:cNvPr id="18" name="col-head-1"/>
          <p:cNvSpPr txBox="1"/>
          <p:nvPr/>
        </p:nvSpPr>
        <p:spPr>
          <a:xfrm>
            <a:off x="3361944" y="2267712"/>
            <a:ext cx="2651760" cy="292608"/>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What they did</a:t>
            </a:r>
            <a:endParaRPr lang="en-US" sz="1500" dirty="0"/>
          </a:p>
        </p:txBody>
      </p:sp>
      <p:sp>
        <p:nvSpPr>
          <p:cNvPr id="19" name="col-body-1"/>
          <p:cNvSpPr txBox="1"/>
          <p:nvPr/>
        </p:nvSpPr>
        <p:spPr>
          <a:xfrm>
            <a:off x="3361944" y="2615184"/>
            <a:ext cx="2651760"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Three legacy data centres, run by Fujitsu: Docklands, Stevenage and Thurrock.</a:t>
            </a:r>
            <a:r>
              <a:rPr lang="en-US" sz="1100" baseline="30000" dirty="0">
                <a:solidFill>
                  <a:schemeClr val="tx1"/>
                </a:solidFill>
              </a:rPr>
              <a:t>18</a:t>
            </a:r>
            <a:endParaRPr lang="en-US" sz="1100" dirty="0"/>
          </a:p>
          <a:p>
            <a:pPr marL="165100" indent="-165100">
              <a:spcAft>
                <a:spcPts val="500"/>
              </a:spcAft>
              <a:buSzPct val="100000"/>
              <a:buChar char="•"/>
            </a:pPr>
            <a:r>
              <a:rPr lang="en-US" sz="1100" dirty="0">
                <a:solidFill>
                  <a:schemeClr val="tx1"/>
                </a:solidFill>
              </a:rPr>
              <a:t>2021: IBM hired (£11M); plan to move 600 services to AWS, Azure or Crown Hosting.</a:t>
            </a:r>
            <a:r>
              <a:rPr lang="en-US" sz="1100" baseline="30000" dirty="0">
                <a:solidFill>
                  <a:schemeClr val="tx1"/>
                </a:solidFill>
              </a:rPr>
              <a:t>18</a:t>
            </a:r>
            <a:endParaRPr lang="en-US" sz="1100" dirty="0"/>
          </a:p>
          <a:p>
            <a:pPr marL="165100" indent="-165100">
              <a:spcAft>
                <a:spcPts val="500"/>
              </a:spcAft>
              <a:buSzPct val="100000"/>
              <a:buChar char="•"/>
            </a:pPr>
            <a:r>
              <a:rPr lang="en-US" sz="1100" dirty="0">
                <a:solidFill>
                  <a:schemeClr val="tx1"/>
                </a:solidFill>
              </a:rPr>
              <a:t>2023 review: critical national services first; unneeded services retired.</a:t>
            </a:r>
            <a:r>
              <a:rPr lang="en-US" sz="1100" baseline="30000" dirty="0">
                <a:solidFill>
                  <a:schemeClr val="tx1"/>
                </a:solidFill>
              </a:rPr>
              <a:t>14</a:t>
            </a:r>
            <a:endParaRPr lang="en-US" sz="1100" dirty="0"/>
          </a:p>
          <a:p>
            <a:pPr marL="165100" indent="-165100">
              <a:spcAft>
                <a:spcPts val="500"/>
              </a:spcAft>
              <a:buSzPct val="100000"/>
              <a:buChar char="•"/>
            </a:pPr>
            <a:r>
              <a:rPr lang="en-US" sz="1100" dirty="0">
                <a:solidFill>
                  <a:schemeClr val="tx1"/>
                </a:solidFill>
              </a:rPr>
              <a:t>March 2026: £472.8M final-phase contract awarded to AWS.</a:t>
            </a:r>
            <a:r>
              <a:rPr lang="en-US" sz="1100" baseline="30000" dirty="0">
                <a:solidFill>
                  <a:schemeClr val="tx1"/>
                </a:solidFill>
              </a:rPr>
              <a:t>15,19</a:t>
            </a:r>
            <a:endParaRPr lang="en-US" sz="1100" dirty="0"/>
          </a:p>
        </p:txBody>
      </p:sp>
      <p:sp>
        <p:nvSpPr>
          <p:cNvPr id="20" name="col-head-2"/>
          <p:cNvSpPr txBox="1"/>
          <p:nvPr/>
        </p:nvSpPr>
        <p:spPr>
          <a:xfrm>
            <a:off x="6175248" y="2267712"/>
            <a:ext cx="2651760" cy="292608"/>
          </a:xfrm>
          <a:prstGeom prst="rect">
            <a:avLst/>
          </a:prstGeom>
          <a:noFill/>
          <a:ln/>
        </p:spPr>
        <p:txBody>
          <a:bodyPr wrap="square" lIns="0" tIns="0" rIns="0" bIns="0" rtlCol="0" anchor="t"/>
          <a:lstStyle/>
          <a:p>
            <a:pPr indent="0" marL="0">
              <a:buNone/>
            </a:pPr>
            <a:r>
              <a:rPr lang="en-US" sz="1500" b="1" dirty="0">
                <a:solidFill>
                  <a:schemeClr val="accent3"/>
                </a:solidFill>
                <a:latin typeface="Cambria" pitchFamily="34" charset="0"/>
                <a:ea typeface="Cambria" pitchFamily="34" charset="-122"/>
                <a:cs typeface="Cambria" pitchFamily="34" charset="-120"/>
              </a:rPr>
              <a:t>What went well</a:t>
            </a:r>
            <a:endParaRPr lang="en-US" sz="1500" dirty="0"/>
          </a:p>
        </p:txBody>
      </p:sp>
      <p:sp>
        <p:nvSpPr>
          <p:cNvPr id="21" name="col-body-2"/>
          <p:cNvSpPr txBox="1"/>
          <p:nvPr/>
        </p:nvSpPr>
        <p:spPr>
          <a:xfrm>
            <a:off x="6175248" y="2615184"/>
            <a:ext cx="2651760"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62% of IT services migrated by the end of 2022–23.</a:t>
            </a:r>
            <a:r>
              <a:rPr lang="en-US" sz="1100" baseline="30000" dirty="0">
                <a:solidFill>
                  <a:schemeClr val="tx1"/>
                </a:solidFill>
              </a:rPr>
              <a:t>22</a:t>
            </a:r>
            <a:endParaRPr lang="en-US" sz="1100" dirty="0"/>
          </a:p>
          <a:p>
            <a:pPr marL="165100" indent="-165100">
              <a:spcAft>
                <a:spcPts val="500"/>
              </a:spcAft>
              <a:buSzPct val="100000"/>
              <a:buChar char="•"/>
            </a:pPr>
            <a:r>
              <a:rPr lang="en-US" sz="1100" dirty="0">
                <a:solidFill>
                  <a:schemeClr val="tx1"/>
                </a:solidFill>
              </a:rPr>
              <a:t>372 of 545 critical services migrated by the end of 2023–24.</a:t>
            </a:r>
            <a:r>
              <a:rPr lang="en-US" sz="1100" baseline="30000" dirty="0">
                <a:solidFill>
                  <a:schemeClr val="tx1"/>
                </a:solidFill>
              </a:rPr>
              <a:t>21</a:t>
            </a:r>
            <a:endParaRPr lang="en-US" sz="1100" dirty="0"/>
          </a:p>
          <a:p>
            <a:pPr marL="165100" indent="-165100">
              <a:spcAft>
                <a:spcPts val="500"/>
              </a:spcAft>
              <a:buSzPct val="100000"/>
              <a:buChar char="•"/>
            </a:pPr>
            <a:r>
              <a:rPr lang="en-US" sz="1100" dirty="0">
                <a:solidFill>
                  <a:schemeClr val="tx1"/>
                </a:solidFill>
              </a:rPr>
              <a:t>Moved: NI and PAYE, used by ~40,000 staff, with 100M+ accounts and ~10M transactions a day.</a:t>
            </a:r>
            <a:r>
              <a:rPr lang="en-US" sz="1100" baseline="30000" dirty="0">
                <a:solidFill>
                  <a:schemeClr val="tx1"/>
                </a:solidFill>
              </a:rPr>
              <a:t>21</a:t>
            </a:r>
            <a:endParaRPr lang="en-US" sz="1100" dirty="0"/>
          </a:p>
          <a:p>
            <a:pPr marL="165100" indent="-165100">
              <a:spcAft>
                <a:spcPts val="500"/>
              </a:spcAft>
              <a:buSzPct val="100000"/>
              <a:buChar char="•"/>
            </a:pPr>
            <a:r>
              <a:rPr lang="en-US" sz="1100" dirty="0">
                <a:solidFill>
                  <a:schemeClr val="tx1"/>
                </a:solidFill>
              </a:rPr>
              <a:t>Over half of services moved or retired by November 2025.</a:t>
            </a:r>
            <a:r>
              <a:rPr lang="en-US" sz="1100" baseline="30000" dirty="0">
                <a:solidFill>
                  <a:schemeClr val="tx1"/>
                </a:solidFill>
              </a:rPr>
              <a:t>16</a:t>
            </a:r>
            <a:endParaRPr lang="en-US" sz="1100" dirty="0"/>
          </a:p>
          <a:p>
            <a:pPr marL="165100" indent="-165100">
              <a:spcAft>
                <a:spcPts val="500"/>
              </a:spcAft>
              <a:buSzPct val="100000"/>
              <a:buChar char="•"/>
            </a:pPr>
            <a:r>
              <a:rPr lang="en-US" sz="1100" dirty="0">
                <a:solidFill>
                  <a:schemeClr val="tx1"/>
                </a:solidFill>
              </a:rPr>
              <a:t>June 2024: the Accounting Officer judged it value for money and deliverable.</a:t>
            </a:r>
            <a:r>
              <a:rPr lang="en-US" sz="1100" baseline="30000" dirty="0">
                <a:solidFill>
                  <a:schemeClr val="tx1"/>
                </a:solidFill>
              </a:rPr>
              <a:t>14</a:t>
            </a:r>
            <a:endParaRPr lang="en-US" sz="1100" dirty="0"/>
          </a:p>
        </p:txBody>
      </p:sp>
      <p:sp>
        <p:nvSpPr>
          <p:cNvPr id="22" name="bad-panel"/>
          <p:cNvSpPr/>
          <p:nvPr/>
        </p:nvSpPr>
        <p:spPr>
          <a:xfrm>
            <a:off x="8988552" y="2194560"/>
            <a:ext cx="2651760" cy="3456432"/>
          </a:xfrm>
          <a:prstGeom prst="rect">
            <a:avLst/>
          </a:prstGeom>
          <a:solidFill>
            <a:srgbClr val="FBEDEA"/>
          </a:solidFill>
          <a:ln w="12700">
            <a:solidFill>
              <a:srgbClr val="FBEDEA"/>
            </a:solidFill>
            <a:prstDash val="solid"/>
          </a:ln>
        </p:spPr>
      </p:sp>
      <p:sp>
        <p:nvSpPr>
          <p:cNvPr id="23" name="col-head-3"/>
          <p:cNvSpPr txBox="1"/>
          <p:nvPr/>
        </p:nvSpPr>
        <p:spPr>
          <a:xfrm>
            <a:off x="9098280" y="2267712"/>
            <a:ext cx="2432304" cy="292608"/>
          </a:xfrm>
          <a:prstGeom prst="rect">
            <a:avLst/>
          </a:prstGeom>
          <a:noFill/>
          <a:ln/>
        </p:spPr>
        <p:txBody>
          <a:bodyPr wrap="square" lIns="0" tIns="0" rIns="0" bIns="0" rtlCol="0" anchor="t"/>
          <a:lstStyle/>
          <a:p>
            <a:pPr indent="0" marL="0">
              <a:buNone/>
            </a:pPr>
            <a:r>
              <a:rPr lang="en-US" sz="1500" b="1" dirty="0">
                <a:solidFill>
                  <a:schemeClr val="accent2"/>
                </a:solidFill>
                <a:latin typeface="Cambria" pitchFamily="34" charset="0"/>
                <a:ea typeface="Cambria" pitchFamily="34" charset="-122"/>
                <a:cs typeface="Cambria" pitchFamily="34" charset="-120"/>
              </a:rPr>
              <a:t>Challenges and setbacks</a:t>
            </a:r>
            <a:endParaRPr lang="en-US" sz="1500" dirty="0"/>
          </a:p>
        </p:txBody>
      </p:sp>
      <p:sp>
        <p:nvSpPr>
          <p:cNvPr id="24" name="col-body-3"/>
          <p:cNvSpPr txBox="1"/>
          <p:nvPr/>
        </p:nvSpPr>
        <p:spPr>
          <a:xfrm>
            <a:off x="9098280" y="2615184"/>
            <a:ext cx="2432304"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Unspecified delays: the June 2022 target was missed, now June 2028; no source gives the cause.</a:t>
            </a:r>
            <a:r>
              <a:rPr lang="en-US" sz="1100" baseline="30000" dirty="0">
                <a:solidFill>
                  <a:schemeClr val="tx1"/>
                </a:solidFill>
              </a:rPr>
              <a:t>15,18</a:t>
            </a:r>
            <a:r>
              <a:rPr lang="en-US" sz="1100" dirty="0">
                <a:solidFill>
                  <a:schemeClr val="tx1"/>
                </a:solidFill>
              </a:rPr>
              <a:t>*</a:t>
            </a:r>
            <a:endParaRPr lang="en-US" sz="1100" dirty="0"/>
          </a:p>
          <a:p>
            <a:pPr marL="165100" indent="-165100">
              <a:spcAft>
                <a:spcPts val="500"/>
              </a:spcAft>
              <a:buSzPct val="100000"/>
              <a:buChar char="•"/>
            </a:pPr>
            <a:r>
              <a:rPr lang="en-US" sz="1100" dirty="0">
                <a:solidFill>
                  <a:schemeClr val="tx1"/>
                </a:solidFill>
              </a:rPr>
              <a:t>Paying twice: a £220.3M Fujitsu extension keeps the old data centres running to 2028 as a contingency.</a:t>
            </a:r>
            <a:r>
              <a:rPr lang="en-US" sz="1100" baseline="30000" dirty="0">
                <a:solidFill>
                  <a:schemeClr val="tx1"/>
                </a:solidFill>
              </a:rPr>
              <a:t>23</a:t>
            </a:r>
            <a:endParaRPr lang="en-US" sz="1100" dirty="0"/>
          </a:p>
          <a:p>
            <a:pPr marL="165100" indent="-165100">
              <a:spcAft>
                <a:spcPts val="500"/>
              </a:spcAft>
              <a:buSzPct val="100000"/>
              <a:buChar char="•"/>
            </a:pPr>
            <a:r>
              <a:rPr lang="en-US" sz="1100" dirty="0">
                <a:solidFill>
                  <a:schemeClr val="tx1"/>
                </a:solidFill>
              </a:rPr>
              <a:t>Slow progress: over 48% moved by 2021 and 62% by 2023, yet the exit is not complete.</a:t>
            </a:r>
            <a:r>
              <a:rPr lang="en-US" sz="1100" baseline="30000" dirty="0">
                <a:solidFill>
                  <a:schemeClr val="tx1"/>
                </a:solidFill>
              </a:rPr>
              <a:t>18,22</a:t>
            </a:r>
            <a:endParaRPr lang="en-US" sz="1100" dirty="0"/>
          </a:p>
          <a:p>
            <a:pPr marL="165100" indent="-165100">
              <a:spcAft>
                <a:spcPts val="500"/>
              </a:spcAft>
              <a:buSzPct val="100000"/>
              <a:buChar char="•"/>
            </a:pPr>
            <a:r>
              <a:rPr lang="en-US" sz="1100" dirty="0">
                <a:solidFill>
                  <a:schemeClr val="tx1"/>
                </a:solidFill>
              </a:rPr>
              <a:t>Large estate: 600 services on more than 7,000 servers.</a:t>
            </a:r>
            <a:r>
              <a:rPr lang="en-US" sz="1100" baseline="30000" dirty="0">
                <a:solidFill>
                  <a:schemeClr val="tx1"/>
                </a:solidFill>
              </a:rPr>
              <a:t>21</a:t>
            </a:r>
            <a:endParaRPr lang="en-US" sz="1100" dirty="0"/>
          </a:p>
          <a:p>
            <a:pPr marL="165100" indent="-165100">
              <a:spcAft>
                <a:spcPts val="500"/>
              </a:spcAft>
              <a:buSzPct val="100000"/>
              <a:buChar char="•"/>
            </a:pPr>
            <a:r>
              <a:rPr lang="en-US" sz="1100" dirty="0">
                <a:solidFill>
                  <a:schemeClr val="tx1"/>
                </a:solidFill>
              </a:rPr>
              <a:t>The AWS contract can run to April 2036.</a:t>
            </a:r>
            <a:r>
              <a:rPr lang="en-US" sz="1100" baseline="30000" dirty="0">
                <a:solidFill>
                  <a:schemeClr val="tx1"/>
                </a:solidFill>
              </a:rPr>
              <a:t>19</a:t>
            </a:r>
            <a:endParaRPr lang="en-US" sz="1100" dirty="0"/>
          </a:p>
          <a:p>
            <a:pPr marL="165100" indent="-165100">
              <a:spcAft>
                <a:spcPts val="500"/>
              </a:spcAft>
              <a:buSzPct val="100000"/>
              <a:buChar char="•"/>
            </a:pPr>
            <a:r>
              <a:rPr lang="en-US" sz="1100" dirty="0">
                <a:solidFill>
                  <a:schemeClr val="tx1"/>
                </a:solidFill>
              </a:rPr>
              <a:t>No savings or performance figures have been published.*</a:t>
            </a:r>
            <a:endParaRPr lang="en-US" sz="1100" dirty="0"/>
          </a:p>
        </p:txBody>
      </p:sp>
      <p:sp>
        <p:nvSpPr>
          <p:cNvPr id="25" name="verdict-band"/>
          <p:cNvSpPr/>
          <p:nvPr/>
        </p:nvSpPr>
        <p:spPr>
          <a:xfrm>
            <a:off x="548640" y="5779008"/>
            <a:ext cx="11091672" cy="548640"/>
          </a:xfrm>
          <a:prstGeom prst="rect">
            <a:avLst/>
          </a:prstGeom>
          <a:solidFill>
            <a:schemeClr val="tx2"/>
          </a:solidFill>
          <a:ln w="12700">
            <a:solidFill>
              <a:schemeClr val="tx2"/>
            </a:solidFill>
            <a:prstDash val="solid"/>
          </a:ln>
        </p:spPr>
      </p:sp>
      <p:sp>
        <p:nvSpPr>
          <p:cNvPr id="26" name="verdict-text"/>
          <p:cNvSpPr txBox="1"/>
          <p:nvPr/>
        </p:nvSpPr>
        <p:spPr>
          <a:xfrm>
            <a:off x="731520" y="5779008"/>
            <a:ext cx="10789920" cy="548640"/>
          </a:xfrm>
          <a:prstGeom prst="rect">
            <a:avLst/>
          </a:prstGeom>
          <a:noFill/>
          <a:ln/>
        </p:spPr>
        <p:txBody>
          <a:bodyPr wrap="square" lIns="0" tIns="0" rIns="0" bIns="0" rtlCol="0" anchor="ctr"/>
          <a:lstStyle/>
          <a:p>
            <a:pPr indent="0" marL="0">
              <a:buNone/>
            </a:pPr>
            <a:r>
              <a:rPr lang="en-US" sz="1300" b="1" dirty="0">
                <a:solidFill>
                  <a:schemeClr val="bg1"/>
                </a:solidFill>
              </a:rPr>
              <a:t>Verdict: </a:t>
            </a:r>
            <a:r>
              <a:rPr lang="en-US" sz="1300" b="1" dirty="0">
                <a:solidFill>
                  <a:schemeClr val="bg1"/>
                </a:solidFill>
              </a:rPr>
              <a:t>Too early to judge; risks visible.*</a:t>
            </a:r>
            <a:r>
              <a:rPr lang="en-US" sz="1300" dirty="0">
                <a:solidFill>
                  <a:schemeClr val="bg1"/>
                </a:solidFill>
              </a:rPr>
              <a:t> Judged value for money in 2024</a:t>
            </a:r>
            <a:r>
              <a:rPr lang="en-US" sz="1300" baseline="30000" dirty="0">
                <a:solidFill>
                  <a:schemeClr val="bg1"/>
                </a:solidFill>
              </a:rPr>
              <a:t>14</a:t>
            </a:r>
            <a:r>
              <a:rPr lang="en-US" sz="1300" dirty="0">
                <a:solidFill>
                  <a:schemeClr val="bg1"/>
                </a:solidFill>
              </a:rPr>
              <a:t> and over half of services moved or retired,</a:t>
            </a:r>
            <a:r>
              <a:rPr lang="en-US" sz="1300" baseline="30000" dirty="0">
                <a:solidFill>
                  <a:schemeClr val="bg1"/>
                </a:solidFill>
              </a:rPr>
              <a:t>16</a:t>
            </a:r>
            <a:r>
              <a:rPr lang="en-US" sz="1300" dirty="0">
                <a:solidFill>
                  <a:schemeClr val="bg1"/>
                </a:solidFill>
              </a:rPr>
              <a:t> but the exit is about six years behind its original target.</a:t>
            </a:r>
            <a:r>
              <a:rPr lang="en-US" sz="1300" baseline="30000" dirty="0">
                <a:solidFill>
                  <a:schemeClr val="bg1"/>
                </a:solidFill>
              </a:rPr>
              <a:t>15,18</a:t>
            </a:r>
            <a:endParaRPr lang="en-US" sz="1300" dirty="0"/>
          </a:p>
        </p:txBody>
      </p:sp>
      <p:sp>
        <p:nvSpPr>
          <p:cNvPr id="25" name="Slide Number Placeholder 0"/>
          <p:cNvSpPr>
            <a:spLocks noGrp="1"/>
          </p:cNvSpPr>
          <p:nvPr>
            <p:ph type="sldNum" sz="quarter" idx="4294967295"/>
          </p:nvPr>
        </p:nvSpPr>
        <p:spPr>
          <a:xfrm>
            <a:off x="11155680"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Australian Census: from outage to zero downtime</a:t>
            </a:r>
            <a:endParaRPr lang="en-US" sz="3400" dirty="0"/>
          </a:p>
        </p:txBody>
      </p:sp>
      <p:pic>
        <p:nvPicPr>
          <p:cNvPr id="3" name="flag-au-0.60" descr="Flag of Australia">    </p:cNvPr>
          <p:cNvPicPr>
            <a:picLocks noChangeAspect="1"/>
          </p:cNvPicPr>
          <p:nvPr/>
        </p:nvPicPr>
        <p:blipFill>
          <a:blip r:embed="rId1"/>
          <a:stretch>
            <a:fillRect/>
          </a:stretch>
        </p:blipFill>
        <p:spPr>
          <a:xfrm>
            <a:off x="548640" y="987552"/>
            <a:ext cx="274320" cy="274320"/>
          </a:xfrm>
          <a:prstGeom prst="rect">
            <a:avLst/>
          </a:prstGeom>
        </p:spPr>
      </p:pic>
      <p:sp>
        <p:nvSpPr>
          <p:cNvPr id="4" name="flag-ring-au-0.60"/>
          <p:cNvSpPr/>
          <p:nvPr/>
        </p:nvSpPr>
        <p:spPr>
          <a:xfrm>
            <a:off x="548640" y="987552"/>
            <a:ext cx="274320" cy="274320"/>
          </a:xfrm>
          <a:prstGeom prst="ellipse">
            <a:avLst/>
          </a:prstGeom>
          <a:noFill/>
          <a:ln w="9525">
            <a:solidFill>
              <a:srgbClr val="C9CDD3"/>
            </a:solidFill>
            <a:prstDash val="solid"/>
          </a:ln>
        </p:spPr>
      </p:sp>
      <p:sp>
        <p:nvSpPr>
          <p:cNvPr id="5" name="case-meta"/>
          <p:cNvSpPr txBox="1"/>
          <p:nvPr/>
        </p:nvSpPr>
        <p:spPr>
          <a:xfrm>
            <a:off x="932688" y="978408"/>
            <a:ext cx="8138160" cy="292608"/>
          </a:xfrm>
          <a:prstGeom prst="rect">
            <a:avLst/>
          </a:prstGeom>
          <a:noFill/>
          <a:ln/>
        </p:spPr>
        <p:txBody>
          <a:bodyPr wrap="square" lIns="0" tIns="0" rIns="0" bIns="0" rtlCol="0" anchor="ctr"/>
          <a:lstStyle/>
          <a:p>
            <a:pPr indent="0" marL="0">
              <a:buNone/>
            </a:pPr>
            <a:r>
              <a:rPr lang="en-US" sz="1200" dirty="0">
                <a:solidFill>
                  <a:schemeClr val="accent5"/>
                </a:solidFill>
              </a:rPr>
              <a:t>Australia  ·  2016–2021  ·  Amazon Web Services</a:t>
            </a:r>
            <a:r>
              <a:rPr lang="en-US" sz="1200" baseline="30000" dirty="0">
                <a:solidFill>
                  <a:schemeClr val="accent5"/>
                </a:solidFill>
              </a:rPr>
              <a:t>27</a:t>
            </a:r>
            <a:r>
              <a:rPr lang="en-US" sz="1200" dirty="0">
                <a:solidFill>
                  <a:schemeClr val="accent5"/>
                </a:solidFill>
              </a:rPr>
              <a:t>  ·  Partial move: one workload, the online Census</a:t>
            </a:r>
            <a:r>
              <a:rPr lang="en-US" sz="1200" baseline="30000" dirty="0">
                <a:solidFill>
                  <a:schemeClr val="accent5"/>
                </a:solidFill>
              </a:rPr>
              <a:t>27</a:t>
            </a:r>
            <a:endParaRPr lang="en-US" sz="1200" dirty="0"/>
          </a:p>
        </p:txBody>
      </p:sp>
      <p:sp>
        <p:nvSpPr>
          <p:cNvPr id="6" name="case-evidence"/>
          <p:cNvSpPr txBox="1"/>
          <p:nvPr/>
        </p:nvSpPr>
        <p:spPr>
          <a:xfrm>
            <a:off x="9052560" y="978408"/>
            <a:ext cx="2587752" cy="292608"/>
          </a:xfrm>
          <a:prstGeom prst="rect">
            <a:avLst/>
          </a:prstGeom>
          <a:noFill/>
          <a:ln/>
        </p:spPr>
        <p:txBody>
          <a:bodyPr wrap="square" lIns="0" tIns="0" rIns="0" bIns="0" rtlCol="0" anchor="ctr"/>
          <a:lstStyle/>
          <a:p>
            <a:pPr algn="r" indent="0" marL="0">
              <a:buNone/>
            </a:pPr>
            <a:r>
              <a:rPr lang="en-US" sz="1200" b="1" dirty="0">
                <a:solidFill>
                  <a:schemeClr val="tx2"/>
                </a:solidFill>
              </a:rPr>
              <a:t>Evidence: </a:t>
            </a:r>
            <a:r>
              <a:rPr lang="en-US" sz="1200" dirty="0">
                <a:solidFill>
                  <a:schemeClr val="tx2"/>
                </a:solidFill>
              </a:rPr>
              <a:t>Government and audit (ANAO)</a:t>
            </a:r>
            <a:endParaRPr lang="en-US" sz="1200" dirty="0"/>
          </a:p>
        </p:txBody>
      </p:sp>
      <p:sp>
        <p:nvSpPr>
          <p:cNvPr id="7" name="stat-card-0"/>
          <p:cNvSpPr/>
          <p:nvPr/>
        </p:nvSpPr>
        <p:spPr>
          <a:xfrm>
            <a:off x="548640" y="1389888"/>
            <a:ext cx="3593592" cy="713232"/>
          </a:xfrm>
          <a:prstGeom prst="rect">
            <a:avLst/>
          </a:prstGeom>
          <a:solidFill>
            <a:schemeClr val="bg2"/>
          </a:solidFill>
          <a:ln w="12700">
            <a:solidFill>
              <a:schemeClr val="bg2"/>
            </a:solidFill>
            <a:prstDash val="solid"/>
          </a:ln>
        </p:spPr>
      </p:sp>
      <p:sp>
        <p:nvSpPr>
          <p:cNvPr id="8" name="stat-value-0"/>
          <p:cNvSpPr txBox="1"/>
          <p:nvPr/>
        </p:nvSpPr>
        <p:spPr>
          <a:xfrm>
            <a:off x="731520" y="1399032"/>
            <a:ext cx="1645920" cy="694944"/>
          </a:xfrm>
          <a:prstGeom prst="rect">
            <a:avLst/>
          </a:prstGeom>
          <a:noFill/>
          <a:ln/>
        </p:spPr>
        <p:txBody>
          <a:bodyPr wrap="square" lIns="0" tIns="0" rIns="0" bIns="0" rtlCol="0" anchor="ctr">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0</a:t>
            </a:r>
            <a:endParaRPr lang="en-US" sz="2600" dirty="0"/>
          </a:p>
        </p:txBody>
      </p:sp>
      <p:sp>
        <p:nvSpPr>
          <p:cNvPr id="9" name="stat-label-0"/>
          <p:cNvSpPr txBox="1"/>
          <p:nvPr/>
        </p:nvSpPr>
        <p:spPr>
          <a:xfrm>
            <a:off x="2423160" y="1399032"/>
            <a:ext cx="1600200" cy="694944"/>
          </a:xfrm>
          <a:prstGeom prst="rect">
            <a:avLst/>
          </a:prstGeom>
          <a:noFill/>
          <a:ln/>
        </p:spPr>
        <p:txBody>
          <a:bodyPr wrap="square" lIns="0" tIns="0" rIns="0" bIns="0" rtlCol="0" anchor="ctr"/>
          <a:lstStyle/>
          <a:p>
            <a:pPr indent="0" marL="0">
              <a:buNone/>
            </a:pPr>
            <a:r>
              <a:rPr lang="en-US" sz="1100" dirty="0">
                <a:solidFill>
                  <a:schemeClr val="tx1"/>
                </a:solidFill>
              </a:rPr>
              <a:t>hours of unscheduled downtime, 23 July to 1 October 2021</a:t>
            </a:r>
            <a:r>
              <a:rPr lang="en-US" sz="1100" baseline="30000" dirty="0">
                <a:solidFill>
                  <a:schemeClr val="tx1"/>
                </a:solidFill>
              </a:rPr>
              <a:t>31</a:t>
            </a:r>
            <a:endParaRPr lang="en-US" sz="1100" dirty="0"/>
          </a:p>
        </p:txBody>
      </p:sp>
      <p:sp>
        <p:nvSpPr>
          <p:cNvPr id="10" name="stat-card-1"/>
          <p:cNvSpPr/>
          <p:nvPr/>
        </p:nvSpPr>
        <p:spPr>
          <a:xfrm>
            <a:off x="4297680" y="1389888"/>
            <a:ext cx="3593592" cy="713232"/>
          </a:xfrm>
          <a:prstGeom prst="rect">
            <a:avLst/>
          </a:prstGeom>
          <a:solidFill>
            <a:schemeClr val="bg2"/>
          </a:solidFill>
          <a:ln w="12700">
            <a:solidFill>
              <a:schemeClr val="bg2"/>
            </a:solidFill>
            <a:prstDash val="solid"/>
          </a:ln>
        </p:spPr>
      </p:sp>
      <p:sp>
        <p:nvSpPr>
          <p:cNvPr id="11" name="stat-value-1"/>
          <p:cNvSpPr txBox="1"/>
          <p:nvPr/>
        </p:nvSpPr>
        <p:spPr>
          <a:xfrm>
            <a:off x="4480560" y="1399032"/>
            <a:ext cx="1645920" cy="694944"/>
          </a:xfrm>
          <a:prstGeom prst="rect">
            <a:avLst/>
          </a:prstGeom>
          <a:noFill/>
          <a:ln/>
        </p:spPr>
        <p:txBody>
          <a:bodyPr wrap="square" lIns="0" tIns="0" rIns="0" bIns="0" rtlCol="0" anchor="ctr">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~80%</a:t>
            </a:r>
            <a:endParaRPr lang="en-US" sz="2600" dirty="0"/>
          </a:p>
        </p:txBody>
      </p:sp>
      <p:sp>
        <p:nvSpPr>
          <p:cNvPr id="12" name="stat-label-1"/>
          <p:cNvSpPr txBox="1"/>
          <p:nvPr/>
        </p:nvSpPr>
        <p:spPr>
          <a:xfrm>
            <a:off x="6172200" y="1399032"/>
            <a:ext cx="1600200" cy="694944"/>
          </a:xfrm>
          <a:prstGeom prst="rect">
            <a:avLst/>
          </a:prstGeom>
          <a:noFill/>
          <a:ln/>
        </p:spPr>
        <p:txBody>
          <a:bodyPr wrap="square" lIns="0" tIns="0" rIns="0" bIns="0" rtlCol="0" anchor="ctr"/>
          <a:lstStyle/>
          <a:p>
            <a:pPr indent="0" marL="0">
              <a:buNone/>
            </a:pPr>
            <a:r>
              <a:rPr lang="en-US" sz="1100" dirty="0">
                <a:solidFill>
                  <a:schemeClr val="tx1"/>
                </a:solidFill>
              </a:rPr>
              <a:t>of returns made online in 2021, up from 63% in 2016</a:t>
            </a:r>
            <a:r>
              <a:rPr lang="en-US" sz="1100" baseline="30000" dirty="0">
                <a:solidFill>
                  <a:schemeClr val="tx1"/>
                </a:solidFill>
              </a:rPr>
              <a:t>25,28</a:t>
            </a:r>
            <a:endParaRPr lang="en-US" sz="1100" dirty="0"/>
          </a:p>
        </p:txBody>
      </p:sp>
      <p:sp>
        <p:nvSpPr>
          <p:cNvPr id="13" name="stat-card-2"/>
          <p:cNvSpPr/>
          <p:nvPr/>
        </p:nvSpPr>
        <p:spPr>
          <a:xfrm>
            <a:off x="8046720" y="1389888"/>
            <a:ext cx="3593592" cy="713232"/>
          </a:xfrm>
          <a:prstGeom prst="rect">
            <a:avLst/>
          </a:prstGeom>
          <a:solidFill>
            <a:schemeClr val="bg2"/>
          </a:solidFill>
          <a:ln w="12700">
            <a:solidFill>
              <a:schemeClr val="bg2"/>
            </a:solidFill>
            <a:prstDash val="solid"/>
          </a:ln>
        </p:spPr>
      </p:sp>
      <p:sp>
        <p:nvSpPr>
          <p:cNvPr id="14" name="stat-value-2"/>
          <p:cNvSpPr txBox="1"/>
          <p:nvPr/>
        </p:nvSpPr>
        <p:spPr>
          <a:xfrm>
            <a:off x="8229600" y="1399032"/>
            <a:ext cx="1645920" cy="694944"/>
          </a:xfrm>
          <a:prstGeom prst="rect">
            <a:avLst/>
          </a:prstGeom>
          <a:noFill/>
          <a:ln/>
        </p:spPr>
        <p:txBody>
          <a:bodyPr wrap="square" lIns="0" tIns="0" rIns="0" bIns="0" rtlCol="0" anchor="ctr">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96.1%</a:t>
            </a:r>
            <a:endParaRPr lang="en-US" sz="2600" dirty="0"/>
          </a:p>
        </p:txBody>
      </p:sp>
      <p:sp>
        <p:nvSpPr>
          <p:cNvPr id="15" name="stat-label-2"/>
          <p:cNvSpPr txBox="1"/>
          <p:nvPr/>
        </p:nvSpPr>
        <p:spPr>
          <a:xfrm>
            <a:off x="9921240" y="1399032"/>
            <a:ext cx="1600200" cy="694944"/>
          </a:xfrm>
          <a:prstGeom prst="rect">
            <a:avLst/>
          </a:prstGeom>
          <a:noFill/>
          <a:ln/>
        </p:spPr>
        <p:txBody>
          <a:bodyPr wrap="square" lIns="0" tIns="0" rIns="0" bIns="0" rtlCol="0" anchor="ctr"/>
          <a:lstStyle/>
          <a:p>
            <a:pPr indent="0" marL="0">
              <a:buNone/>
            </a:pPr>
            <a:r>
              <a:rPr lang="en-US" sz="1100" dirty="0">
                <a:solidFill>
                  <a:schemeClr val="tx1"/>
                </a:solidFill>
              </a:rPr>
              <a:t>overall response rate</a:t>
            </a:r>
            <a:r>
              <a:rPr lang="en-US" sz="1100" baseline="30000" dirty="0">
                <a:solidFill>
                  <a:schemeClr val="tx1"/>
                </a:solidFill>
              </a:rPr>
              <a:t>28</a:t>
            </a:r>
            <a:endParaRPr lang="en-US" sz="1100" dirty="0"/>
          </a:p>
        </p:txBody>
      </p:sp>
      <p:sp>
        <p:nvSpPr>
          <p:cNvPr id="16" name="col-head-0"/>
          <p:cNvSpPr txBox="1"/>
          <p:nvPr/>
        </p:nvSpPr>
        <p:spPr>
          <a:xfrm>
            <a:off x="548640" y="2267712"/>
            <a:ext cx="2651760" cy="292608"/>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Why they moved</a:t>
            </a:r>
            <a:endParaRPr lang="en-US" sz="1500" dirty="0"/>
          </a:p>
        </p:txBody>
      </p:sp>
      <p:sp>
        <p:nvSpPr>
          <p:cNvPr id="17" name="col-body-0"/>
          <p:cNvSpPr txBox="1"/>
          <p:nvPr/>
        </p:nvSpPr>
        <p:spPr>
          <a:xfrm>
            <a:off x="548640" y="2615184"/>
            <a:ext cx="2651760"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2016 was the first "digital first" Census, aiming for 65% of responses online.</a:t>
            </a:r>
            <a:r>
              <a:rPr lang="en-US" sz="1100" baseline="30000" dirty="0">
                <a:solidFill>
                  <a:schemeClr val="tx1"/>
                </a:solidFill>
              </a:rPr>
              <a:t>25</a:t>
            </a:r>
            <a:endParaRPr lang="en-US" sz="1100" dirty="0"/>
          </a:p>
          <a:p>
            <a:pPr marL="165100" indent="-165100">
              <a:spcAft>
                <a:spcPts val="500"/>
              </a:spcAft>
              <a:buSzPct val="100000"/>
              <a:buChar char="•"/>
            </a:pPr>
            <a:r>
              <a:rPr lang="en-US" sz="1100" dirty="0">
                <a:solidFill>
                  <a:schemeClr val="tx1"/>
                </a:solidFill>
              </a:rPr>
              <a:t>On Census night, 9 August 2016, a failure of multiple IT controls closed the Census webpage for two days.</a:t>
            </a:r>
            <a:r>
              <a:rPr lang="en-US" sz="1100" baseline="30000" dirty="0">
                <a:solidFill>
                  <a:schemeClr val="tx1"/>
                </a:solidFill>
              </a:rPr>
              <a:t>25</a:t>
            </a:r>
            <a:endParaRPr lang="en-US" sz="1100" dirty="0"/>
          </a:p>
          <a:p>
            <a:pPr marL="165100" indent="-165100">
              <a:spcAft>
                <a:spcPts val="500"/>
              </a:spcAft>
              <a:buSzPct val="100000"/>
              <a:buChar char="•"/>
            </a:pPr>
            <a:r>
              <a:rPr lang="en-US" sz="1100" dirty="0">
                <a:solidFill>
                  <a:schemeClr val="tx1"/>
                </a:solidFill>
              </a:rPr>
              <a:t>The audit attributes the closure to cyber attacks.</a:t>
            </a:r>
            <a:r>
              <a:rPr lang="en-US" sz="1100" baseline="30000" dirty="0">
                <a:solidFill>
                  <a:schemeClr val="tx1"/>
                </a:solidFill>
              </a:rPr>
              <a:t>25</a:t>
            </a:r>
            <a:endParaRPr lang="en-US" sz="1100" dirty="0"/>
          </a:p>
          <a:p>
            <a:pPr marL="165100" indent="-165100">
              <a:spcAft>
                <a:spcPts val="500"/>
              </a:spcAft>
              <a:buSzPct val="100000"/>
              <a:buChar char="•"/>
            </a:pPr>
            <a:r>
              <a:rPr lang="en-US" sz="1100" dirty="0">
                <a:solidFill>
                  <a:schemeClr val="tx1"/>
                </a:solidFill>
              </a:rPr>
              <a:t>Reviews made 36 recommendations, 29 of them for the ABS.</a:t>
            </a:r>
            <a:r>
              <a:rPr lang="en-US" sz="1100" baseline="30000" dirty="0">
                <a:solidFill>
                  <a:schemeClr val="tx1"/>
                </a:solidFill>
              </a:rPr>
              <a:t>25</a:t>
            </a:r>
            <a:endParaRPr lang="en-US" sz="1100" dirty="0"/>
          </a:p>
        </p:txBody>
      </p:sp>
      <p:sp>
        <p:nvSpPr>
          <p:cNvPr id="18" name="col-head-1"/>
          <p:cNvSpPr txBox="1"/>
          <p:nvPr/>
        </p:nvSpPr>
        <p:spPr>
          <a:xfrm>
            <a:off x="3361944" y="2267712"/>
            <a:ext cx="2651760" cy="292608"/>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What they did</a:t>
            </a:r>
            <a:endParaRPr lang="en-US" sz="1500" dirty="0"/>
          </a:p>
        </p:txBody>
      </p:sp>
      <p:sp>
        <p:nvSpPr>
          <p:cNvPr id="19" name="col-body-1"/>
          <p:cNvSpPr txBox="1"/>
          <p:nvPr/>
        </p:nvSpPr>
        <p:spPr>
          <a:xfrm>
            <a:off x="3361944" y="2615184"/>
            <a:ext cx="2651760"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2017: first cloud use, an AWS form for Australians overseas in the Marriage Law Postal Survey.</a:t>
            </a:r>
            <a:r>
              <a:rPr lang="en-US" sz="1100" baseline="30000" dirty="0">
                <a:solidFill>
                  <a:schemeClr val="tx1"/>
                </a:solidFill>
              </a:rPr>
              <a:t>28</a:t>
            </a:r>
            <a:endParaRPr lang="en-US" sz="1100" dirty="0"/>
          </a:p>
          <a:p>
            <a:pPr marL="165100" indent="-165100">
              <a:spcAft>
                <a:spcPts val="500"/>
              </a:spcAft>
              <a:buSzPct val="100000"/>
              <a:buChar char="•"/>
            </a:pPr>
            <a:r>
              <a:rPr lang="en-US" sz="1100" dirty="0">
                <a:solidFill>
                  <a:schemeClr val="tx1"/>
                </a:solidFill>
              </a:rPr>
              <a:t>PwC built and ran the 2021 online form, website and help on AWS.</a:t>
            </a:r>
            <a:r>
              <a:rPr lang="en-US" sz="1100" baseline="30000" dirty="0">
                <a:solidFill>
                  <a:schemeClr val="tx1"/>
                </a:solidFill>
              </a:rPr>
              <a:t>27</a:t>
            </a:r>
            <a:endParaRPr lang="en-US" sz="1100" dirty="0"/>
          </a:p>
          <a:p>
            <a:pPr marL="165100" indent="-165100">
              <a:spcAft>
                <a:spcPts val="500"/>
              </a:spcAft>
              <a:buSzPct val="100000"/>
              <a:buChar char="•"/>
            </a:pPr>
            <a:r>
              <a:rPr lang="en-US" sz="1100" dirty="0">
                <a:solidFill>
                  <a:schemeClr val="tx1"/>
                </a:solidFill>
              </a:rPr>
              <a:t>The site scaled automatically: the first Census run on the cloud.</a:t>
            </a:r>
            <a:r>
              <a:rPr lang="en-US" sz="1100" baseline="30000" dirty="0">
                <a:solidFill>
                  <a:schemeClr val="tx1"/>
                </a:solidFill>
              </a:rPr>
              <a:t>29</a:t>
            </a:r>
            <a:endParaRPr lang="en-US" sz="1100" dirty="0"/>
          </a:p>
          <a:p>
            <a:pPr marL="165100" indent="-165100">
              <a:spcAft>
                <a:spcPts val="500"/>
              </a:spcAft>
              <a:buSzPct val="100000"/>
              <a:buChar char="•"/>
            </a:pPr>
            <a:r>
              <a:rPr lang="en-US" sz="1100" dirty="0">
                <a:solidFill>
                  <a:schemeClr val="tx1"/>
                </a:solidFill>
              </a:rPr>
              <a:t>It was tested at more than 2,000 times expected peak demand.</a:t>
            </a:r>
            <a:r>
              <a:rPr lang="en-US" sz="1100" baseline="30000" dirty="0">
                <a:solidFill>
                  <a:schemeClr val="tx1"/>
                </a:solidFill>
              </a:rPr>
              <a:t>26</a:t>
            </a:r>
            <a:endParaRPr lang="en-US" sz="1100" dirty="0"/>
          </a:p>
        </p:txBody>
      </p:sp>
      <p:sp>
        <p:nvSpPr>
          <p:cNvPr id="20" name="col-head-2"/>
          <p:cNvSpPr txBox="1"/>
          <p:nvPr/>
        </p:nvSpPr>
        <p:spPr>
          <a:xfrm>
            <a:off x="6175248" y="2267712"/>
            <a:ext cx="2651760" cy="292608"/>
          </a:xfrm>
          <a:prstGeom prst="rect">
            <a:avLst/>
          </a:prstGeom>
          <a:noFill/>
          <a:ln/>
        </p:spPr>
        <p:txBody>
          <a:bodyPr wrap="square" lIns="0" tIns="0" rIns="0" bIns="0" rtlCol="0" anchor="t"/>
          <a:lstStyle/>
          <a:p>
            <a:pPr indent="0" marL="0">
              <a:buNone/>
            </a:pPr>
            <a:r>
              <a:rPr lang="en-US" sz="1500" b="1" dirty="0">
                <a:solidFill>
                  <a:schemeClr val="accent3"/>
                </a:solidFill>
                <a:latin typeface="Cambria" pitchFamily="34" charset="0"/>
                <a:ea typeface="Cambria" pitchFamily="34" charset="-122"/>
                <a:cs typeface="Cambria" pitchFamily="34" charset="-120"/>
              </a:rPr>
              <a:t>What went well</a:t>
            </a:r>
            <a:endParaRPr lang="en-US" sz="1500" dirty="0"/>
          </a:p>
        </p:txBody>
      </p:sp>
      <p:sp>
        <p:nvSpPr>
          <p:cNvPr id="21" name="col-body-2"/>
          <p:cNvSpPr txBox="1"/>
          <p:nvPr/>
        </p:nvSpPr>
        <p:spPr>
          <a:xfrm>
            <a:off x="6175248" y="2615184"/>
            <a:ext cx="2651760"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No unscheduled downtime from 23 July to 1 October 2021.</a:t>
            </a:r>
            <a:r>
              <a:rPr lang="en-US" sz="1100" baseline="30000" dirty="0">
                <a:solidFill>
                  <a:schemeClr val="tx1"/>
                </a:solidFill>
              </a:rPr>
              <a:t>31</a:t>
            </a:r>
            <a:endParaRPr lang="en-US" sz="1100" dirty="0"/>
          </a:p>
          <a:p>
            <a:pPr marL="165100" indent="-165100">
              <a:spcAft>
                <a:spcPts val="500"/>
              </a:spcAft>
              <a:buSzPct val="100000"/>
              <a:buChar char="•"/>
            </a:pPr>
            <a:r>
              <a:rPr lang="en-US" sz="1100" dirty="0">
                <a:solidFill>
                  <a:schemeClr val="tx1"/>
                </a:solidFill>
              </a:rPr>
              <a:t>2.5 million households submitted in the 24 hours of Census day.</a:t>
            </a:r>
            <a:r>
              <a:rPr lang="en-US" sz="1100" baseline="30000" dirty="0">
                <a:solidFill>
                  <a:schemeClr val="tx1"/>
                </a:solidFill>
              </a:rPr>
              <a:t>31</a:t>
            </a:r>
            <a:endParaRPr lang="en-US" sz="1100" dirty="0"/>
          </a:p>
          <a:p>
            <a:pPr marL="165100" indent="-165100">
              <a:spcAft>
                <a:spcPts val="500"/>
              </a:spcAft>
              <a:buSzPct val="100000"/>
              <a:buChar char="•"/>
            </a:pPr>
            <a:r>
              <a:rPr lang="en-US" sz="1100" dirty="0">
                <a:solidFill>
                  <a:schemeClr val="tx1"/>
                </a:solidFill>
              </a:rPr>
              <a:t>Peak hour: 142 submissions a second and 806,000 users.</a:t>
            </a:r>
            <a:r>
              <a:rPr lang="en-US" sz="1100" baseline="30000" dirty="0">
                <a:solidFill>
                  <a:schemeClr val="tx1"/>
                </a:solidFill>
              </a:rPr>
              <a:t>31</a:t>
            </a:r>
            <a:endParaRPr lang="en-US" sz="1100" dirty="0"/>
          </a:p>
          <a:p>
            <a:pPr marL="165100" indent="-165100">
              <a:spcAft>
                <a:spcPts val="500"/>
              </a:spcAft>
              <a:buSzPct val="100000"/>
              <a:buChar char="•"/>
            </a:pPr>
            <a:r>
              <a:rPr lang="en-US" sz="1100" dirty="0">
                <a:solidFill>
                  <a:schemeClr val="tx1"/>
                </a:solidFill>
              </a:rPr>
              <a:t>Nearly 1 billion attempted cyber attacks repelled.</a:t>
            </a:r>
            <a:r>
              <a:rPr lang="en-US" sz="1100" baseline="30000" dirty="0">
                <a:solidFill>
                  <a:schemeClr val="tx1"/>
                </a:solidFill>
              </a:rPr>
              <a:t>31</a:t>
            </a:r>
            <a:endParaRPr lang="en-US" sz="1100" dirty="0"/>
          </a:p>
          <a:p>
            <a:pPr marL="165100" indent="-165100">
              <a:spcAft>
                <a:spcPts val="500"/>
              </a:spcAft>
              <a:buSzPct val="100000"/>
              <a:buChar char="•"/>
            </a:pPr>
            <a:r>
              <a:rPr lang="en-US" sz="1100" dirty="0">
                <a:solidFill>
                  <a:schemeClr val="tx1"/>
                </a:solidFill>
              </a:rPr>
              <a:t>Almost 7.7 million forms online, just under 80% of returns.</a:t>
            </a:r>
            <a:r>
              <a:rPr lang="en-US" sz="1100" baseline="30000" dirty="0">
                <a:solidFill>
                  <a:schemeClr val="tx1"/>
                </a:solidFill>
              </a:rPr>
              <a:t>28</a:t>
            </a:r>
            <a:endParaRPr lang="en-US" sz="1100" dirty="0"/>
          </a:p>
        </p:txBody>
      </p:sp>
      <p:sp>
        <p:nvSpPr>
          <p:cNvPr id="22" name="bad-panel"/>
          <p:cNvSpPr/>
          <p:nvPr/>
        </p:nvSpPr>
        <p:spPr>
          <a:xfrm>
            <a:off x="8988552" y="2194560"/>
            <a:ext cx="2651760" cy="3456432"/>
          </a:xfrm>
          <a:prstGeom prst="rect">
            <a:avLst/>
          </a:prstGeom>
          <a:solidFill>
            <a:srgbClr val="FBEDEA"/>
          </a:solidFill>
          <a:ln w="12700">
            <a:solidFill>
              <a:srgbClr val="FBEDEA"/>
            </a:solidFill>
            <a:prstDash val="solid"/>
          </a:ln>
        </p:spPr>
      </p:sp>
      <p:sp>
        <p:nvSpPr>
          <p:cNvPr id="23" name="col-head-3"/>
          <p:cNvSpPr txBox="1"/>
          <p:nvPr/>
        </p:nvSpPr>
        <p:spPr>
          <a:xfrm>
            <a:off x="9098280" y="2267712"/>
            <a:ext cx="2432304" cy="292608"/>
          </a:xfrm>
          <a:prstGeom prst="rect">
            <a:avLst/>
          </a:prstGeom>
          <a:noFill/>
          <a:ln/>
        </p:spPr>
        <p:txBody>
          <a:bodyPr wrap="square" lIns="0" tIns="0" rIns="0" bIns="0" rtlCol="0" anchor="t"/>
          <a:lstStyle/>
          <a:p>
            <a:pPr indent="0" marL="0">
              <a:buNone/>
            </a:pPr>
            <a:r>
              <a:rPr lang="en-US" sz="1500" b="1" dirty="0">
                <a:solidFill>
                  <a:schemeClr val="accent2"/>
                </a:solidFill>
                <a:latin typeface="Cambria" pitchFamily="34" charset="0"/>
                <a:ea typeface="Cambria" pitchFamily="34" charset="-122"/>
                <a:cs typeface="Cambria" pitchFamily="34" charset="-120"/>
              </a:rPr>
              <a:t>Challenges and setbacks</a:t>
            </a:r>
            <a:endParaRPr lang="en-US" sz="1500" dirty="0"/>
          </a:p>
        </p:txBody>
      </p:sp>
      <p:sp>
        <p:nvSpPr>
          <p:cNvPr id="24" name="col-body-3"/>
          <p:cNvSpPr txBox="1"/>
          <p:nvPr/>
        </p:nvSpPr>
        <p:spPr>
          <a:xfrm>
            <a:off x="9098280" y="2615184"/>
            <a:ext cx="2432304" cy="30175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chemeClr val="tx1"/>
                </a:solidFill>
              </a:rPr>
              <a:t>Narrow scope: only one workload moved, the online form, website and help.</a:t>
            </a:r>
            <a:r>
              <a:rPr lang="en-US" sz="1100" baseline="30000" dirty="0">
                <a:solidFill>
                  <a:schemeClr val="tx1"/>
                </a:solidFill>
              </a:rPr>
              <a:t>27</a:t>
            </a:r>
            <a:endParaRPr lang="en-US" sz="1100" dirty="0"/>
          </a:p>
          <a:p>
            <a:pPr marL="165100" indent="-165100">
              <a:spcAft>
                <a:spcPts val="500"/>
              </a:spcAft>
              <a:buSzPct val="100000"/>
              <a:buChar char="•"/>
            </a:pPr>
            <a:r>
              <a:rPr lang="en-US" sz="1100" dirty="0">
                <a:solidFill>
                  <a:schemeClr val="tx1"/>
                </a:solidFill>
              </a:rPr>
              <a:t>No wider move of the ABS's other systems is reported.*</a:t>
            </a:r>
            <a:endParaRPr lang="en-US" sz="1100" dirty="0"/>
          </a:p>
          <a:p>
            <a:pPr marL="165100" indent="-165100">
              <a:spcAft>
                <a:spcPts val="500"/>
              </a:spcAft>
              <a:buSzPct val="100000"/>
              <a:buChar char="•"/>
            </a:pPr>
            <a:r>
              <a:rPr lang="en-US" sz="1100" dirty="0">
                <a:solidFill>
                  <a:schemeClr val="tx1"/>
                </a:solidFill>
              </a:rPr>
              <a:t>Outsourced: PwC built and ran the service, on AWS.</a:t>
            </a:r>
            <a:r>
              <a:rPr lang="en-US" sz="1100" baseline="30000" dirty="0">
                <a:solidFill>
                  <a:schemeClr val="tx1"/>
                </a:solidFill>
              </a:rPr>
              <a:t>27</a:t>
            </a:r>
            <a:endParaRPr lang="en-US" sz="1100" dirty="0"/>
          </a:p>
          <a:p>
            <a:pPr marL="165100" indent="-165100">
              <a:spcAft>
                <a:spcPts val="500"/>
              </a:spcAft>
              <a:buSzPct val="100000"/>
              <a:buChar char="•"/>
            </a:pPr>
            <a:r>
              <a:rPr lang="en-US" sz="1100" dirty="0">
                <a:solidFill>
                  <a:schemeClr val="tx1"/>
                </a:solidFill>
              </a:rPr>
              <a:t>Cost: the Census Digital Service contract was capped at A$35.3M.</a:t>
            </a:r>
            <a:r>
              <a:rPr lang="en-US" sz="1100" baseline="30000" dirty="0">
                <a:solidFill>
                  <a:schemeClr val="tx1"/>
                </a:solidFill>
              </a:rPr>
              <a:t>25</a:t>
            </a:r>
            <a:endParaRPr lang="en-US" sz="1100" dirty="0"/>
          </a:p>
          <a:p>
            <a:pPr marL="165100" indent="-165100">
              <a:spcAft>
                <a:spcPts val="500"/>
              </a:spcAft>
              <a:buSzPct val="100000"/>
              <a:buChar char="•"/>
            </a:pPr>
            <a:r>
              <a:rPr lang="en-US" sz="1100" dirty="0">
                <a:solidFill>
                  <a:schemeClr val="tx1"/>
                </a:solidFill>
              </a:rPr>
              <a:t>Not independently checked: the ANAO audited planning (2020); the 2021 results come from the ABS.</a:t>
            </a:r>
            <a:r>
              <a:rPr lang="en-US" sz="1100" baseline="30000" dirty="0">
                <a:solidFill>
                  <a:schemeClr val="tx1"/>
                </a:solidFill>
              </a:rPr>
              <a:t>25,28,31</a:t>
            </a:r>
            <a:endParaRPr lang="en-US" sz="1100" dirty="0"/>
          </a:p>
          <a:p>
            <a:pPr marL="165100" indent="-165100">
              <a:spcAft>
                <a:spcPts val="500"/>
              </a:spcAft>
              <a:buSzPct val="100000"/>
              <a:buChar char="•"/>
            </a:pPr>
            <a:r>
              <a:rPr lang="en-US" sz="1100" dirty="0">
                <a:solidFill>
                  <a:schemeClr val="tx1"/>
                </a:solidFill>
              </a:rPr>
              <a:t>No cost comparison with the 2016 Census was published.*</a:t>
            </a:r>
            <a:endParaRPr lang="en-US" sz="1100" dirty="0"/>
          </a:p>
        </p:txBody>
      </p:sp>
      <p:sp>
        <p:nvSpPr>
          <p:cNvPr id="25" name="verdict-band"/>
          <p:cNvSpPr/>
          <p:nvPr/>
        </p:nvSpPr>
        <p:spPr>
          <a:xfrm>
            <a:off x="548640" y="5779008"/>
            <a:ext cx="11091672" cy="548640"/>
          </a:xfrm>
          <a:prstGeom prst="rect">
            <a:avLst/>
          </a:prstGeom>
          <a:solidFill>
            <a:schemeClr val="tx2"/>
          </a:solidFill>
          <a:ln w="12700">
            <a:solidFill>
              <a:schemeClr val="tx2"/>
            </a:solidFill>
            <a:prstDash val="solid"/>
          </a:ln>
        </p:spPr>
      </p:sp>
      <p:sp>
        <p:nvSpPr>
          <p:cNvPr id="26" name="verdict-text"/>
          <p:cNvSpPr txBox="1"/>
          <p:nvPr/>
        </p:nvSpPr>
        <p:spPr>
          <a:xfrm>
            <a:off x="731520" y="5779008"/>
            <a:ext cx="10789920" cy="548640"/>
          </a:xfrm>
          <a:prstGeom prst="rect">
            <a:avLst/>
          </a:prstGeom>
          <a:noFill/>
          <a:ln/>
        </p:spPr>
        <p:txBody>
          <a:bodyPr wrap="square" lIns="0" tIns="0" rIns="0" bIns="0" rtlCol="0" anchor="ctr"/>
          <a:lstStyle/>
          <a:p>
            <a:pPr indent="0" marL="0">
              <a:buNone/>
            </a:pPr>
            <a:r>
              <a:rPr lang="en-US" sz="1300" b="1" dirty="0">
                <a:solidFill>
                  <a:schemeClr val="bg1"/>
                </a:solidFill>
              </a:rPr>
              <a:t>Verdict: </a:t>
            </a:r>
            <a:r>
              <a:rPr lang="en-US" sz="1300" b="1" dirty="0">
                <a:solidFill>
                  <a:schemeClr val="bg1"/>
                </a:solidFill>
              </a:rPr>
              <a:t>Positive.*</a:t>
            </a:r>
            <a:r>
              <a:rPr lang="en-US" sz="1300" dirty="0">
                <a:solidFill>
                  <a:schemeClr val="bg1"/>
                </a:solidFill>
              </a:rPr>
              <a:t> A census is a huge spike in demand every five years, which suits capacity that grows on demand; ABS figures show it ran without downtime.</a:t>
            </a:r>
            <a:r>
              <a:rPr lang="en-US" sz="1300" baseline="30000" dirty="0">
                <a:solidFill>
                  <a:schemeClr val="bg1"/>
                </a:solidFill>
              </a:rPr>
              <a:t>28,31</a:t>
            </a:r>
            <a:endParaRPr lang="en-US" sz="1300" dirty="0"/>
          </a:p>
        </p:txBody>
      </p:sp>
      <p:sp>
        <p:nvSpPr>
          <p:cNvPr id="25" name="Slide Number Placeholder 0"/>
          <p:cNvSpPr>
            <a:spLocks noGrp="1"/>
          </p:cNvSpPr>
          <p:nvPr>
            <p:ph type="sldNum" sz="quarter" idx="4294967295"/>
          </p:nvPr>
        </p:nvSpPr>
        <p:spPr>
          <a:xfrm>
            <a:off x="11155680"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Conclusions: lessons learned and common ground</a:t>
            </a:r>
            <a:endParaRPr lang="en-US" sz="3400" dirty="0"/>
          </a:p>
        </p:txBody>
      </p:sp>
      <p:sp>
        <p:nvSpPr>
          <p:cNvPr id="3" name="con-head-0"/>
          <p:cNvSpPr txBox="1"/>
          <p:nvPr/>
        </p:nvSpPr>
        <p:spPr>
          <a:xfrm>
            <a:off x="548640" y="1097280"/>
            <a:ext cx="539496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Lessons learned</a:t>
            </a:r>
            <a:endParaRPr lang="en-US" sz="2000" dirty="0"/>
          </a:p>
        </p:txBody>
      </p:sp>
      <p:sp>
        <p:nvSpPr>
          <p:cNvPr id="4" name="con-num-bg-0-0"/>
          <p:cNvSpPr/>
          <p:nvPr/>
        </p:nvSpPr>
        <p:spPr>
          <a:xfrm>
            <a:off x="548640" y="1664208"/>
            <a:ext cx="384048" cy="384048"/>
          </a:xfrm>
          <a:prstGeom prst="ellipse">
            <a:avLst/>
          </a:prstGeom>
          <a:solidFill>
            <a:schemeClr val="accent1"/>
          </a:solidFill>
          <a:ln w="12700">
            <a:solidFill>
              <a:schemeClr val="accent1"/>
            </a:solidFill>
            <a:prstDash val="solid"/>
          </a:ln>
        </p:spPr>
      </p:sp>
      <p:sp>
        <p:nvSpPr>
          <p:cNvPr id="5" name="con-num-0-0"/>
          <p:cNvSpPr txBox="1"/>
          <p:nvPr/>
        </p:nvSpPr>
        <p:spPr>
          <a:xfrm>
            <a:off x="548640" y="16642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con-item-0-0"/>
          <p:cNvSpPr txBox="1"/>
          <p:nvPr/>
        </p:nvSpPr>
        <p:spPr>
          <a:xfrm>
            <a:off x="1097280" y="1645920"/>
            <a:ext cx="4846320" cy="868680"/>
          </a:xfrm>
          <a:prstGeom prst="rect">
            <a:avLst/>
          </a:prstGeom>
          <a:noFill/>
          <a:ln/>
        </p:spPr>
        <p:txBody>
          <a:bodyPr wrap="square" lIns="0" tIns="0" rIns="0" bIns="0" rtlCol="0" anchor="t"/>
          <a:lstStyle/>
          <a:p>
            <a:pPr indent="0" marL="0">
              <a:buNone/>
            </a:pPr>
            <a:r>
              <a:rPr lang="en-US" sz="1500" b="1" dirty="0">
                <a:solidFill>
                  <a:schemeClr val="tx2"/>
                </a:solidFill>
              </a:rPr>
              <a:t>Budget for paying twice</a:t>
            </a:r>
            <a:endParaRPr lang="en-US" sz="1500" dirty="0"/>
          </a:p>
          <a:p>
            <a:pPr indent="0" marL="0">
              <a:buNone/>
            </a:pPr>
            <a:r>
              <a:rPr lang="en-US" sz="1200" dirty="0">
                <a:solidFill>
                  <a:schemeClr val="tx1"/>
                </a:solidFill>
              </a:rPr>
              <a:t>New Zealand agencies said running old and new systems side by side strained budgets.</a:t>
            </a:r>
            <a:r>
              <a:rPr lang="en-US" sz="1200" baseline="30000" dirty="0">
                <a:solidFill>
                  <a:schemeClr val="tx1"/>
                </a:solidFill>
              </a:rPr>
              <a:t>7</a:t>
            </a:r>
            <a:r>
              <a:rPr lang="en-US" sz="1200" dirty="0">
                <a:solidFill>
                  <a:schemeClr val="tx1"/>
                </a:solidFill>
              </a:rPr>
              <a:t> HMRC paid £220.3M to keep its old data centres open to 2028.</a:t>
            </a:r>
            <a:r>
              <a:rPr lang="en-US" sz="1200" baseline="30000" dirty="0">
                <a:solidFill>
                  <a:schemeClr val="tx1"/>
                </a:solidFill>
              </a:rPr>
              <a:t>23</a:t>
            </a:r>
            <a:endParaRPr lang="en-US" sz="1500" dirty="0"/>
          </a:p>
        </p:txBody>
      </p:sp>
      <p:sp>
        <p:nvSpPr>
          <p:cNvPr id="7" name="con-num-bg-0-1"/>
          <p:cNvSpPr/>
          <p:nvPr/>
        </p:nvSpPr>
        <p:spPr>
          <a:xfrm>
            <a:off x="548640" y="2606040"/>
            <a:ext cx="384048" cy="384048"/>
          </a:xfrm>
          <a:prstGeom prst="ellipse">
            <a:avLst/>
          </a:prstGeom>
          <a:solidFill>
            <a:schemeClr val="accent1"/>
          </a:solidFill>
          <a:ln w="12700">
            <a:solidFill>
              <a:schemeClr val="accent1"/>
            </a:solidFill>
            <a:prstDash val="solid"/>
          </a:ln>
        </p:spPr>
      </p:sp>
      <p:sp>
        <p:nvSpPr>
          <p:cNvPr id="8" name="con-num-0-1"/>
          <p:cNvSpPr txBox="1"/>
          <p:nvPr/>
        </p:nvSpPr>
        <p:spPr>
          <a:xfrm>
            <a:off x="548640" y="2606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con-item-0-1"/>
          <p:cNvSpPr txBox="1"/>
          <p:nvPr/>
        </p:nvSpPr>
        <p:spPr>
          <a:xfrm>
            <a:off x="1097280" y="2587752"/>
            <a:ext cx="4846320" cy="868680"/>
          </a:xfrm>
          <a:prstGeom prst="rect">
            <a:avLst/>
          </a:prstGeom>
          <a:noFill/>
          <a:ln/>
        </p:spPr>
        <p:txBody>
          <a:bodyPr wrap="square" lIns="0" tIns="0" rIns="0" bIns="0" rtlCol="0" anchor="t"/>
          <a:lstStyle/>
          <a:p>
            <a:pPr indent="0" marL="0">
              <a:buNone/>
            </a:pPr>
            <a:r>
              <a:rPr lang="en-US" sz="1500" b="1" dirty="0">
                <a:solidFill>
                  <a:schemeClr val="tx2"/>
                </a:solidFill>
              </a:rPr>
              <a:t>Track costs and savings from day one</a:t>
            </a:r>
            <a:endParaRPr lang="en-US" sz="1500" dirty="0"/>
          </a:p>
          <a:p>
            <a:pPr indent="0" marL="0">
              <a:buNone/>
            </a:pPr>
            <a:r>
              <a:rPr lang="en-US" sz="1200" dirty="0">
                <a:solidFill>
                  <a:schemeClr val="tx1"/>
                </a:solidFill>
              </a:rPr>
              <a:t>US agencies had no savings data for 84% of cloud investments.</a:t>
            </a:r>
            <a:r>
              <a:rPr lang="en-US" sz="1200" baseline="30000" dirty="0">
                <a:solidFill>
                  <a:schemeClr val="tx1"/>
                </a:solidFill>
              </a:rPr>
              <a:t>11</a:t>
            </a:r>
            <a:r>
              <a:rPr lang="en-US" sz="1200" dirty="0">
                <a:solidFill>
                  <a:schemeClr val="tx1"/>
                </a:solidFill>
              </a:rPr>
              <a:t> New Zealand did not measure all the expected benefits.</a:t>
            </a:r>
            <a:r>
              <a:rPr lang="en-US" sz="1200" baseline="30000" dirty="0">
                <a:solidFill>
                  <a:schemeClr val="tx1"/>
                </a:solidFill>
              </a:rPr>
              <a:t>8</a:t>
            </a:r>
            <a:endParaRPr lang="en-US" sz="1500" dirty="0"/>
          </a:p>
        </p:txBody>
      </p:sp>
      <p:sp>
        <p:nvSpPr>
          <p:cNvPr id="10" name="con-num-bg-0-2"/>
          <p:cNvSpPr/>
          <p:nvPr/>
        </p:nvSpPr>
        <p:spPr>
          <a:xfrm>
            <a:off x="548640" y="3547872"/>
            <a:ext cx="384048" cy="384048"/>
          </a:xfrm>
          <a:prstGeom prst="ellipse">
            <a:avLst/>
          </a:prstGeom>
          <a:solidFill>
            <a:schemeClr val="accent1"/>
          </a:solidFill>
          <a:ln w="12700">
            <a:solidFill>
              <a:schemeClr val="accent1"/>
            </a:solidFill>
            <a:prstDash val="solid"/>
          </a:ln>
        </p:spPr>
      </p:sp>
      <p:sp>
        <p:nvSpPr>
          <p:cNvPr id="11" name="con-num-0-2"/>
          <p:cNvSpPr txBox="1"/>
          <p:nvPr/>
        </p:nvSpPr>
        <p:spPr>
          <a:xfrm>
            <a:off x="548640" y="35478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con-item-0-2"/>
          <p:cNvSpPr txBox="1"/>
          <p:nvPr/>
        </p:nvSpPr>
        <p:spPr>
          <a:xfrm>
            <a:off x="1097280" y="3529584"/>
            <a:ext cx="4846320" cy="868680"/>
          </a:xfrm>
          <a:prstGeom prst="rect">
            <a:avLst/>
          </a:prstGeom>
          <a:noFill/>
          <a:ln/>
        </p:spPr>
        <p:txBody>
          <a:bodyPr wrap="square" lIns="0" tIns="0" rIns="0" bIns="0" rtlCol="0" anchor="t"/>
          <a:lstStyle/>
          <a:p>
            <a:pPr indent="0" marL="0">
              <a:buNone/>
            </a:pPr>
            <a:r>
              <a:rPr lang="en-US" sz="1500" b="1" dirty="0">
                <a:solidFill>
                  <a:schemeClr val="tx2"/>
                </a:solidFill>
              </a:rPr>
              <a:t>Build in-house cloud skills</a:t>
            </a:r>
            <a:endParaRPr lang="en-US" sz="1500" dirty="0"/>
          </a:p>
          <a:p>
            <a:pPr indent="0" marL="0">
              <a:buNone/>
            </a:pPr>
            <a:r>
              <a:rPr lang="en-US" sz="1200" dirty="0">
                <a:solidFill>
                  <a:schemeClr val="tx1"/>
                </a:solidFill>
              </a:rPr>
              <a:t>In New Zealand, a lack of capability led to inertia and inefficient "lift and shift" moves.</a:t>
            </a:r>
            <a:r>
              <a:rPr lang="en-US" sz="1200" baseline="30000" dirty="0">
                <a:solidFill>
                  <a:schemeClr val="tx1"/>
                </a:solidFill>
              </a:rPr>
              <a:t>7</a:t>
            </a:r>
            <a:r>
              <a:rPr lang="en-US" sz="1200" dirty="0">
                <a:solidFill>
                  <a:schemeClr val="tx1"/>
                </a:solidFill>
              </a:rPr>
              <a:t> Cloud skills were scarce.</a:t>
            </a:r>
            <a:r>
              <a:rPr lang="en-US" sz="1200" baseline="30000" dirty="0">
                <a:solidFill>
                  <a:schemeClr val="tx1"/>
                </a:solidFill>
              </a:rPr>
              <a:t>7</a:t>
            </a:r>
            <a:endParaRPr lang="en-US" sz="1500" dirty="0"/>
          </a:p>
        </p:txBody>
      </p:sp>
      <p:sp>
        <p:nvSpPr>
          <p:cNvPr id="13" name="con-num-bg-0-3"/>
          <p:cNvSpPr/>
          <p:nvPr/>
        </p:nvSpPr>
        <p:spPr>
          <a:xfrm>
            <a:off x="548640" y="4489704"/>
            <a:ext cx="384048" cy="384048"/>
          </a:xfrm>
          <a:prstGeom prst="ellipse">
            <a:avLst/>
          </a:prstGeom>
          <a:solidFill>
            <a:schemeClr val="accent1"/>
          </a:solidFill>
          <a:ln w="12700">
            <a:solidFill>
              <a:schemeClr val="accent1"/>
            </a:solidFill>
            <a:prstDash val="solid"/>
          </a:ln>
        </p:spPr>
      </p:sp>
      <p:sp>
        <p:nvSpPr>
          <p:cNvPr id="14" name="con-num-0-3"/>
          <p:cNvSpPr txBox="1"/>
          <p:nvPr/>
        </p:nvSpPr>
        <p:spPr>
          <a:xfrm>
            <a:off x="548640" y="448970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con-item-0-3"/>
          <p:cNvSpPr txBox="1"/>
          <p:nvPr/>
        </p:nvSpPr>
        <p:spPr>
          <a:xfrm>
            <a:off x="1097280" y="4471416"/>
            <a:ext cx="4846320" cy="868680"/>
          </a:xfrm>
          <a:prstGeom prst="rect">
            <a:avLst/>
          </a:prstGeom>
          <a:noFill/>
          <a:ln/>
        </p:spPr>
        <p:txBody>
          <a:bodyPr wrap="square" lIns="0" tIns="0" rIns="0" bIns="0" rtlCol="0" anchor="t"/>
          <a:lstStyle/>
          <a:p>
            <a:pPr indent="0" marL="0">
              <a:buNone/>
            </a:pPr>
            <a:r>
              <a:rPr lang="en-US" sz="1500" b="1" dirty="0">
                <a:solidFill>
                  <a:schemeClr val="tx2"/>
                </a:solidFill>
              </a:rPr>
              <a:t>Clear out before you move</a:t>
            </a:r>
            <a:endParaRPr lang="en-US" sz="1500" dirty="0"/>
          </a:p>
          <a:p>
            <a:pPr indent="0" marL="0">
              <a:buNone/>
            </a:pPr>
            <a:r>
              <a:rPr lang="en-US" sz="1200" dirty="0">
                <a:solidFill>
                  <a:schemeClr val="tx1"/>
                </a:solidFill>
              </a:rPr>
              <a:t>HMRC retired services it no longer needed instead of moving them.</a:t>
            </a:r>
            <a:r>
              <a:rPr lang="en-US" sz="1200" baseline="30000" dirty="0">
                <a:solidFill>
                  <a:schemeClr val="tx1"/>
                </a:solidFill>
              </a:rPr>
              <a:t>14</a:t>
            </a:r>
            <a:endParaRPr lang="en-US" sz="1500" dirty="0"/>
          </a:p>
        </p:txBody>
      </p:sp>
      <p:sp>
        <p:nvSpPr>
          <p:cNvPr id="16" name="con-num-bg-0-4"/>
          <p:cNvSpPr/>
          <p:nvPr/>
        </p:nvSpPr>
        <p:spPr>
          <a:xfrm>
            <a:off x="548640" y="5431536"/>
            <a:ext cx="384048" cy="384048"/>
          </a:xfrm>
          <a:prstGeom prst="ellipse">
            <a:avLst/>
          </a:prstGeom>
          <a:solidFill>
            <a:schemeClr val="accent1"/>
          </a:solidFill>
          <a:ln w="12700">
            <a:solidFill>
              <a:schemeClr val="accent1"/>
            </a:solidFill>
            <a:prstDash val="solid"/>
          </a:ln>
        </p:spPr>
      </p:sp>
      <p:sp>
        <p:nvSpPr>
          <p:cNvPr id="17" name="con-num-0-4"/>
          <p:cNvSpPr txBox="1"/>
          <p:nvPr/>
        </p:nvSpPr>
        <p:spPr>
          <a:xfrm>
            <a:off x="548640" y="54315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8" name="con-item-0-4"/>
          <p:cNvSpPr txBox="1"/>
          <p:nvPr/>
        </p:nvSpPr>
        <p:spPr>
          <a:xfrm>
            <a:off x="1097280" y="5413248"/>
            <a:ext cx="4846320" cy="868680"/>
          </a:xfrm>
          <a:prstGeom prst="rect">
            <a:avLst/>
          </a:prstGeom>
          <a:noFill/>
          <a:ln/>
        </p:spPr>
        <p:txBody>
          <a:bodyPr wrap="square" lIns="0" tIns="0" rIns="0" bIns="0" rtlCol="0" anchor="t"/>
          <a:lstStyle/>
          <a:p>
            <a:pPr indent="0" marL="0">
              <a:buNone/>
            </a:pPr>
            <a:r>
              <a:rPr lang="en-US" sz="1500" b="1" dirty="0">
                <a:solidFill>
                  <a:schemeClr val="tx2"/>
                </a:solidFill>
              </a:rPr>
              <a:t>Plan for delays</a:t>
            </a:r>
            <a:endParaRPr lang="en-US" sz="1500" dirty="0"/>
          </a:p>
          <a:p>
            <a:pPr indent="0" marL="0">
              <a:buNone/>
            </a:pPr>
            <a:r>
              <a:rPr lang="en-US" sz="1200" dirty="0">
                <a:solidFill>
                  <a:schemeClr val="tx1"/>
                </a:solidFill>
              </a:rPr>
              <a:t>HMRC's exit date slipped from 2022 to 2028.</a:t>
            </a:r>
            <a:r>
              <a:rPr lang="en-US" sz="1200" baseline="30000" dirty="0">
                <a:solidFill>
                  <a:schemeClr val="tx1"/>
                </a:solidFill>
              </a:rPr>
              <a:t>15,18</a:t>
            </a:r>
            <a:r>
              <a:rPr lang="en-US" sz="1200" dirty="0">
                <a:solidFill>
                  <a:schemeClr val="tx1"/>
                </a:solidFill>
              </a:rPr>
              <a:t> It signed a contingency extension to keep services running.</a:t>
            </a:r>
            <a:r>
              <a:rPr lang="en-US" sz="1200" baseline="30000" dirty="0">
                <a:solidFill>
                  <a:schemeClr val="tx1"/>
                </a:solidFill>
              </a:rPr>
              <a:t>23</a:t>
            </a:r>
            <a:endParaRPr lang="en-US" sz="1500" dirty="0"/>
          </a:p>
        </p:txBody>
      </p:sp>
      <p:sp>
        <p:nvSpPr>
          <p:cNvPr id="19" name="con-head-1"/>
          <p:cNvSpPr txBox="1"/>
          <p:nvPr/>
        </p:nvSpPr>
        <p:spPr>
          <a:xfrm>
            <a:off x="6217920" y="1097280"/>
            <a:ext cx="539496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What the five cases have in common</a:t>
            </a:r>
            <a:endParaRPr lang="en-US" sz="2000" dirty="0"/>
          </a:p>
        </p:txBody>
      </p:sp>
      <p:sp>
        <p:nvSpPr>
          <p:cNvPr id="20" name="con-num-bg-1-0"/>
          <p:cNvSpPr/>
          <p:nvPr/>
        </p:nvSpPr>
        <p:spPr>
          <a:xfrm>
            <a:off x="6217920" y="1664208"/>
            <a:ext cx="384048" cy="384048"/>
          </a:xfrm>
          <a:prstGeom prst="ellipse">
            <a:avLst/>
          </a:prstGeom>
          <a:solidFill>
            <a:schemeClr val="accent2"/>
          </a:solidFill>
          <a:ln w="12700">
            <a:solidFill>
              <a:schemeClr val="accent2"/>
            </a:solidFill>
            <a:prstDash val="solid"/>
          </a:ln>
        </p:spPr>
      </p:sp>
      <p:sp>
        <p:nvSpPr>
          <p:cNvPr id="21" name="con-num-1-0"/>
          <p:cNvSpPr txBox="1"/>
          <p:nvPr/>
        </p:nvSpPr>
        <p:spPr>
          <a:xfrm>
            <a:off x="6217920" y="16642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2" name="con-item-1-0"/>
          <p:cNvSpPr txBox="1"/>
          <p:nvPr/>
        </p:nvSpPr>
        <p:spPr>
          <a:xfrm>
            <a:off x="6766560" y="1645920"/>
            <a:ext cx="4846320" cy="868680"/>
          </a:xfrm>
          <a:prstGeom prst="rect">
            <a:avLst/>
          </a:prstGeom>
          <a:noFill/>
          <a:ln/>
        </p:spPr>
        <p:txBody>
          <a:bodyPr wrap="square" lIns="0" tIns="0" rIns="0" bIns="0" rtlCol="0" anchor="t"/>
          <a:lstStyle/>
          <a:p>
            <a:pPr indent="0" marL="0">
              <a:buNone/>
            </a:pPr>
            <a:r>
              <a:rPr lang="en-US" sz="1500" b="1" dirty="0">
                <a:solidFill>
                  <a:schemeClr val="tx2"/>
                </a:solidFill>
              </a:rPr>
              <a:t>Every move was partial</a:t>
            </a:r>
            <a:endParaRPr lang="en-US" sz="1500" dirty="0"/>
          </a:p>
          <a:p>
            <a:pPr indent="0" marL="0">
              <a:buNone/>
            </a:pPr>
            <a:r>
              <a:rPr lang="en-US" sz="1200" dirty="0">
                <a:solidFill>
                  <a:schemeClr val="tx1"/>
                </a:solidFill>
              </a:rPr>
              <a:t>None of the five governments left on-premises IT entirely.</a:t>
            </a:r>
            <a:r>
              <a:rPr lang="en-US" sz="1200" baseline="30000" dirty="0">
                <a:solidFill>
                  <a:schemeClr val="tx1"/>
                </a:solidFill>
              </a:rPr>
              <a:t>1,7,11,16,27</a:t>
            </a:r>
            <a:r>
              <a:rPr lang="en-US" sz="1200" dirty="0">
                <a:solidFill>
                  <a:schemeClr val="tx1"/>
                </a:solidFill>
              </a:rPr>
              <a:t> Moves ranged from one workload, the Census, to all "eligible" systems.</a:t>
            </a:r>
            <a:r>
              <a:rPr lang="en-US" sz="1200" baseline="30000" dirty="0">
                <a:solidFill>
                  <a:schemeClr val="tx1"/>
                </a:solidFill>
              </a:rPr>
              <a:t>1,27</a:t>
            </a:r>
            <a:endParaRPr lang="en-US" sz="1500" dirty="0"/>
          </a:p>
        </p:txBody>
      </p:sp>
      <p:sp>
        <p:nvSpPr>
          <p:cNvPr id="23" name="con-num-bg-1-1"/>
          <p:cNvSpPr/>
          <p:nvPr/>
        </p:nvSpPr>
        <p:spPr>
          <a:xfrm>
            <a:off x="6217920" y="2606040"/>
            <a:ext cx="384048" cy="384048"/>
          </a:xfrm>
          <a:prstGeom prst="ellipse">
            <a:avLst/>
          </a:prstGeom>
          <a:solidFill>
            <a:schemeClr val="accent2"/>
          </a:solidFill>
          <a:ln w="12700">
            <a:solidFill>
              <a:schemeClr val="accent2"/>
            </a:solidFill>
            <a:prstDash val="solid"/>
          </a:ln>
        </p:spPr>
      </p:sp>
      <p:sp>
        <p:nvSpPr>
          <p:cNvPr id="24" name="con-num-1-1"/>
          <p:cNvSpPr txBox="1"/>
          <p:nvPr/>
        </p:nvSpPr>
        <p:spPr>
          <a:xfrm>
            <a:off x="6217920" y="2606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5" name="con-item-1-1"/>
          <p:cNvSpPr txBox="1"/>
          <p:nvPr/>
        </p:nvSpPr>
        <p:spPr>
          <a:xfrm>
            <a:off x="6766560" y="2587752"/>
            <a:ext cx="4846320" cy="868680"/>
          </a:xfrm>
          <a:prstGeom prst="rect">
            <a:avLst/>
          </a:prstGeom>
          <a:noFill/>
          <a:ln/>
        </p:spPr>
        <p:txBody>
          <a:bodyPr wrap="square" lIns="0" tIns="0" rIns="0" bIns="0" rtlCol="0" anchor="t"/>
          <a:lstStyle/>
          <a:p>
            <a:pPr indent="0" marL="0">
              <a:buNone/>
            </a:pPr>
            <a:r>
              <a:rPr lang="en-US" sz="1500" b="1" dirty="0">
                <a:solidFill>
                  <a:schemeClr val="tx2"/>
                </a:solidFill>
              </a:rPr>
              <a:t>It took longer than planned</a:t>
            </a:r>
            <a:endParaRPr lang="en-US" sz="1500" dirty="0"/>
          </a:p>
          <a:p>
            <a:pPr indent="0" marL="0">
              <a:buNone/>
            </a:pPr>
            <a:r>
              <a:rPr lang="en-US" sz="1200" dirty="0">
                <a:solidFill>
                  <a:schemeClr val="tx1"/>
                </a:solidFill>
              </a:rPr>
              <a:t>New Zealand had 32.5% of systems in the cloud a decade after Cloud First.</a:t>
            </a:r>
            <a:r>
              <a:rPr lang="en-US" sz="1200" baseline="30000" dirty="0">
                <a:solidFill>
                  <a:schemeClr val="tx1"/>
                </a:solidFill>
              </a:rPr>
              <a:t>7</a:t>
            </a:r>
            <a:r>
              <a:rPr lang="en-US" sz="1200" dirty="0">
                <a:solidFill>
                  <a:schemeClr val="tx1"/>
                </a:solidFill>
              </a:rPr>
              <a:t> HMRC is six years behind its first target.</a:t>
            </a:r>
            <a:r>
              <a:rPr lang="en-US" sz="1200" baseline="30000" dirty="0">
                <a:solidFill>
                  <a:schemeClr val="tx1"/>
                </a:solidFill>
              </a:rPr>
              <a:t>15,18</a:t>
            </a:r>
            <a:endParaRPr lang="en-US" sz="1500" dirty="0"/>
          </a:p>
        </p:txBody>
      </p:sp>
      <p:sp>
        <p:nvSpPr>
          <p:cNvPr id="26" name="con-num-bg-1-2"/>
          <p:cNvSpPr/>
          <p:nvPr/>
        </p:nvSpPr>
        <p:spPr>
          <a:xfrm>
            <a:off x="6217920" y="3547872"/>
            <a:ext cx="384048" cy="384048"/>
          </a:xfrm>
          <a:prstGeom prst="ellipse">
            <a:avLst/>
          </a:prstGeom>
          <a:solidFill>
            <a:schemeClr val="accent2"/>
          </a:solidFill>
          <a:ln w="12700">
            <a:solidFill>
              <a:schemeClr val="accent2"/>
            </a:solidFill>
            <a:prstDash val="solid"/>
          </a:ln>
        </p:spPr>
      </p:sp>
      <p:sp>
        <p:nvSpPr>
          <p:cNvPr id="27" name="con-num-1-2"/>
          <p:cNvSpPr txBox="1"/>
          <p:nvPr/>
        </p:nvSpPr>
        <p:spPr>
          <a:xfrm>
            <a:off x="6217920" y="35478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8" name="con-item-1-2"/>
          <p:cNvSpPr txBox="1"/>
          <p:nvPr/>
        </p:nvSpPr>
        <p:spPr>
          <a:xfrm>
            <a:off x="6766560" y="3529584"/>
            <a:ext cx="4846320" cy="868680"/>
          </a:xfrm>
          <a:prstGeom prst="rect">
            <a:avLst/>
          </a:prstGeom>
          <a:noFill/>
          <a:ln/>
        </p:spPr>
        <p:txBody>
          <a:bodyPr wrap="square" lIns="0" tIns="0" rIns="0" bIns="0" rtlCol="0" anchor="t"/>
          <a:lstStyle/>
          <a:p>
            <a:pPr indent="0" marL="0">
              <a:buNone/>
            </a:pPr>
            <a:r>
              <a:rPr lang="en-US" sz="1500" b="1" dirty="0">
                <a:solidFill>
                  <a:schemeClr val="tx2"/>
                </a:solidFill>
              </a:rPr>
              <a:t>Policy set the direction but did not move systems</a:t>
            </a:r>
            <a:endParaRPr lang="en-US" sz="1500" dirty="0"/>
          </a:p>
          <a:p>
            <a:pPr indent="0" marL="0">
              <a:buNone/>
            </a:pPr>
            <a:r>
              <a:rPr lang="en-US" sz="1200" dirty="0">
                <a:solidFill>
                  <a:schemeClr val="tx1"/>
                </a:solidFill>
              </a:rPr>
              <a:t>Eight years after Cloud First, only 11% of US IT investments were projected to use cloud.</a:t>
            </a:r>
            <a:r>
              <a:rPr lang="en-US" sz="1200" baseline="30000" dirty="0">
                <a:solidFill>
                  <a:schemeClr val="tx1"/>
                </a:solidFill>
              </a:rPr>
              <a:t>11</a:t>
            </a:r>
            <a:r>
              <a:rPr lang="en-US" sz="1200" dirty="0">
                <a:solidFill>
                  <a:schemeClr val="tx1"/>
                </a:solidFill>
              </a:rPr>
              <a:t> New Zealand was told policy alone would not raise uptake.</a:t>
            </a:r>
            <a:r>
              <a:rPr lang="en-US" sz="1200" baseline="30000" dirty="0">
                <a:solidFill>
                  <a:schemeClr val="tx1"/>
                </a:solidFill>
              </a:rPr>
              <a:t>7</a:t>
            </a:r>
            <a:endParaRPr lang="en-US" sz="1500" dirty="0"/>
          </a:p>
        </p:txBody>
      </p:sp>
      <p:sp>
        <p:nvSpPr>
          <p:cNvPr id="29" name="con-num-bg-1-3"/>
          <p:cNvSpPr/>
          <p:nvPr/>
        </p:nvSpPr>
        <p:spPr>
          <a:xfrm>
            <a:off x="6217920" y="4489704"/>
            <a:ext cx="384048" cy="384048"/>
          </a:xfrm>
          <a:prstGeom prst="ellipse">
            <a:avLst/>
          </a:prstGeom>
          <a:solidFill>
            <a:schemeClr val="accent2"/>
          </a:solidFill>
          <a:ln w="12700">
            <a:solidFill>
              <a:schemeClr val="accent2"/>
            </a:solidFill>
            <a:prstDash val="solid"/>
          </a:ln>
        </p:spPr>
      </p:sp>
      <p:sp>
        <p:nvSpPr>
          <p:cNvPr id="30" name="con-num-1-3"/>
          <p:cNvSpPr txBox="1"/>
          <p:nvPr/>
        </p:nvSpPr>
        <p:spPr>
          <a:xfrm>
            <a:off x="6217920" y="448970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1" name="con-item-1-3"/>
          <p:cNvSpPr txBox="1"/>
          <p:nvPr/>
        </p:nvSpPr>
        <p:spPr>
          <a:xfrm>
            <a:off x="6766560" y="4471416"/>
            <a:ext cx="4846320" cy="868680"/>
          </a:xfrm>
          <a:prstGeom prst="rect">
            <a:avLst/>
          </a:prstGeom>
          <a:noFill/>
          <a:ln/>
        </p:spPr>
        <p:txBody>
          <a:bodyPr wrap="square" lIns="0" tIns="0" rIns="0" bIns="0" rtlCol="0" anchor="t"/>
          <a:lstStyle/>
          <a:p>
            <a:pPr indent="0" marL="0">
              <a:buNone/>
            </a:pPr>
            <a:r>
              <a:rPr lang="en-US" sz="1500" b="1" dirty="0">
                <a:solidFill>
                  <a:schemeClr val="tx2"/>
                </a:solidFill>
              </a:rPr>
              <a:t>Savings were claimed more than proven</a:t>
            </a:r>
            <a:endParaRPr lang="en-US" sz="1500" dirty="0"/>
          </a:p>
          <a:p>
            <a:pPr indent="0" marL="0">
              <a:buNone/>
            </a:pPr>
            <a:r>
              <a:rPr lang="en-US" sz="1200" dirty="0">
                <a:solidFill>
                  <a:schemeClr val="tx1"/>
                </a:solidFill>
              </a:rPr>
              <a:t>Singapore's 30–40% saving is self-reported.</a:t>
            </a:r>
            <a:r>
              <a:rPr lang="en-US" sz="1200" baseline="30000" dirty="0">
                <a:solidFill>
                  <a:schemeClr val="tx1"/>
                </a:solidFill>
              </a:rPr>
              <a:t>3</a:t>
            </a:r>
            <a:r>
              <a:rPr lang="en-US" sz="1200" dirty="0">
                <a:solidFill>
                  <a:schemeClr val="tx1"/>
                </a:solidFill>
              </a:rPr>
              <a:t> HMRC has published no savings, and US savings went largely untracked.</a:t>
            </a:r>
            <a:r>
              <a:rPr lang="en-US" sz="1200" baseline="30000" dirty="0">
                <a:solidFill>
                  <a:schemeClr val="tx1"/>
                </a:solidFill>
              </a:rPr>
              <a:t>11</a:t>
            </a:r>
            <a:r>
              <a:rPr lang="en-US" sz="1200" dirty="0">
                <a:solidFill>
                  <a:schemeClr val="tx1"/>
                </a:solidFill>
              </a:rPr>
              <a:t>*</a:t>
            </a:r>
            <a:endParaRPr lang="en-US" sz="1500" dirty="0"/>
          </a:p>
        </p:txBody>
      </p:sp>
      <p:sp>
        <p:nvSpPr>
          <p:cNvPr id="32" name="con-num-bg-1-4"/>
          <p:cNvSpPr/>
          <p:nvPr/>
        </p:nvSpPr>
        <p:spPr>
          <a:xfrm>
            <a:off x="6217920" y="5431536"/>
            <a:ext cx="384048" cy="384048"/>
          </a:xfrm>
          <a:prstGeom prst="ellipse">
            <a:avLst/>
          </a:prstGeom>
          <a:solidFill>
            <a:schemeClr val="accent2"/>
          </a:solidFill>
          <a:ln w="12700">
            <a:solidFill>
              <a:schemeClr val="accent2"/>
            </a:solidFill>
            <a:prstDash val="solid"/>
          </a:ln>
        </p:spPr>
      </p:sp>
      <p:sp>
        <p:nvSpPr>
          <p:cNvPr id="33" name="con-num-1-4"/>
          <p:cNvSpPr txBox="1"/>
          <p:nvPr/>
        </p:nvSpPr>
        <p:spPr>
          <a:xfrm>
            <a:off x="6217920" y="54315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4" name="con-item-1-4"/>
          <p:cNvSpPr txBox="1"/>
          <p:nvPr/>
        </p:nvSpPr>
        <p:spPr>
          <a:xfrm>
            <a:off x="6766560" y="5413248"/>
            <a:ext cx="4846320" cy="868680"/>
          </a:xfrm>
          <a:prstGeom prst="rect">
            <a:avLst/>
          </a:prstGeom>
          <a:noFill/>
          <a:ln/>
        </p:spPr>
        <p:txBody>
          <a:bodyPr wrap="square" lIns="0" tIns="0" rIns="0" bIns="0" rtlCol="0" anchor="t"/>
          <a:lstStyle/>
          <a:p>
            <a:pPr indent="0" marL="0">
              <a:buNone/>
            </a:pPr>
            <a:r>
              <a:rPr lang="en-US" sz="1500" b="1" dirty="0">
                <a:solidFill>
                  <a:schemeClr val="tx2"/>
                </a:solidFill>
              </a:rPr>
              <a:t>Reliability and demand peaks gave the clearest wins</a:t>
            </a:r>
            <a:endParaRPr lang="en-US" sz="1500" dirty="0"/>
          </a:p>
          <a:p>
            <a:pPr indent="0" marL="0">
              <a:buNone/>
            </a:pPr>
            <a:r>
              <a:rPr lang="en-US" sz="1200" dirty="0">
                <a:solidFill>
                  <a:schemeClr val="tx1"/>
                </a:solidFill>
              </a:rPr>
              <a:t>The 2021 Census ran without unscheduled downtime.</a:t>
            </a:r>
            <a:r>
              <a:rPr lang="en-US" sz="1200" baseline="30000" dirty="0">
                <a:solidFill>
                  <a:schemeClr val="tx1"/>
                </a:solidFill>
              </a:rPr>
              <a:t>31</a:t>
            </a:r>
            <a:r>
              <a:rPr lang="en-US" sz="1200" dirty="0">
                <a:solidFill>
                  <a:schemeClr val="tx1"/>
                </a:solidFill>
              </a:rPr>
              <a:t> Labor and Oranga Tamariki used cloud to absorb peaks.</a:t>
            </a:r>
            <a:r>
              <a:rPr lang="en-US" sz="1200" baseline="30000" dirty="0">
                <a:solidFill>
                  <a:schemeClr val="tx1"/>
                </a:solidFill>
              </a:rPr>
              <a:t>7,11</a:t>
            </a:r>
            <a:endParaRPr lang="en-US" sz="1500" dirty="0"/>
          </a:p>
        </p:txBody>
      </p:sp>
      <p:sp>
        <p:nvSpPr>
          <p:cNvPr id="35" name="con-divider"/>
          <p:cNvSpPr/>
          <p:nvPr/>
        </p:nvSpPr>
        <p:spPr>
          <a:xfrm>
            <a:off x="6099048" y="1143000"/>
            <a:ext cx="0" cy="5029200"/>
          </a:xfrm>
          <a:prstGeom prst="line">
            <a:avLst/>
          </a:prstGeom>
          <a:noFill/>
          <a:ln w="12700">
            <a:solidFill>
              <a:srgbClr val="DDDFE3"/>
            </a:solidFill>
            <a:prstDash val="solid"/>
          </a:ln>
        </p:spPr>
      </p:sp>
      <p:sp>
        <p:nvSpPr>
          <p:cNvPr id="25" name="Slide Number Placeholder 0"/>
          <p:cNvSpPr>
            <a:spLocks noGrp="1"/>
          </p:cNvSpPr>
          <p:nvPr>
            <p:ph type="sldNum" sz="quarter" idx="4294967295"/>
          </p:nvPr>
        </p:nvSpPr>
        <p:spPr>
          <a:xfrm>
            <a:off x="11155680"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Summary: the five cases side by side</a:t>
            </a:r>
            <a:endParaRPr lang="en-US" sz="3400" dirty="0"/>
          </a:p>
        </p:txBody>
      </p:sp>
      <p:graphicFrame>
        <p:nvGraphicFramePr>
          <p:cNvPr id="12" name="summary-table"/>
          <p:cNvGraphicFramePr>
            <a:graphicFrameLocks noGrp="1"/>
          </p:cNvGraphicFramePr>
          <p:nvPr>
            <p:extLst>
              <p:ext uri="{D42A27DB-BD31-4B8C-83A1-F6EECF244321}">
                <p14:modId xmlns:p14="http://schemas.microsoft.com/office/powerpoint/2010/main" val="1579011935"/>
              </p:ext>
            </p:extLst>
          </p:nvPr>
        </p:nvGraphicFramePr>
        <p:xfrm>
          <a:off x="548640" y="1143000"/>
          <a:ext cx="11091672" cy="914400"/>
        </p:xfrm>
        <a:graphic>
          <a:graphicData uri="http://schemas.openxmlformats.org/drawingml/2006/table">
            <a:tbl>
              <a:tblPr/>
              <a:tblGrid>
                <a:gridCol w="1280160"/>
                <a:gridCol w="749808"/>
                <a:gridCol w="1261872"/>
                <a:gridCol w="1097280"/>
                <a:gridCol w="1417320"/>
                <a:gridCol w="1463040"/>
                <a:gridCol w="1536192"/>
                <a:gridCol w="1051560"/>
                <a:gridCol w="1234440"/>
              </a:tblGrid>
              <a:tr h="384048">
                <a:tc>
                  <a:txBody>
                    <a:bodyPr/>
                    <a:lstStyle/>
                    <a:p>
                      <a:pPr indent="0" marL="0">
                        <a:buNone/>
                      </a:pPr>
                      <a:r>
                        <a:rPr lang="en-US" sz="1100" b="1" dirty="0">
                          <a:solidFill>
                            <a:srgbClr val="FFFFFF"/>
                          </a:solidFill>
                        </a:rPr>
                        <a:t>Case</a:t>
                      </a:r>
                      <a:endParaRPr lang="en-US" sz="11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22303F"/>
                    </a:solidFill>
                  </a:tcPr>
                </a:tc>
                <a:tc>
                  <a:txBody>
                    <a:bodyPr/>
                    <a:lstStyle/>
                    <a:p>
                      <a:pPr indent="0" marL="0">
                        <a:buNone/>
                      </a:pPr>
                      <a:r>
                        <a:rPr lang="en-US" sz="1100" b="1" dirty="0">
                          <a:solidFill>
                            <a:srgbClr val="FFFFFF"/>
                          </a:solidFill>
                        </a:rPr>
                        <a:t>Years</a:t>
                      </a:r>
                      <a:endParaRPr lang="en-US" sz="11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22303F"/>
                    </a:solidFill>
                  </a:tcPr>
                </a:tc>
                <a:tc>
                  <a:txBody>
                    <a:bodyPr/>
                    <a:lstStyle/>
                    <a:p>
                      <a:pPr indent="0" marL="0">
                        <a:buNone/>
                      </a:pPr>
                      <a:r>
                        <a:rPr lang="en-US" sz="1100" b="1" dirty="0">
                          <a:solidFill>
                            <a:srgbClr val="FFFFFF"/>
                          </a:solidFill>
                        </a:rPr>
                        <a:t>Cloud provider</a:t>
                      </a:r>
                      <a:endParaRPr lang="en-US" sz="11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22303F"/>
                    </a:solidFill>
                  </a:tcPr>
                </a:tc>
                <a:tc>
                  <a:txBody>
                    <a:bodyPr/>
                    <a:lstStyle/>
                    <a:p>
                      <a:pPr indent="0" marL="0">
                        <a:buNone/>
                      </a:pPr>
                      <a:r>
                        <a:rPr lang="en-US" sz="1100" b="1" dirty="0">
                          <a:solidFill>
                            <a:srgbClr val="FFFFFF"/>
                          </a:solidFill>
                        </a:rPr>
                        <a:t>Type of move</a:t>
                      </a:r>
                      <a:endParaRPr lang="en-US" sz="11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22303F"/>
                    </a:solidFill>
                  </a:tcPr>
                </a:tc>
                <a:tc>
                  <a:txBody>
                    <a:bodyPr/>
                    <a:lstStyle/>
                    <a:p>
                      <a:pPr indent="0" marL="0">
                        <a:buNone/>
                      </a:pPr>
                      <a:r>
                        <a:rPr lang="en-US" sz="1100" b="1" dirty="0">
                          <a:solidFill>
                            <a:srgbClr val="FFFFFF"/>
                          </a:solidFill>
                        </a:rPr>
                        <a:t>Main motivations</a:t>
                      </a:r>
                      <a:endParaRPr lang="en-US" sz="11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22303F"/>
                    </a:solidFill>
                  </a:tcPr>
                </a:tc>
                <a:tc>
                  <a:txBody>
                    <a:bodyPr/>
                    <a:lstStyle/>
                    <a:p>
                      <a:pPr indent="0" marL="0">
                        <a:buNone/>
                      </a:pPr>
                      <a:r>
                        <a:rPr lang="en-US" sz="1100" b="1" dirty="0">
                          <a:solidFill>
                            <a:srgbClr val="FFFFFF"/>
                          </a:solidFill>
                        </a:rPr>
                        <a:t>Key result</a:t>
                      </a:r>
                      <a:endParaRPr lang="en-US" sz="11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22303F"/>
                    </a:solidFill>
                  </a:tcPr>
                </a:tc>
                <a:tc>
                  <a:txBody>
                    <a:bodyPr/>
                    <a:lstStyle/>
                    <a:p>
                      <a:pPr indent="0" marL="0">
                        <a:buNone/>
                      </a:pPr>
                      <a:r>
                        <a:rPr lang="en-US" sz="1100" b="1" dirty="0">
                          <a:solidFill>
                            <a:srgbClr val="FFFFFF"/>
                          </a:solidFill>
                        </a:rPr>
                        <a:t>Main challenges</a:t>
                      </a:r>
                      <a:endParaRPr lang="en-US" sz="11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22303F"/>
                    </a:solidFill>
                  </a:tcPr>
                </a:tc>
                <a:tc>
                  <a:txBody>
                    <a:bodyPr/>
                    <a:lstStyle/>
                    <a:p>
                      <a:pPr indent="0" marL="0">
                        <a:buNone/>
                      </a:pPr>
                      <a:r>
                        <a:rPr lang="en-US" sz="1100" b="1" dirty="0">
                          <a:solidFill>
                            <a:srgbClr val="FFFFFF"/>
                          </a:solidFill>
                        </a:rPr>
                        <a:t>Evidence</a:t>
                      </a:r>
                      <a:endParaRPr lang="en-US" sz="11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22303F"/>
                    </a:solidFill>
                  </a:tcPr>
                </a:tc>
                <a:tc>
                  <a:txBody>
                    <a:bodyPr/>
                    <a:lstStyle/>
                    <a:p>
                      <a:pPr indent="0" marL="0">
                        <a:buNone/>
                      </a:pPr>
                      <a:r>
                        <a:rPr lang="en-US" sz="1100" b="1" dirty="0">
                          <a:solidFill>
                            <a:srgbClr val="FFFFFF"/>
                          </a:solidFill>
                        </a:rPr>
                        <a:t>Verdict</a:t>
                      </a:r>
                      <a:endParaRPr lang="en-US" sz="11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22303F"/>
                    </a:solidFill>
                  </a:tcPr>
                </a:tc>
              </a:tr>
              <a:tr h="850392">
                <a:tc>
                  <a:txBody>
                    <a:bodyPr/>
                    <a:lstStyle/>
                    <a:p>
                      <a:pPr indent="0" marL="0">
                        <a:buNone/>
                      </a:pPr>
                      <a:r>
                        <a:rPr lang="en-US" sz="1200" b="1" dirty="0">
                          <a:solidFill>
                            <a:srgbClr val="22303F"/>
                          </a:solidFill>
                        </a:rPr>
                        <a:t>Singapore</a:t>
                      </a:r>
                      <a:endParaRPr lang="en-US" sz="1200" dirty="0"/>
                    </a:p>
                  </a:txBody>
                  <a:tcPr marL="457200"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2018–2024</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AWS, Azure and Google Cloud via GCC</a:t>
                      </a:r>
                      <a:r>
                        <a:rPr lang="en-US" sz="1100" baseline="30000" dirty="0">
                          <a:solidFill>
                            <a:srgbClr val="1C1C1C"/>
                          </a:solidFill>
                        </a:rPr>
                        <a:t>2</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Partial: "eligible" systems</a:t>
                      </a:r>
                      <a:r>
                        <a:rPr lang="en-US" sz="1100" baseline="30000" dirty="0">
                          <a:solidFill>
                            <a:srgbClr val="1C1C1C"/>
                          </a:solidFill>
                        </a:rPr>
                        <a:t>1</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Faster delivery; better services</a:t>
                      </a:r>
                      <a:r>
                        <a:rPr lang="en-US" sz="1100" baseline="30000" dirty="0">
                          <a:solidFill>
                            <a:srgbClr val="1C1C1C"/>
                          </a:solidFill>
                        </a:rPr>
                        <a:t>3</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80%+ of eligible systems moved, beating the 70% target</a:t>
                      </a:r>
                      <a:r>
                        <a:rPr lang="en-US" sz="1100" baseline="30000" dirty="0">
                          <a:solidFill>
                            <a:srgbClr val="1C1C1C"/>
                          </a:solidFill>
                        </a:rPr>
                        <a:t>5</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S$200M+ build cost; large systems hard to move</a:t>
                      </a:r>
                      <a:r>
                        <a:rPr lang="en-US" sz="1100" baseline="30000" dirty="0">
                          <a:solidFill>
                            <a:srgbClr val="1C1C1C"/>
                          </a:solidFill>
                        </a:rPr>
                        <a:t>3,5</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Self-reported (government)</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b="1" dirty="0">
                          <a:solidFill>
                            <a:srgbClr val="1C1C1C"/>
                          </a:solidFill>
                        </a:rPr>
                        <a:t>Positive (self-reported)*</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E4EED2"/>
                    </a:solidFill>
                  </a:tcPr>
                </a:tc>
              </a:tr>
              <a:tr h="850392">
                <a:tc>
                  <a:txBody>
                    <a:bodyPr/>
                    <a:lstStyle/>
                    <a:p>
                      <a:pPr indent="0" marL="0">
                        <a:buNone/>
                      </a:pPr>
                      <a:r>
                        <a:rPr lang="en-US" sz="1200" b="1" dirty="0">
                          <a:solidFill>
                            <a:srgbClr val="22303F"/>
                          </a:solidFill>
                        </a:rPr>
                        <a:t>New Zealand</a:t>
                      </a:r>
                      <a:endParaRPr lang="en-US" sz="1200" dirty="0"/>
                    </a:p>
                  </a:txBody>
                  <a:tcPr marL="457200"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7F8F9"/>
                    </a:solidFill>
                  </a:tcPr>
                </a:tc>
                <a:tc>
                  <a:txBody>
                    <a:bodyPr/>
                    <a:lstStyle/>
                    <a:p>
                      <a:pPr indent="0" marL="0">
                        <a:buNone/>
                      </a:pPr>
                      <a:r>
                        <a:rPr lang="en-US" sz="1100" dirty="0">
                          <a:solidFill>
                            <a:srgbClr val="1C1C1C"/>
                          </a:solidFill>
                        </a:rPr>
                        <a:t>2012–2023</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7F8F9"/>
                    </a:solidFill>
                  </a:tcPr>
                </a:tc>
                <a:tc>
                  <a:txBody>
                    <a:bodyPr/>
                    <a:lstStyle/>
                    <a:p>
                      <a:pPr indent="0" marL="0">
                        <a:buNone/>
                      </a:pPr>
                      <a:r>
                        <a:rPr lang="en-US" sz="1100" dirty="0">
                          <a:solidFill>
                            <a:srgbClr val="1C1C1C"/>
                          </a:solidFill>
                        </a:rPr>
                        <a:t>NZ-based and global providers</a:t>
                      </a:r>
                      <a:r>
                        <a:rPr lang="en-US" sz="1100" baseline="30000" dirty="0">
                          <a:solidFill>
                            <a:srgbClr val="1C1C1C"/>
                          </a:solidFill>
                        </a:rPr>
                        <a:t>7</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7F8F9"/>
                    </a:solidFill>
                  </a:tcPr>
                </a:tc>
                <a:tc>
                  <a:txBody>
                    <a:bodyPr/>
                    <a:lstStyle/>
                    <a:p>
                      <a:pPr indent="0" marL="0">
                        <a:buNone/>
                      </a:pPr>
                      <a:r>
                        <a:rPr lang="en-US" sz="1100" dirty="0">
                          <a:solidFill>
                            <a:srgbClr val="1C1C1C"/>
                          </a:solidFill>
                        </a:rPr>
                        <a:t>Partial: 32.5% of systems</a:t>
                      </a:r>
                      <a:r>
                        <a:rPr lang="en-US" sz="1100" baseline="30000" dirty="0">
                          <a:solidFill>
                            <a:srgbClr val="1C1C1C"/>
                          </a:solidFill>
                        </a:rPr>
                        <a:t>7</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7F8F9"/>
                    </a:solidFill>
                  </a:tcPr>
                </a:tc>
                <a:tc>
                  <a:txBody>
                    <a:bodyPr/>
                    <a:lstStyle/>
                    <a:p>
                      <a:pPr indent="0" marL="0">
                        <a:buNone/>
                      </a:pPr>
                      <a:r>
                        <a:rPr lang="en-US" sz="1100" dirty="0">
                          <a:solidFill>
                            <a:srgbClr val="1C1C1C"/>
                          </a:solidFill>
                        </a:rPr>
                        <a:t>Security, resilience, ageing systems, cost</a:t>
                      </a:r>
                      <a:r>
                        <a:rPr lang="en-US" sz="1100" baseline="30000" dirty="0">
                          <a:solidFill>
                            <a:srgbClr val="1C1C1C"/>
                          </a:solidFill>
                        </a:rPr>
                        <a:t>7</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7F8F9"/>
                    </a:solidFill>
                  </a:tcPr>
                </a:tc>
                <a:tc>
                  <a:txBody>
                    <a:bodyPr/>
                    <a:lstStyle/>
                    <a:p>
                      <a:pPr indent="0" marL="0">
                        <a:buNone/>
                      </a:pPr>
                      <a:r>
                        <a:rPr lang="en-US" sz="1100" dirty="0">
                          <a:solidFill>
                            <a:srgbClr val="1C1C1C"/>
                          </a:solidFill>
                        </a:rPr>
                        <a:t>127 agencies on shared IaaS; pandemic scaling</a:t>
                      </a:r>
                      <a:r>
                        <a:rPr lang="en-US" sz="1100" baseline="30000" dirty="0">
                          <a:solidFill>
                            <a:srgbClr val="1C1C1C"/>
                          </a:solidFill>
                        </a:rPr>
                        <a:t>7,9</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7F8F9"/>
                    </a:solidFill>
                  </a:tcPr>
                </a:tc>
                <a:tc>
                  <a:txBody>
                    <a:bodyPr/>
                    <a:lstStyle/>
                    <a:p>
                      <a:pPr indent="0" marL="0">
                        <a:buNone/>
                      </a:pPr>
                      <a:r>
                        <a:rPr lang="en-US" sz="1100" dirty="0">
                          <a:solidFill>
                            <a:srgbClr val="1C1C1C"/>
                          </a:solidFill>
                        </a:rPr>
                        <a:t>Uneven uptake; skills gap; paying twice; funding rules</a:t>
                      </a:r>
                      <a:r>
                        <a:rPr lang="en-US" sz="1100" baseline="30000" dirty="0">
                          <a:solidFill>
                            <a:srgbClr val="1C1C1C"/>
                          </a:solidFill>
                        </a:rPr>
                        <a:t>7</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7F8F9"/>
                    </a:solidFill>
                  </a:tcPr>
                </a:tc>
                <a:tc>
                  <a:txBody>
                    <a:bodyPr/>
                    <a:lstStyle/>
                    <a:p>
                      <a:pPr indent="0" marL="0">
                        <a:buNone/>
                      </a:pPr>
                      <a:r>
                        <a:rPr lang="en-US" sz="1100" dirty="0">
                          <a:solidFill>
                            <a:srgbClr val="1C1C1C"/>
                          </a:solidFill>
                        </a:rPr>
                        <a:t>Government and auditor</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7F8F9"/>
                    </a:solidFill>
                  </a:tcPr>
                </a:tc>
                <a:tc>
                  <a:txBody>
                    <a:bodyPr/>
                    <a:lstStyle/>
                    <a:p>
                      <a:pPr indent="0" marL="0">
                        <a:buNone/>
                      </a:pPr>
                      <a:r>
                        <a:rPr lang="en-US" sz="1100" b="1" dirty="0">
                          <a:solidFill>
                            <a:srgbClr val="1C1C1C"/>
                          </a:solidFill>
                        </a:rPr>
                        <a:t>Mixed*</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8E6C2"/>
                    </a:solidFill>
                  </a:tcPr>
                </a:tc>
              </a:tr>
              <a:tr h="850392">
                <a:tc>
                  <a:txBody>
                    <a:bodyPr/>
                    <a:lstStyle/>
                    <a:p>
                      <a:pPr indent="0" marL="0">
                        <a:buNone/>
                      </a:pPr>
                      <a:r>
                        <a:rPr lang="en-US" sz="1200" b="1" dirty="0">
                          <a:solidFill>
                            <a:srgbClr val="22303F"/>
                          </a:solidFill>
                        </a:rPr>
                        <a:t>United States</a:t>
                      </a:r>
                      <a:endParaRPr lang="en-US" sz="1200" dirty="0"/>
                    </a:p>
                  </a:txBody>
                  <a:tcPr marL="457200"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2011–2019</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Not named</a:t>
                      </a:r>
                      <a:r>
                        <a:rPr lang="en-US" sz="1100" baseline="30000" dirty="0">
                          <a:solidFill>
                            <a:srgbClr val="1C1C1C"/>
                          </a:solidFill>
                        </a:rPr>
                        <a:t>11</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Partial: 11% of IT investments</a:t>
                      </a:r>
                      <a:r>
                        <a:rPr lang="en-US" sz="1100" baseline="30000" dirty="0">
                          <a:solidFill>
                            <a:srgbClr val="1C1C1C"/>
                          </a:solidFill>
                        </a:rPr>
                        <a:t>11</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75% of IT spend on upkeep; costly custom systems; failed IT projects</a:t>
                      </a:r>
                      <a:r>
                        <a:rPr lang="en-US" sz="1100" baseline="30000" dirty="0">
                          <a:solidFill>
                            <a:srgbClr val="1C1C1C"/>
                          </a:solidFill>
                        </a:rPr>
                        <a:t>11</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$291M saved; 15 of 16 agencies saw benefits</a:t>
                      </a:r>
                      <a:r>
                        <a:rPr lang="en-US" sz="1100" baseline="30000" dirty="0">
                          <a:solidFill>
                            <a:srgbClr val="1C1C1C"/>
                          </a:solidFill>
                        </a:rPr>
                        <a:t>11</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Savings untracked for 84% of investments</a:t>
                      </a:r>
                      <a:r>
                        <a:rPr lang="en-US" sz="1100" baseline="30000" dirty="0">
                          <a:solidFill>
                            <a:srgbClr val="1C1C1C"/>
                          </a:solidFill>
                        </a:rPr>
                        <a:t>11</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Audit (GAO)</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b="1" dirty="0">
                          <a:solidFill>
                            <a:srgbClr val="1C1C1C"/>
                          </a:solidFill>
                        </a:rPr>
                        <a:t>Positive on service; cost incomplete*</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E4EED2"/>
                    </a:solidFill>
                  </a:tcPr>
                </a:tc>
              </a:tr>
              <a:tr h="850392">
                <a:tc>
                  <a:txBody>
                    <a:bodyPr/>
                    <a:lstStyle/>
                    <a:p>
                      <a:pPr indent="0" marL="0">
                        <a:buNone/>
                      </a:pPr>
                      <a:r>
                        <a:rPr lang="en-US" sz="1200" b="1" dirty="0">
                          <a:solidFill>
                            <a:srgbClr val="22303F"/>
                          </a:solidFill>
                        </a:rPr>
                        <a:t>UK (HMRC)</a:t>
                      </a:r>
                      <a:endParaRPr lang="en-US" sz="1200" dirty="0"/>
                    </a:p>
                  </a:txBody>
                  <a:tcPr marL="457200"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7F8F9"/>
                    </a:solidFill>
                  </a:tcPr>
                </a:tc>
                <a:tc>
                  <a:txBody>
                    <a:bodyPr/>
                    <a:lstStyle/>
                    <a:p>
                      <a:pPr indent="0" marL="0">
                        <a:buNone/>
                      </a:pPr>
                      <a:r>
                        <a:rPr lang="en-US" sz="1100" dirty="0">
                          <a:solidFill>
                            <a:srgbClr val="1C1C1C"/>
                          </a:solidFill>
                        </a:rPr>
                        <a:t>2018–2028</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7F8F9"/>
                    </a:solidFill>
                  </a:tcPr>
                </a:tc>
                <a:tc>
                  <a:txBody>
                    <a:bodyPr/>
                    <a:lstStyle/>
                    <a:p>
                      <a:pPr indent="0" marL="0">
                        <a:buNone/>
                      </a:pPr>
                      <a:r>
                        <a:rPr lang="en-US" sz="1100" dirty="0">
                          <a:solidFill>
                            <a:srgbClr val="1C1C1C"/>
                          </a:solidFill>
                        </a:rPr>
                        <a:t>AWS for the final phase</a:t>
                      </a:r>
                      <a:r>
                        <a:rPr lang="en-US" sz="1100" baseline="30000" dirty="0">
                          <a:solidFill>
                            <a:srgbClr val="1C1C1C"/>
                          </a:solidFill>
                        </a:rPr>
                        <a:t>19</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7F8F9"/>
                    </a:solidFill>
                  </a:tcPr>
                </a:tc>
                <a:tc>
                  <a:txBody>
                    <a:bodyPr/>
                    <a:lstStyle/>
                    <a:p>
                      <a:pPr indent="0" marL="0">
                        <a:buNone/>
                      </a:pPr>
                      <a:r>
                        <a:rPr lang="en-US" sz="1100" dirty="0">
                          <a:solidFill>
                            <a:srgbClr val="1C1C1C"/>
                          </a:solidFill>
                        </a:rPr>
                        <a:t>Partial, still in progress</a:t>
                      </a:r>
                      <a:r>
                        <a:rPr lang="en-US" sz="1100" baseline="30000" dirty="0">
                          <a:solidFill>
                            <a:srgbClr val="1C1C1C"/>
                          </a:solidFill>
                        </a:rPr>
                        <a:t>16</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7F8F9"/>
                    </a:solidFill>
                  </a:tcPr>
                </a:tc>
                <a:tc>
                  <a:txBody>
                    <a:bodyPr/>
                    <a:lstStyle/>
                    <a:p>
                      <a:pPr indent="0" marL="0">
                        <a:buNone/>
                      </a:pPr>
                      <a:r>
                        <a:rPr lang="en-US" sz="1100" dirty="0">
                          <a:solidFill>
                            <a:srgbClr val="1C1C1C"/>
                          </a:solidFill>
                        </a:rPr>
                        <a:t>Out-of-support IT; security; ageing data centres</a:t>
                      </a:r>
                      <a:r>
                        <a:rPr lang="en-US" sz="1100" baseline="30000" dirty="0">
                          <a:solidFill>
                            <a:srgbClr val="1C1C1C"/>
                          </a:solidFill>
                        </a:rPr>
                        <a:t>14</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7F8F9"/>
                    </a:solidFill>
                  </a:tcPr>
                </a:tc>
                <a:tc>
                  <a:txBody>
                    <a:bodyPr/>
                    <a:lstStyle/>
                    <a:p>
                      <a:pPr indent="0" marL="0">
                        <a:buNone/>
                      </a:pPr>
                      <a:r>
                        <a:rPr lang="en-US" sz="1100" dirty="0">
                          <a:solidFill>
                            <a:srgbClr val="1C1C1C"/>
                          </a:solidFill>
                        </a:rPr>
                        <a:t>372 of 545 critical services moved</a:t>
                      </a:r>
                      <a:r>
                        <a:rPr lang="en-US" sz="1100" baseline="30000" dirty="0">
                          <a:solidFill>
                            <a:srgbClr val="1C1C1C"/>
                          </a:solidFill>
                        </a:rPr>
                        <a:t>21</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7F8F9"/>
                    </a:solidFill>
                  </a:tcPr>
                </a:tc>
                <a:tc>
                  <a:txBody>
                    <a:bodyPr/>
                    <a:lstStyle/>
                    <a:p>
                      <a:pPr indent="0" marL="0">
                        <a:buNone/>
                      </a:pPr>
                      <a:r>
                        <a:rPr lang="en-US" sz="1100" dirty="0">
                          <a:solidFill>
                            <a:srgbClr val="1C1C1C"/>
                          </a:solidFill>
                        </a:rPr>
                        <a:t>Exit six years late, for unspecified reasons; £220.3M extension</a:t>
                      </a:r>
                      <a:r>
                        <a:rPr lang="en-US" sz="1100" baseline="30000" dirty="0">
                          <a:solidFill>
                            <a:srgbClr val="1C1C1C"/>
                          </a:solidFill>
                        </a:rPr>
                        <a:t>15,18,23</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7F8F9"/>
                    </a:solidFill>
                  </a:tcPr>
                </a:tc>
                <a:tc>
                  <a:txBody>
                    <a:bodyPr/>
                    <a:lstStyle/>
                    <a:p>
                      <a:pPr indent="0" marL="0">
                        <a:buNone/>
                      </a:pPr>
                      <a:r>
                        <a:rPr lang="en-US" sz="1100" dirty="0">
                          <a:solidFill>
                            <a:srgbClr val="1C1C1C"/>
                          </a:solidFill>
                        </a:rPr>
                        <a:t>Government and news</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7F8F9"/>
                    </a:solidFill>
                  </a:tcPr>
                </a:tc>
                <a:tc>
                  <a:txBody>
                    <a:bodyPr/>
                    <a:lstStyle/>
                    <a:p>
                      <a:pPr indent="0" marL="0">
                        <a:buNone/>
                      </a:pPr>
                      <a:r>
                        <a:rPr lang="en-US" sz="1100" b="1" dirty="0">
                          <a:solidFill>
                            <a:srgbClr val="1C1C1C"/>
                          </a:solidFill>
                        </a:rPr>
                        <a:t>Too early to judge*</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4D6D1"/>
                    </a:solidFill>
                  </a:tcPr>
                </a:tc>
              </a:tr>
              <a:tr h="850392">
                <a:tc>
                  <a:txBody>
                    <a:bodyPr/>
                    <a:lstStyle/>
                    <a:p>
                      <a:pPr indent="0" marL="0">
                        <a:buNone/>
                      </a:pPr>
                      <a:r>
                        <a:rPr lang="en-US" sz="1200" b="1" dirty="0">
                          <a:solidFill>
                            <a:srgbClr val="22303F"/>
                          </a:solidFill>
                        </a:rPr>
                        <a:t>Australia (ABS)</a:t>
                      </a:r>
                      <a:endParaRPr lang="en-US" sz="1200" dirty="0"/>
                    </a:p>
                  </a:txBody>
                  <a:tcPr marL="457200"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2016–2021</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AWS</a:t>
                      </a:r>
                      <a:r>
                        <a:rPr lang="en-US" sz="1100" baseline="30000" dirty="0">
                          <a:solidFill>
                            <a:srgbClr val="1C1C1C"/>
                          </a:solidFill>
                        </a:rPr>
                        <a:t>27</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Partial: one workload</a:t>
                      </a:r>
                      <a:r>
                        <a:rPr lang="en-US" sz="1100" baseline="30000" dirty="0">
                          <a:solidFill>
                            <a:srgbClr val="1C1C1C"/>
                          </a:solidFill>
                        </a:rPr>
                        <a:t>27</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2016 Census website outage</a:t>
                      </a:r>
                      <a:r>
                        <a:rPr lang="en-US" sz="1100" baseline="30000" dirty="0">
                          <a:solidFill>
                            <a:srgbClr val="1C1C1C"/>
                          </a:solidFill>
                        </a:rPr>
                        <a:t>25</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No unscheduled downtime; ~80% of returns online</a:t>
                      </a:r>
                      <a:r>
                        <a:rPr lang="en-US" sz="1100" baseline="30000" dirty="0">
                          <a:solidFill>
                            <a:srgbClr val="1C1C1C"/>
                          </a:solidFill>
                        </a:rPr>
                        <a:t>28,31</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One workload only; results not independently audited</a:t>
                      </a:r>
                      <a:r>
                        <a:rPr lang="en-US" sz="1100" baseline="30000" dirty="0">
                          <a:solidFill>
                            <a:srgbClr val="1C1C1C"/>
                          </a:solidFill>
                        </a:rPr>
                        <a:t>25,27</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rPr>
                        <a:t>Government and audit (ANAO)</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FFFFFF"/>
                    </a:solidFill>
                  </a:tcPr>
                </a:tc>
                <a:tc>
                  <a:txBody>
                    <a:bodyPr/>
                    <a:lstStyle/>
                    <a:p>
                      <a:pPr indent="0" marL="0">
                        <a:buNone/>
                      </a:pPr>
                      <a:r>
                        <a:rPr lang="en-US" sz="1100" b="1" dirty="0">
                          <a:solidFill>
                            <a:srgbClr val="1C1C1C"/>
                          </a:solidFill>
                        </a:rPr>
                        <a:t>Positive*</a:t>
                      </a:r>
                      <a:endParaRPr lang="en-US" sz="1200" dirty="0"/>
                    </a:p>
                  </a:txBody>
                  <a:tcPr marL="54864" marR="54864" marT="54864" marB="54864" anchor="ctr">
                    <a:lnL w="9525" cap="flat" cmpd="sng" algn="ctr">
                      <a:solidFill>
                        <a:srgbClr val="DDDFE3"/>
                      </a:solidFill>
                      <a:prstDash val="solid"/>
                      <a:round/>
                      <a:headEnd type="none" w="med" len="med"/>
                      <a:tailEnd type="none" w="med" len="med"/>
                    </a:lnL>
                    <a:lnR w="9525" cap="flat" cmpd="sng" algn="ctr">
                      <a:solidFill>
                        <a:srgbClr val="DDDFE3"/>
                      </a:solidFill>
                      <a:prstDash val="solid"/>
                      <a:round/>
                      <a:headEnd type="none" w="med" len="med"/>
                      <a:tailEnd type="none" w="med" len="med"/>
                    </a:lnR>
                    <a:lnT w="9525" cap="flat" cmpd="sng" algn="ctr">
                      <a:solidFill>
                        <a:srgbClr val="DDDFE3"/>
                      </a:solidFill>
                      <a:prstDash val="solid"/>
                      <a:round/>
                      <a:headEnd type="none" w="med" len="med"/>
                      <a:tailEnd type="none" w="med" len="med"/>
                    </a:lnT>
                    <a:lnB w="9525" cap="flat" cmpd="sng" algn="ctr">
                      <a:solidFill>
                        <a:srgbClr val="DDDFE3"/>
                      </a:solidFill>
                      <a:prstDash val="solid"/>
                      <a:round/>
                      <a:headEnd type="none" w="med" len="med"/>
                      <a:tailEnd type="none" w="med" len="med"/>
                    </a:lnB>
                    <a:solidFill>
                      <a:srgbClr val="E4EED2"/>
                    </a:solidFill>
                  </a:tcPr>
                </a:tc>
              </a:tr>
            </a:tbl>
          </a:graphicData>
        </a:graphic>
      </p:graphicFrame>
      <p:pic>
        <p:nvPicPr>
          <p:cNvPr id="4" name="flag-sg-0.68" descr="Flag of Singapore">    </p:cNvPr>
          <p:cNvPicPr>
            <a:picLocks noChangeAspect="1"/>
          </p:cNvPicPr>
          <p:nvPr/>
        </p:nvPicPr>
        <p:blipFill>
          <a:blip r:embed="rId1"/>
          <a:stretch>
            <a:fillRect/>
          </a:stretch>
        </p:blipFill>
        <p:spPr>
          <a:xfrm>
            <a:off x="621792" y="1815084"/>
            <a:ext cx="274320" cy="274320"/>
          </a:xfrm>
          <a:prstGeom prst="rect">
            <a:avLst/>
          </a:prstGeom>
        </p:spPr>
      </p:pic>
      <p:sp>
        <p:nvSpPr>
          <p:cNvPr id="5" name="flag-ring-sg-0.68"/>
          <p:cNvSpPr/>
          <p:nvPr/>
        </p:nvSpPr>
        <p:spPr>
          <a:xfrm>
            <a:off x="621792" y="1815084"/>
            <a:ext cx="274320" cy="274320"/>
          </a:xfrm>
          <a:prstGeom prst="ellipse">
            <a:avLst/>
          </a:prstGeom>
          <a:noFill/>
          <a:ln w="9525">
            <a:solidFill>
              <a:srgbClr val="C9CDD3"/>
            </a:solidFill>
            <a:prstDash val="solid"/>
          </a:ln>
        </p:spPr>
      </p:sp>
      <p:pic>
        <p:nvPicPr>
          <p:cNvPr id="6" name="flag-nz-0.68" descr="Flag of New Zealand">    </p:cNvPr>
          <p:cNvPicPr>
            <a:picLocks noChangeAspect="1"/>
          </p:cNvPicPr>
          <p:nvPr/>
        </p:nvPicPr>
        <p:blipFill>
          <a:blip r:embed="rId2"/>
          <a:stretch>
            <a:fillRect/>
          </a:stretch>
        </p:blipFill>
        <p:spPr>
          <a:xfrm>
            <a:off x="621792" y="2665476"/>
            <a:ext cx="274320" cy="274320"/>
          </a:xfrm>
          <a:prstGeom prst="rect">
            <a:avLst/>
          </a:prstGeom>
        </p:spPr>
      </p:pic>
      <p:sp>
        <p:nvSpPr>
          <p:cNvPr id="7" name="flag-ring-nz-0.68"/>
          <p:cNvSpPr/>
          <p:nvPr/>
        </p:nvSpPr>
        <p:spPr>
          <a:xfrm>
            <a:off x="621792" y="2665476"/>
            <a:ext cx="274320" cy="274320"/>
          </a:xfrm>
          <a:prstGeom prst="ellipse">
            <a:avLst/>
          </a:prstGeom>
          <a:noFill/>
          <a:ln w="9525">
            <a:solidFill>
              <a:srgbClr val="C9CDD3"/>
            </a:solidFill>
            <a:prstDash val="solid"/>
          </a:ln>
        </p:spPr>
      </p:sp>
      <p:pic>
        <p:nvPicPr>
          <p:cNvPr id="8" name="flag-us-0.68" descr="Flag of the United States">    </p:cNvPr>
          <p:cNvPicPr>
            <a:picLocks noChangeAspect="1"/>
          </p:cNvPicPr>
          <p:nvPr/>
        </p:nvPicPr>
        <p:blipFill>
          <a:blip r:embed="rId3"/>
          <a:stretch>
            <a:fillRect/>
          </a:stretch>
        </p:blipFill>
        <p:spPr>
          <a:xfrm>
            <a:off x="621792" y="3515868"/>
            <a:ext cx="274320" cy="274320"/>
          </a:xfrm>
          <a:prstGeom prst="rect">
            <a:avLst/>
          </a:prstGeom>
        </p:spPr>
      </p:pic>
      <p:sp>
        <p:nvSpPr>
          <p:cNvPr id="9" name="flag-ring-us-0.68"/>
          <p:cNvSpPr/>
          <p:nvPr/>
        </p:nvSpPr>
        <p:spPr>
          <a:xfrm>
            <a:off x="621792" y="3515868"/>
            <a:ext cx="274320" cy="274320"/>
          </a:xfrm>
          <a:prstGeom prst="ellipse">
            <a:avLst/>
          </a:prstGeom>
          <a:noFill/>
          <a:ln w="9525">
            <a:solidFill>
              <a:srgbClr val="C9CDD3"/>
            </a:solidFill>
            <a:prstDash val="solid"/>
          </a:ln>
        </p:spPr>
      </p:sp>
      <p:pic>
        <p:nvPicPr>
          <p:cNvPr id="10" name="flag-gb-0.68" descr="Flag of the United Kingdom">    </p:cNvPr>
          <p:cNvPicPr>
            <a:picLocks noChangeAspect="1"/>
          </p:cNvPicPr>
          <p:nvPr/>
        </p:nvPicPr>
        <p:blipFill>
          <a:blip r:embed="rId4"/>
          <a:stretch>
            <a:fillRect/>
          </a:stretch>
        </p:blipFill>
        <p:spPr>
          <a:xfrm>
            <a:off x="621792" y="4366260"/>
            <a:ext cx="274320" cy="274320"/>
          </a:xfrm>
          <a:prstGeom prst="rect">
            <a:avLst/>
          </a:prstGeom>
        </p:spPr>
      </p:pic>
      <p:sp>
        <p:nvSpPr>
          <p:cNvPr id="11" name="flag-ring-gb-0.68"/>
          <p:cNvSpPr/>
          <p:nvPr/>
        </p:nvSpPr>
        <p:spPr>
          <a:xfrm>
            <a:off x="621792" y="4366260"/>
            <a:ext cx="274320" cy="274320"/>
          </a:xfrm>
          <a:prstGeom prst="ellipse">
            <a:avLst/>
          </a:prstGeom>
          <a:noFill/>
          <a:ln w="9525">
            <a:solidFill>
              <a:srgbClr val="C9CDD3"/>
            </a:solidFill>
            <a:prstDash val="solid"/>
          </a:ln>
        </p:spPr>
      </p:sp>
      <p:pic>
        <p:nvPicPr>
          <p:cNvPr id="12" name="flag-au-0.68" descr="Flag of Australia">    </p:cNvPr>
          <p:cNvPicPr>
            <a:picLocks noChangeAspect="1"/>
          </p:cNvPicPr>
          <p:nvPr/>
        </p:nvPicPr>
        <p:blipFill>
          <a:blip r:embed="rId5"/>
          <a:stretch>
            <a:fillRect/>
          </a:stretch>
        </p:blipFill>
        <p:spPr>
          <a:xfrm>
            <a:off x="621792" y="5216652"/>
            <a:ext cx="274320" cy="274320"/>
          </a:xfrm>
          <a:prstGeom prst="rect">
            <a:avLst/>
          </a:prstGeom>
        </p:spPr>
      </p:pic>
      <p:sp>
        <p:nvSpPr>
          <p:cNvPr id="13" name="flag-ring-au-0.68"/>
          <p:cNvSpPr/>
          <p:nvPr/>
        </p:nvSpPr>
        <p:spPr>
          <a:xfrm>
            <a:off x="621792" y="5216652"/>
            <a:ext cx="274320" cy="274320"/>
          </a:xfrm>
          <a:prstGeom prst="ellipse">
            <a:avLst/>
          </a:prstGeom>
          <a:noFill/>
          <a:ln w="9525">
            <a:solidFill>
              <a:srgbClr val="C9CDD3"/>
            </a:solidFill>
            <a:prstDash val="solid"/>
          </a:ln>
        </p:spPr>
      </p:sp>
      <p:sp>
        <p:nvSpPr>
          <p:cNvPr id="14" name="table-not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i="1" dirty="0">
                <a:solidFill>
                  <a:schemeClr val="accent5"/>
                </a:solidFill>
              </a:rPr>
              <a:t>Verdicts are our assessment of the sources (*). Amounts come from different years and currencies and are not directly comparable.</a:t>
            </a:r>
            <a:endParaRPr lang="en-US" sz="1000" dirty="0"/>
          </a:p>
        </p:txBody>
      </p:sp>
      <p:sp>
        <p:nvSpPr>
          <p:cNvPr id="25" name="Slide Number Placeholder 0"/>
          <p:cNvSpPr>
            <a:spLocks noGrp="1"/>
          </p:cNvSpPr>
          <p:nvPr>
            <p:ph type="sldNum" sz="quarter" idx="4294967295"/>
          </p:nvPr>
        </p:nvSpPr>
        <p:spPr>
          <a:xfrm>
            <a:off x="11155680"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References (1 of 3)</a:t>
            </a:r>
            <a:endParaRPr lang="en-US" sz="3400" dirty="0"/>
          </a:p>
        </p:txBody>
      </p:sp>
      <p:pic>
        <p:nvPicPr>
          <p:cNvPr id="3" name="flag-sg-0.60" descr="Flag of Singapore">    </p:cNvPr>
          <p:cNvPicPr>
            <a:picLocks noChangeAspect="1"/>
          </p:cNvPicPr>
          <p:nvPr/>
        </p:nvPicPr>
        <p:blipFill>
          <a:blip r:embed="rId1"/>
          <a:stretch>
            <a:fillRect/>
          </a:stretch>
        </p:blipFill>
        <p:spPr>
          <a:xfrm>
            <a:off x="548640" y="1124712"/>
            <a:ext cx="219456" cy="219456"/>
          </a:xfrm>
          <a:prstGeom prst="rect">
            <a:avLst/>
          </a:prstGeom>
        </p:spPr>
      </p:pic>
      <p:sp>
        <p:nvSpPr>
          <p:cNvPr id="4" name="flag-ring-sg-0.60"/>
          <p:cNvSpPr/>
          <p:nvPr/>
        </p:nvSpPr>
        <p:spPr>
          <a:xfrm>
            <a:off x="548640" y="1124712"/>
            <a:ext cx="219456" cy="219456"/>
          </a:xfrm>
          <a:prstGeom prst="ellipse">
            <a:avLst/>
          </a:prstGeom>
          <a:noFill/>
          <a:ln w="9525">
            <a:solidFill>
              <a:srgbClr val="C9CDD3"/>
            </a:solidFill>
            <a:prstDash val="solid"/>
          </a:ln>
        </p:spPr>
      </p:sp>
      <p:sp>
        <p:nvSpPr>
          <p:cNvPr id="5" name="ref-group-1"/>
          <p:cNvSpPr txBox="1"/>
          <p:nvPr/>
        </p:nvSpPr>
        <p:spPr>
          <a:xfrm>
            <a:off x="841248" y="1097280"/>
            <a:ext cx="5029200" cy="274320"/>
          </a:xfrm>
          <a:prstGeom prst="rect">
            <a:avLst/>
          </a:prstGeom>
          <a:noFill/>
          <a:ln/>
        </p:spPr>
        <p:txBody>
          <a:bodyPr wrap="square" lIns="0" tIns="0" rIns="0" bIns="0" rtlCol="0" anchor="ctr"/>
          <a:lstStyle/>
          <a:p>
            <a:pPr indent="0" marL="0">
              <a:buNone/>
            </a:pPr>
            <a:r>
              <a:rPr lang="en-US" sz="1300" b="1" dirty="0">
                <a:solidFill>
                  <a:schemeClr val="tx2"/>
                </a:solidFill>
                <a:latin typeface="Cambria" pitchFamily="34" charset="0"/>
                <a:ea typeface="Cambria" pitchFamily="34" charset="-122"/>
                <a:cs typeface="Cambria" pitchFamily="34" charset="-120"/>
              </a:rPr>
              <a:t>Singapore</a:t>
            </a:r>
            <a:endParaRPr lang="en-US" sz="1300" dirty="0"/>
          </a:p>
        </p:txBody>
      </p:sp>
      <p:sp>
        <p:nvSpPr>
          <p:cNvPr id="6" name="ref-n-1"/>
          <p:cNvSpPr txBox="1"/>
          <p:nvPr/>
        </p:nvSpPr>
        <p:spPr>
          <a:xfrm>
            <a:off x="548640" y="1426464"/>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1</a:t>
            </a:r>
            <a:endParaRPr lang="en-US" sz="1300" dirty="0"/>
          </a:p>
        </p:txBody>
      </p:sp>
      <p:sp>
        <p:nvSpPr>
          <p:cNvPr id="7" name="ref-t-1"/>
          <p:cNvSpPr txBox="1"/>
          <p:nvPr/>
        </p:nvSpPr>
        <p:spPr>
          <a:xfrm>
            <a:off x="960120" y="1426464"/>
            <a:ext cx="4983480" cy="576072"/>
          </a:xfrm>
          <a:prstGeom prst="rect">
            <a:avLst/>
          </a:prstGeom>
          <a:noFill/>
          <a:ln/>
        </p:spPr>
        <p:txBody>
          <a:bodyPr wrap="square" lIns="0" tIns="0" rIns="0" bIns="0" rtlCol="0" anchor="t"/>
          <a:lstStyle/>
          <a:p>
            <a:pPr indent="0" marL="0">
              <a:buNone/>
            </a:pPr>
            <a:r>
              <a:rPr lang="en-US" sz="1100" dirty="0">
                <a:solidFill>
                  <a:schemeClr val="tx1"/>
                </a:solidFill>
              </a:rPr>
              <a:t>GovTech Singapore. Government on Commercial Cloud (GCC). </a:t>
            </a:r>
            <a:r>
              <a:rPr lang="en-US" sz="1100" i="1" dirty="0">
                <a:solidFill>
                  <a:schemeClr val="accent5"/>
                </a:solidFill>
              </a:rPr>
              <a:t>Organization</a:t>
            </a:r>
            <a:endParaRPr lang="en-US" sz="1100" dirty="0"/>
          </a:p>
          <a:p>
            <a:pPr indent="0" marL="0">
              <a:buNone/>
            </a:pPr>
            <a:r>
              <a:rPr lang="en-US" sz="9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https://www.tech.gov.sg/products-and-services/for-government-agencies/software-development/government-on-commercial-cloud/</a:t>
            </a:r>
            <a:endParaRPr lang="en-US" sz="1100" dirty="0"/>
          </a:p>
        </p:txBody>
      </p:sp>
      <p:sp>
        <p:nvSpPr>
          <p:cNvPr id="8" name="ref-n-2"/>
          <p:cNvSpPr txBox="1"/>
          <p:nvPr/>
        </p:nvSpPr>
        <p:spPr>
          <a:xfrm>
            <a:off x="548640" y="2130552"/>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2</a:t>
            </a:r>
            <a:endParaRPr lang="en-US" sz="1300" dirty="0"/>
          </a:p>
        </p:txBody>
      </p:sp>
      <p:sp>
        <p:nvSpPr>
          <p:cNvPr id="9" name="ref-t-2"/>
          <p:cNvSpPr txBox="1"/>
          <p:nvPr/>
        </p:nvSpPr>
        <p:spPr>
          <a:xfrm>
            <a:off x="960120" y="2130552"/>
            <a:ext cx="4983480" cy="402336"/>
          </a:xfrm>
          <a:prstGeom prst="rect">
            <a:avLst/>
          </a:prstGeom>
          <a:noFill/>
          <a:ln/>
        </p:spPr>
        <p:txBody>
          <a:bodyPr wrap="square" lIns="0" tIns="0" rIns="0" bIns="0" rtlCol="0" anchor="t"/>
          <a:lstStyle/>
          <a:p>
            <a:pPr indent="0" marL="0">
              <a:buNone/>
            </a:pPr>
            <a:r>
              <a:rPr lang="en-US" sz="1100" dirty="0">
                <a:solidFill>
                  <a:schemeClr val="tx1"/>
                </a:solidFill>
              </a:rPr>
              <a:t>GovTech Singapore Government Developer Portal. GCC overview. </a:t>
            </a:r>
            <a:r>
              <a:rPr lang="en-US" sz="1100" i="1" dirty="0">
                <a:solidFill>
                  <a:schemeClr val="accent5"/>
                </a:solidFill>
              </a:rPr>
              <a:t>Organization</a:t>
            </a:r>
            <a:endParaRPr lang="en-US" sz="1100" dirty="0"/>
          </a:p>
          <a:p>
            <a:pPr indent="0" marL="0">
              <a:buNone/>
            </a:pPr>
            <a:r>
              <a:rPr lang="en-US" sz="900"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https://developer.tech.gov.sg/products/categories/infrastructure-and-hosting/gcc/overview</a:t>
            </a:r>
            <a:endParaRPr lang="en-US" sz="1100" dirty="0"/>
          </a:p>
        </p:txBody>
      </p:sp>
      <p:sp>
        <p:nvSpPr>
          <p:cNvPr id="10" name="ref-n-3"/>
          <p:cNvSpPr txBox="1"/>
          <p:nvPr/>
        </p:nvSpPr>
        <p:spPr>
          <a:xfrm>
            <a:off x="548640" y="2660904"/>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3</a:t>
            </a:r>
            <a:endParaRPr lang="en-US" sz="1300" dirty="0"/>
          </a:p>
        </p:txBody>
      </p:sp>
      <p:sp>
        <p:nvSpPr>
          <p:cNvPr id="11" name="ref-t-3"/>
          <p:cNvSpPr txBox="1"/>
          <p:nvPr/>
        </p:nvSpPr>
        <p:spPr>
          <a:xfrm>
            <a:off x="960120" y="2660904"/>
            <a:ext cx="4983480" cy="576072"/>
          </a:xfrm>
          <a:prstGeom prst="rect">
            <a:avLst/>
          </a:prstGeom>
          <a:noFill/>
          <a:ln/>
        </p:spPr>
        <p:txBody>
          <a:bodyPr wrap="square" lIns="0" tIns="0" rIns="0" bIns="0" rtlCol="0" anchor="t"/>
          <a:lstStyle/>
          <a:p>
            <a:pPr indent="0" marL="0">
              <a:buNone/>
            </a:pPr>
            <a:r>
              <a:rPr lang="en-US" sz="1100" dirty="0">
                <a:solidFill>
                  <a:schemeClr val="tx1"/>
                </a:solidFill>
              </a:rPr>
              <a:t>GovTech (June 2022). Government's FY22 ICT spending to hold steady, close to $4 billion. </a:t>
            </a:r>
            <a:r>
              <a:rPr lang="en-US" sz="1100" i="1" dirty="0">
                <a:solidFill>
                  <a:schemeClr val="accent5"/>
                </a:solidFill>
              </a:rPr>
              <a:t>Organization</a:t>
            </a:r>
            <a:endParaRPr lang="en-US" sz="1100" dirty="0"/>
          </a:p>
          <a:p>
            <a:pPr indent="0" marL="0">
              <a:buNone/>
            </a:pPr>
            <a:r>
              <a:rPr lang="en-US" sz="900"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https://www.tech.gov.sg/media/media-releases/2022-06-10-government-fy22-ict-spending</a:t>
            </a:r>
            <a:endParaRPr lang="en-US" sz="1100" dirty="0"/>
          </a:p>
        </p:txBody>
      </p:sp>
      <p:sp>
        <p:nvSpPr>
          <p:cNvPr id="12" name="ref-n-4"/>
          <p:cNvSpPr txBox="1"/>
          <p:nvPr/>
        </p:nvSpPr>
        <p:spPr>
          <a:xfrm>
            <a:off x="548640" y="3364992"/>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4</a:t>
            </a:r>
            <a:endParaRPr lang="en-US" sz="1300" dirty="0"/>
          </a:p>
        </p:txBody>
      </p:sp>
      <p:sp>
        <p:nvSpPr>
          <p:cNvPr id="13" name="ref-t-4"/>
          <p:cNvSpPr txBox="1"/>
          <p:nvPr/>
        </p:nvSpPr>
        <p:spPr>
          <a:xfrm>
            <a:off x="960120" y="3364992"/>
            <a:ext cx="4983480" cy="749808"/>
          </a:xfrm>
          <a:prstGeom prst="rect">
            <a:avLst/>
          </a:prstGeom>
          <a:noFill/>
          <a:ln/>
        </p:spPr>
        <p:txBody>
          <a:bodyPr wrap="square" lIns="0" tIns="0" rIns="0" bIns="0" rtlCol="0" anchor="t"/>
          <a:lstStyle/>
          <a:p>
            <a:pPr indent="0" marL="0">
              <a:buNone/>
            </a:pPr>
            <a:r>
              <a:rPr lang="en-US" sz="1100" dirty="0">
                <a:solidFill>
                  <a:schemeClr val="tx1"/>
                </a:solidFill>
              </a:rPr>
              <a:t>GovTech TechNews. Doubling down on cloud to deliver better government services. </a:t>
            </a:r>
            <a:r>
              <a:rPr lang="en-US" sz="1100" i="1" dirty="0">
                <a:solidFill>
                  <a:schemeClr val="accent5"/>
                </a:solidFill>
              </a:rPr>
              <a:t>Organization</a:t>
            </a:r>
            <a:endParaRPr lang="en-US" sz="1100" dirty="0"/>
          </a:p>
          <a:p>
            <a:pPr indent="0" marL="0">
              <a:buNone/>
            </a:pPr>
            <a:r>
              <a:rPr lang="en-US" sz="900" u="sng" dirty="0">
                <a:solidFill>
                  <a:schemeClr val="accent1"/>
                </a:solidFill>
                <a:hlinkClick r:id="rId5" invalidUrl="" action="" tgtFrame="" tooltip="" history="1" highlightClick="0" endSnd="0">
                  <a:extLst>
                    <a:ext uri="{A12FA001-AC4F-418D-AE19-62706E023703}">
                      <ahyp:hlinkClr xmlns:ahyp="http://schemas.microsoft.com/office/drawing/2018/hyperlinkcolor" val="tx"/>
                    </a:ext>
                  </a:extLst>
                </a:hlinkClick>
              </a:rPr>
              <a:t>https://www.tech.gov.sg/technews/doubling-down-on-cloud-to-deliver-better-government-services/</a:t>
            </a:r>
            <a:endParaRPr lang="en-US" sz="1100" dirty="0"/>
          </a:p>
        </p:txBody>
      </p:sp>
      <p:sp>
        <p:nvSpPr>
          <p:cNvPr id="14" name="ref-n-5"/>
          <p:cNvSpPr txBox="1"/>
          <p:nvPr/>
        </p:nvSpPr>
        <p:spPr>
          <a:xfrm>
            <a:off x="548640" y="4242816"/>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5</a:t>
            </a:r>
            <a:endParaRPr lang="en-US" sz="1300" dirty="0"/>
          </a:p>
        </p:txBody>
      </p:sp>
      <p:sp>
        <p:nvSpPr>
          <p:cNvPr id="15" name="ref-t-5"/>
          <p:cNvSpPr txBox="1"/>
          <p:nvPr/>
        </p:nvSpPr>
        <p:spPr>
          <a:xfrm>
            <a:off x="960120" y="4242816"/>
            <a:ext cx="4983480" cy="749808"/>
          </a:xfrm>
          <a:prstGeom prst="rect">
            <a:avLst/>
          </a:prstGeom>
          <a:noFill/>
          <a:ln/>
        </p:spPr>
        <p:txBody>
          <a:bodyPr wrap="square" lIns="0" tIns="0" rIns="0" bIns="0" rtlCol="0" anchor="t"/>
          <a:lstStyle/>
          <a:p>
            <a:pPr indent="0" marL="0">
              <a:buNone/>
            </a:pPr>
            <a:r>
              <a:rPr lang="en-US" sz="1100" dirty="0">
                <a:solidFill>
                  <a:schemeClr val="tx1"/>
                </a:solidFill>
              </a:rPr>
              <a:t>GovInsider. The road to cloud: How Singapore government achieved its ambitious goals. </a:t>
            </a:r>
            <a:r>
              <a:rPr lang="en-US" sz="1100" i="1" dirty="0">
                <a:solidFill>
                  <a:schemeClr val="accent5"/>
                </a:solidFill>
              </a:rPr>
              <a:t>News</a:t>
            </a:r>
            <a:endParaRPr lang="en-US" sz="1100" dirty="0"/>
          </a:p>
          <a:p>
            <a:pPr indent="0" marL="0">
              <a:buNone/>
            </a:pPr>
            <a:r>
              <a:rPr lang="en-US" sz="900" u="sng" dirty="0">
                <a:solidFill>
                  <a:schemeClr val="accent1"/>
                </a:solidFill>
                <a:hlinkClick r:id="rId6" invalidUrl="" action="" tgtFrame="" tooltip="" history="1" highlightClick="0" endSnd="0">
                  <a:extLst>
                    <a:ext uri="{A12FA001-AC4F-418D-AE19-62706E023703}">
                      <ahyp:hlinkClr xmlns:ahyp="http://schemas.microsoft.com/office/drawing/2018/hyperlinkcolor" val="tx"/>
                    </a:ext>
                  </a:extLst>
                </a:hlinkClick>
              </a:rPr>
              <a:t>https://govinsider.asia/intl-en/article/the-road-to-cloud-how-singapore-government-achieved-its-ambitious-goals</a:t>
            </a:r>
            <a:endParaRPr lang="en-US" sz="1100" dirty="0"/>
          </a:p>
        </p:txBody>
      </p:sp>
      <p:pic>
        <p:nvPicPr>
          <p:cNvPr id="16" name="flag-sg-6.80" descr="Flag of Singapore">    </p:cNvPr>
          <p:cNvPicPr>
            <a:picLocks noChangeAspect="1"/>
          </p:cNvPicPr>
          <p:nvPr/>
        </p:nvPicPr>
        <p:blipFill>
          <a:blip r:embed="rId7"/>
          <a:stretch>
            <a:fillRect/>
          </a:stretch>
        </p:blipFill>
        <p:spPr>
          <a:xfrm>
            <a:off x="6217920" y="1124712"/>
            <a:ext cx="219456" cy="219456"/>
          </a:xfrm>
          <a:prstGeom prst="rect">
            <a:avLst/>
          </a:prstGeom>
        </p:spPr>
      </p:pic>
      <p:sp>
        <p:nvSpPr>
          <p:cNvPr id="17" name="flag-ring-sg-6.80"/>
          <p:cNvSpPr/>
          <p:nvPr/>
        </p:nvSpPr>
        <p:spPr>
          <a:xfrm>
            <a:off x="6217920" y="1124712"/>
            <a:ext cx="219456" cy="219456"/>
          </a:xfrm>
          <a:prstGeom prst="ellipse">
            <a:avLst/>
          </a:prstGeom>
          <a:noFill/>
          <a:ln w="9525">
            <a:solidFill>
              <a:srgbClr val="C9CDD3"/>
            </a:solidFill>
            <a:prstDash val="solid"/>
          </a:ln>
        </p:spPr>
      </p:sp>
      <p:sp>
        <p:nvSpPr>
          <p:cNvPr id="18" name="ref-group-6"/>
          <p:cNvSpPr txBox="1"/>
          <p:nvPr/>
        </p:nvSpPr>
        <p:spPr>
          <a:xfrm>
            <a:off x="6510528" y="1097280"/>
            <a:ext cx="5029200" cy="274320"/>
          </a:xfrm>
          <a:prstGeom prst="rect">
            <a:avLst/>
          </a:prstGeom>
          <a:noFill/>
          <a:ln/>
        </p:spPr>
        <p:txBody>
          <a:bodyPr wrap="square" lIns="0" tIns="0" rIns="0" bIns="0" rtlCol="0" anchor="ctr"/>
          <a:lstStyle/>
          <a:p>
            <a:pPr indent="0" marL="0">
              <a:buNone/>
            </a:pPr>
            <a:r>
              <a:rPr lang="en-US" sz="1300" b="1" dirty="0">
                <a:solidFill>
                  <a:schemeClr val="tx2"/>
                </a:solidFill>
                <a:latin typeface="Cambria" pitchFamily="34" charset="0"/>
                <a:ea typeface="Cambria" pitchFamily="34" charset="-122"/>
                <a:cs typeface="Cambria" pitchFamily="34" charset="-120"/>
              </a:rPr>
              <a:t>Singapore (continued)</a:t>
            </a:r>
            <a:endParaRPr lang="en-US" sz="1300" dirty="0"/>
          </a:p>
        </p:txBody>
      </p:sp>
      <p:sp>
        <p:nvSpPr>
          <p:cNvPr id="19" name="ref-n-6"/>
          <p:cNvSpPr txBox="1"/>
          <p:nvPr/>
        </p:nvSpPr>
        <p:spPr>
          <a:xfrm>
            <a:off x="6217920" y="1426464"/>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6</a:t>
            </a:r>
            <a:endParaRPr lang="en-US" sz="1300" dirty="0"/>
          </a:p>
        </p:txBody>
      </p:sp>
      <p:sp>
        <p:nvSpPr>
          <p:cNvPr id="20" name="ref-t-6"/>
          <p:cNvSpPr txBox="1"/>
          <p:nvPr/>
        </p:nvSpPr>
        <p:spPr>
          <a:xfrm>
            <a:off x="6629400" y="1426464"/>
            <a:ext cx="4983480" cy="749808"/>
          </a:xfrm>
          <a:prstGeom prst="rect">
            <a:avLst/>
          </a:prstGeom>
          <a:noFill/>
          <a:ln/>
        </p:spPr>
        <p:txBody>
          <a:bodyPr wrap="square" lIns="0" tIns="0" rIns="0" bIns="0" rtlCol="0" anchor="t"/>
          <a:lstStyle/>
          <a:p>
            <a:pPr indent="0" marL="0">
              <a:buNone/>
            </a:pPr>
            <a:r>
              <a:rPr lang="en-US" sz="1100" dirty="0">
                <a:solidFill>
                  <a:schemeClr val="tx1"/>
                </a:solidFill>
              </a:rPr>
              <a:t>GovTech (May 2023). Government projected to spend more than $3 billion on ICT in FY23. </a:t>
            </a:r>
            <a:r>
              <a:rPr lang="en-US" sz="1100" i="1" dirty="0">
                <a:solidFill>
                  <a:schemeClr val="accent5"/>
                </a:solidFill>
              </a:rPr>
              <a:t>Organization</a:t>
            </a:r>
            <a:endParaRPr lang="en-US" sz="1100" dirty="0"/>
          </a:p>
          <a:p>
            <a:pPr indent="0" marL="0">
              <a:buNone/>
            </a:pPr>
            <a:r>
              <a:rPr lang="en-US" sz="900" u="sng" dirty="0">
                <a:solidFill>
                  <a:schemeClr val="accent1"/>
                </a:solidFill>
                <a:hlinkClick r:id="rId8" invalidUrl="" action="" tgtFrame="" tooltip="" history="1" highlightClick="0" endSnd="0">
                  <a:extLst>
                    <a:ext uri="{A12FA001-AC4F-418D-AE19-62706E023703}">
                      <ahyp:hlinkClr xmlns:ahyp="http://schemas.microsoft.com/office/drawing/2018/hyperlinkcolor" val="tx"/>
                    </a:ext>
                  </a:extLst>
                </a:hlinkClick>
              </a:rPr>
              <a:t>https://tech.gov.sg/media/media-releases/2023-05-24-government-projected-to-spend-on-ict-in-fy23</a:t>
            </a:r>
            <a:endParaRPr lang="en-US" sz="1100" dirty="0"/>
          </a:p>
        </p:txBody>
      </p:sp>
      <p:pic>
        <p:nvPicPr>
          <p:cNvPr id="21" name="flag-nz-6.80" descr="Flag of New Zealand">    </p:cNvPr>
          <p:cNvPicPr>
            <a:picLocks noChangeAspect="1"/>
          </p:cNvPicPr>
          <p:nvPr/>
        </p:nvPicPr>
        <p:blipFill>
          <a:blip r:embed="rId9"/>
          <a:stretch>
            <a:fillRect/>
          </a:stretch>
        </p:blipFill>
        <p:spPr>
          <a:xfrm>
            <a:off x="6217920" y="2331720"/>
            <a:ext cx="219456" cy="219456"/>
          </a:xfrm>
          <a:prstGeom prst="rect">
            <a:avLst/>
          </a:prstGeom>
        </p:spPr>
      </p:pic>
      <p:sp>
        <p:nvSpPr>
          <p:cNvPr id="22" name="flag-ring-nz-6.80"/>
          <p:cNvSpPr/>
          <p:nvPr/>
        </p:nvSpPr>
        <p:spPr>
          <a:xfrm>
            <a:off x="6217920" y="2331720"/>
            <a:ext cx="219456" cy="219456"/>
          </a:xfrm>
          <a:prstGeom prst="ellipse">
            <a:avLst/>
          </a:prstGeom>
          <a:noFill/>
          <a:ln w="9525">
            <a:solidFill>
              <a:srgbClr val="C9CDD3"/>
            </a:solidFill>
            <a:prstDash val="solid"/>
          </a:ln>
        </p:spPr>
      </p:sp>
      <p:sp>
        <p:nvSpPr>
          <p:cNvPr id="23" name="ref-group-7"/>
          <p:cNvSpPr txBox="1"/>
          <p:nvPr/>
        </p:nvSpPr>
        <p:spPr>
          <a:xfrm>
            <a:off x="6510528" y="2304288"/>
            <a:ext cx="5029200" cy="274320"/>
          </a:xfrm>
          <a:prstGeom prst="rect">
            <a:avLst/>
          </a:prstGeom>
          <a:noFill/>
          <a:ln/>
        </p:spPr>
        <p:txBody>
          <a:bodyPr wrap="square" lIns="0" tIns="0" rIns="0" bIns="0" rtlCol="0" anchor="ctr"/>
          <a:lstStyle/>
          <a:p>
            <a:pPr indent="0" marL="0">
              <a:buNone/>
            </a:pPr>
            <a:r>
              <a:rPr lang="en-US" sz="1300" b="1" dirty="0">
                <a:solidFill>
                  <a:schemeClr val="tx2"/>
                </a:solidFill>
                <a:latin typeface="Cambria" pitchFamily="34" charset="0"/>
                <a:ea typeface="Cambria" pitchFamily="34" charset="-122"/>
                <a:cs typeface="Cambria" pitchFamily="34" charset="-120"/>
              </a:rPr>
              <a:t>New Zealand</a:t>
            </a:r>
            <a:endParaRPr lang="en-US" sz="1300" dirty="0"/>
          </a:p>
        </p:txBody>
      </p:sp>
      <p:sp>
        <p:nvSpPr>
          <p:cNvPr id="24" name="ref-n-7"/>
          <p:cNvSpPr txBox="1"/>
          <p:nvPr/>
        </p:nvSpPr>
        <p:spPr>
          <a:xfrm>
            <a:off x="6217920" y="2633472"/>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7</a:t>
            </a:r>
            <a:endParaRPr lang="en-US" sz="1300" dirty="0"/>
          </a:p>
        </p:txBody>
      </p:sp>
      <p:sp>
        <p:nvSpPr>
          <p:cNvPr id="25" name="ref-t-7"/>
          <p:cNvSpPr txBox="1"/>
          <p:nvPr/>
        </p:nvSpPr>
        <p:spPr>
          <a:xfrm>
            <a:off x="6629400" y="2633472"/>
            <a:ext cx="4983480" cy="749808"/>
          </a:xfrm>
          <a:prstGeom prst="rect">
            <a:avLst/>
          </a:prstGeom>
          <a:noFill/>
          <a:ln/>
        </p:spPr>
        <p:txBody>
          <a:bodyPr wrap="square" lIns="0" tIns="0" rIns="0" bIns="0" rtlCol="0" anchor="t"/>
          <a:lstStyle/>
          <a:p>
            <a:pPr indent="0" marL="0">
              <a:buNone/>
            </a:pPr>
            <a:r>
              <a:rPr lang="en-US" sz="1100" dirty="0">
                <a:solidFill>
                  <a:schemeClr val="tx1"/>
                </a:solidFill>
              </a:rPr>
              <a:t>NZ Department of Internal Affairs (2023). Cabinet paper: Refreshing the Cloud First Policy. </a:t>
            </a:r>
            <a:r>
              <a:rPr lang="en-US" sz="1100" i="1" dirty="0">
                <a:solidFill>
                  <a:schemeClr val="accent5"/>
                </a:solidFill>
              </a:rPr>
              <a:t>Organization</a:t>
            </a:r>
            <a:endParaRPr lang="en-US" sz="1100" dirty="0"/>
          </a:p>
          <a:p>
            <a:pPr indent="0" marL="0">
              <a:buNone/>
            </a:pPr>
            <a:r>
              <a:rPr lang="en-US" sz="900" u="sng" dirty="0">
                <a:solidFill>
                  <a:schemeClr val="accent1"/>
                </a:solidFill>
                <a:hlinkClick r:id="rId10" invalidUrl="" action="" tgtFrame="" tooltip="" history="1" highlightClick="0" endSnd="0">
                  <a:extLst>
                    <a:ext uri="{A12FA001-AC4F-418D-AE19-62706E023703}">
                      <ahyp:hlinkClr xmlns:ahyp="http://schemas.microsoft.com/office/drawing/2018/hyperlinkcolor" val="tx"/>
                    </a:ext>
                  </a:extLst>
                </a:hlinkClick>
              </a:rPr>
              <a:t>https://dns.govt.nz/assets/Documents/2023-Cabinet-paper-Proposals-for-Refreshing-the-Cloud-First-Policy-and-Strengthening-Cloud-Adoption-Across-the-Public-Service.pdf</a:t>
            </a:r>
            <a:endParaRPr lang="en-US" sz="1100" dirty="0"/>
          </a:p>
        </p:txBody>
      </p:sp>
      <p:sp>
        <p:nvSpPr>
          <p:cNvPr id="26" name="ref-n-8"/>
          <p:cNvSpPr txBox="1"/>
          <p:nvPr/>
        </p:nvSpPr>
        <p:spPr>
          <a:xfrm>
            <a:off x="6217920" y="3511296"/>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8</a:t>
            </a:r>
            <a:endParaRPr lang="en-US" sz="1300" dirty="0"/>
          </a:p>
        </p:txBody>
      </p:sp>
      <p:sp>
        <p:nvSpPr>
          <p:cNvPr id="27" name="ref-t-8"/>
          <p:cNvSpPr txBox="1"/>
          <p:nvPr/>
        </p:nvSpPr>
        <p:spPr>
          <a:xfrm>
            <a:off x="6629400" y="3511296"/>
            <a:ext cx="4983480" cy="576072"/>
          </a:xfrm>
          <a:prstGeom prst="rect">
            <a:avLst/>
          </a:prstGeom>
          <a:noFill/>
          <a:ln/>
        </p:spPr>
        <p:txBody>
          <a:bodyPr wrap="square" lIns="0" tIns="0" rIns="0" bIns="0" rtlCol="0" anchor="t"/>
          <a:lstStyle/>
          <a:p>
            <a:pPr indent="0" marL="0">
              <a:buNone/>
            </a:pPr>
            <a:r>
              <a:rPr lang="en-US" sz="1100" dirty="0">
                <a:solidFill>
                  <a:schemeClr val="tx1"/>
                </a:solidFill>
              </a:rPr>
              <a:t>NZ Office of the Auditor-General (2018). Infrastructure as a Service: Are the benefits being achieved? </a:t>
            </a:r>
            <a:r>
              <a:rPr lang="en-US" sz="1100" i="1" dirty="0">
                <a:solidFill>
                  <a:schemeClr val="accent5"/>
                </a:solidFill>
              </a:rPr>
              <a:t>Audit</a:t>
            </a:r>
            <a:endParaRPr lang="en-US" sz="1100" dirty="0"/>
          </a:p>
          <a:p>
            <a:pPr indent="0" marL="0">
              <a:buNone/>
            </a:pPr>
            <a:r>
              <a:rPr lang="en-US" sz="900" u="sng" dirty="0">
                <a:solidFill>
                  <a:schemeClr val="accent1"/>
                </a:solidFill>
                <a:hlinkClick r:id="rId11" invalidUrl="" action="" tgtFrame="" tooltip="" history="1" highlightClick="0" endSnd="0">
                  <a:extLst>
                    <a:ext uri="{A12FA001-AC4F-418D-AE19-62706E023703}">
                      <ahyp:hlinkClr xmlns:ahyp="http://schemas.microsoft.com/office/drawing/2018/hyperlinkcolor" val="tx"/>
                    </a:ext>
                  </a:extLst>
                </a:hlinkClick>
              </a:rPr>
              <a:t>https://www.oag.parliament.nz/2018/infrastructure/docs/summary.pdf</a:t>
            </a:r>
            <a:endParaRPr lang="en-US" sz="1100" dirty="0"/>
          </a:p>
        </p:txBody>
      </p:sp>
      <p:sp>
        <p:nvSpPr>
          <p:cNvPr id="28" name="ref-n-9"/>
          <p:cNvSpPr txBox="1"/>
          <p:nvPr/>
        </p:nvSpPr>
        <p:spPr>
          <a:xfrm>
            <a:off x="6217920" y="4215384"/>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9</a:t>
            </a:r>
            <a:endParaRPr lang="en-US" sz="1300" dirty="0"/>
          </a:p>
        </p:txBody>
      </p:sp>
      <p:sp>
        <p:nvSpPr>
          <p:cNvPr id="29" name="ref-t-9"/>
          <p:cNvSpPr txBox="1"/>
          <p:nvPr/>
        </p:nvSpPr>
        <p:spPr>
          <a:xfrm>
            <a:off x="6629400" y="4215384"/>
            <a:ext cx="4983480" cy="576072"/>
          </a:xfrm>
          <a:prstGeom prst="rect">
            <a:avLst/>
          </a:prstGeom>
          <a:noFill/>
          <a:ln/>
        </p:spPr>
        <p:txBody>
          <a:bodyPr wrap="square" lIns="0" tIns="0" rIns="0" bIns="0" rtlCol="0" anchor="t"/>
          <a:lstStyle/>
          <a:p>
            <a:pPr indent="0" marL="0">
              <a:buNone/>
            </a:pPr>
            <a:r>
              <a:rPr lang="en-US" sz="1100" dirty="0">
                <a:solidFill>
                  <a:schemeClr val="tx1"/>
                </a:solidFill>
              </a:rPr>
              <a:t>NZ Office of the Auditor-General (2023). Response to recommendations about IaaS: letter from DIA. </a:t>
            </a:r>
            <a:r>
              <a:rPr lang="en-US" sz="1100" i="1" dirty="0">
                <a:solidFill>
                  <a:schemeClr val="accent5"/>
                </a:solidFill>
              </a:rPr>
              <a:t>Audit</a:t>
            </a:r>
            <a:endParaRPr lang="en-US" sz="1100" dirty="0"/>
          </a:p>
          <a:p>
            <a:pPr indent="0" marL="0">
              <a:buNone/>
            </a:pPr>
            <a:r>
              <a:rPr lang="en-US" sz="900" u="sng" dirty="0">
                <a:solidFill>
                  <a:schemeClr val="accent1"/>
                </a:solidFill>
                <a:hlinkClick r:id="rId12" invalidUrl="" action="" tgtFrame="" tooltip="" history="1" highlightClick="0" endSnd="0">
                  <a:extLst>
                    <a:ext uri="{A12FA001-AC4F-418D-AE19-62706E023703}">
                      <ahyp:hlinkClr xmlns:ahyp="http://schemas.microsoft.com/office/drawing/2018/hyperlinkcolor" val="tx"/>
                    </a:ext>
                  </a:extLst>
                </a:hlinkClick>
              </a:rPr>
              <a:t>https://ao.parliament.nz/2023/infrastructure-services/letter-dia</a:t>
            </a:r>
            <a:endParaRPr lang="en-US" sz="1100" dirty="0"/>
          </a:p>
        </p:txBody>
      </p:sp>
      <p:sp>
        <p:nvSpPr>
          <p:cNvPr id="30" name="ref-n-10"/>
          <p:cNvSpPr txBox="1"/>
          <p:nvPr/>
        </p:nvSpPr>
        <p:spPr>
          <a:xfrm>
            <a:off x="6217920" y="4919472"/>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10</a:t>
            </a:r>
            <a:endParaRPr lang="en-US" sz="1300" dirty="0"/>
          </a:p>
        </p:txBody>
      </p:sp>
      <p:sp>
        <p:nvSpPr>
          <p:cNvPr id="31" name="ref-t-10"/>
          <p:cNvSpPr txBox="1"/>
          <p:nvPr/>
        </p:nvSpPr>
        <p:spPr>
          <a:xfrm>
            <a:off x="6629400" y="4919472"/>
            <a:ext cx="4983480" cy="749808"/>
          </a:xfrm>
          <a:prstGeom prst="rect">
            <a:avLst/>
          </a:prstGeom>
          <a:noFill/>
          <a:ln/>
        </p:spPr>
        <p:txBody>
          <a:bodyPr wrap="square" lIns="0" tIns="0" rIns="0" bIns="0" rtlCol="0" anchor="t"/>
          <a:lstStyle/>
          <a:p>
            <a:pPr indent="0" marL="0">
              <a:buNone/>
            </a:pPr>
            <a:r>
              <a:rPr lang="en-US" sz="1100" dirty="0">
                <a:solidFill>
                  <a:schemeClr val="tx1"/>
                </a:solidFill>
              </a:rPr>
              <a:t>DatacenterDynamics. New Zealand's Internal Affairs investigates costs of cloud migration. </a:t>
            </a:r>
            <a:r>
              <a:rPr lang="en-US" sz="1100" i="1" dirty="0">
                <a:solidFill>
                  <a:schemeClr val="accent5"/>
                </a:solidFill>
              </a:rPr>
              <a:t>News</a:t>
            </a:r>
            <a:endParaRPr lang="en-US" sz="1100" dirty="0"/>
          </a:p>
          <a:p>
            <a:pPr indent="0" marL="0">
              <a:buNone/>
            </a:pPr>
            <a:r>
              <a:rPr lang="en-US" sz="900" u="sng" dirty="0">
                <a:solidFill>
                  <a:schemeClr val="accent1"/>
                </a:solidFill>
                <a:hlinkClick r:id="rId13" invalidUrl="" action="" tgtFrame="" tooltip="" history="1" highlightClick="0" endSnd="0">
                  <a:extLst>
                    <a:ext uri="{A12FA001-AC4F-418D-AE19-62706E023703}">
                      <ahyp:hlinkClr xmlns:ahyp="http://schemas.microsoft.com/office/drawing/2018/hyperlinkcolor" val="tx"/>
                    </a:ext>
                  </a:extLst>
                </a:hlinkClick>
              </a:rPr>
              <a:t>https://www.datacenterdynamics.com/en/news/new-zealands-internal-affairs-investigates-costs-of-cloud-computing-migration/</a:t>
            </a:r>
            <a:endParaRPr lang="en-US" sz="1100" dirty="0"/>
          </a:p>
        </p:txBody>
      </p:sp>
      <p:sp>
        <p:nvSpPr>
          <p:cNvPr id="25" name="Slide Number Placeholder 0"/>
          <p:cNvSpPr>
            <a:spLocks noGrp="1"/>
          </p:cNvSpPr>
          <p:nvPr>
            <p:ph type="sldNum" sz="quarter" idx="4294967295"/>
          </p:nvPr>
        </p:nvSpPr>
        <p:spPr>
          <a:xfrm>
            <a:off x="11155680"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References (2 of 3)</a:t>
            </a:r>
            <a:endParaRPr lang="en-US" sz="3400" dirty="0"/>
          </a:p>
        </p:txBody>
      </p:sp>
      <p:pic>
        <p:nvPicPr>
          <p:cNvPr id="3" name="flag-us-0.60" descr="Flag of the United States">    </p:cNvPr>
          <p:cNvPicPr>
            <a:picLocks noChangeAspect="1"/>
          </p:cNvPicPr>
          <p:nvPr/>
        </p:nvPicPr>
        <p:blipFill>
          <a:blip r:embed="rId1"/>
          <a:stretch>
            <a:fillRect/>
          </a:stretch>
        </p:blipFill>
        <p:spPr>
          <a:xfrm>
            <a:off x="548640" y="1124712"/>
            <a:ext cx="219456" cy="219456"/>
          </a:xfrm>
          <a:prstGeom prst="rect">
            <a:avLst/>
          </a:prstGeom>
        </p:spPr>
      </p:pic>
      <p:sp>
        <p:nvSpPr>
          <p:cNvPr id="4" name="flag-ring-us-0.60"/>
          <p:cNvSpPr/>
          <p:nvPr/>
        </p:nvSpPr>
        <p:spPr>
          <a:xfrm>
            <a:off x="548640" y="1124712"/>
            <a:ext cx="219456" cy="219456"/>
          </a:xfrm>
          <a:prstGeom prst="ellipse">
            <a:avLst/>
          </a:prstGeom>
          <a:noFill/>
          <a:ln w="9525">
            <a:solidFill>
              <a:srgbClr val="C9CDD3"/>
            </a:solidFill>
            <a:prstDash val="solid"/>
          </a:ln>
        </p:spPr>
      </p:sp>
      <p:sp>
        <p:nvSpPr>
          <p:cNvPr id="5" name="ref-group-11"/>
          <p:cNvSpPr txBox="1"/>
          <p:nvPr/>
        </p:nvSpPr>
        <p:spPr>
          <a:xfrm>
            <a:off x="841248" y="1097280"/>
            <a:ext cx="5029200" cy="274320"/>
          </a:xfrm>
          <a:prstGeom prst="rect">
            <a:avLst/>
          </a:prstGeom>
          <a:noFill/>
          <a:ln/>
        </p:spPr>
        <p:txBody>
          <a:bodyPr wrap="square" lIns="0" tIns="0" rIns="0" bIns="0" rtlCol="0" anchor="ctr"/>
          <a:lstStyle/>
          <a:p>
            <a:pPr indent="0" marL="0">
              <a:buNone/>
            </a:pPr>
            <a:r>
              <a:rPr lang="en-US" sz="1300" b="1" dirty="0">
                <a:solidFill>
                  <a:schemeClr val="tx2"/>
                </a:solidFill>
                <a:latin typeface="Cambria" pitchFamily="34" charset="0"/>
                <a:ea typeface="Cambria" pitchFamily="34" charset="-122"/>
                <a:cs typeface="Cambria" pitchFamily="34" charset="-120"/>
              </a:rPr>
              <a:t>United States</a:t>
            </a:r>
            <a:endParaRPr lang="en-US" sz="1300" dirty="0"/>
          </a:p>
        </p:txBody>
      </p:sp>
      <p:sp>
        <p:nvSpPr>
          <p:cNvPr id="6" name="ref-n-11"/>
          <p:cNvSpPr txBox="1"/>
          <p:nvPr/>
        </p:nvSpPr>
        <p:spPr>
          <a:xfrm>
            <a:off x="548640" y="1426464"/>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11</a:t>
            </a:r>
            <a:endParaRPr lang="en-US" sz="1300" dirty="0"/>
          </a:p>
        </p:txBody>
      </p:sp>
      <p:sp>
        <p:nvSpPr>
          <p:cNvPr id="7" name="ref-t-11"/>
          <p:cNvSpPr txBox="1"/>
          <p:nvPr/>
        </p:nvSpPr>
        <p:spPr>
          <a:xfrm>
            <a:off x="960120" y="1426464"/>
            <a:ext cx="4983480" cy="402336"/>
          </a:xfrm>
          <a:prstGeom prst="rect">
            <a:avLst/>
          </a:prstGeom>
          <a:noFill/>
          <a:ln/>
        </p:spPr>
        <p:txBody>
          <a:bodyPr wrap="square" lIns="0" tIns="0" rIns="0" bIns="0" rtlCol="0" anchor="t"/>
          <a:lstStyle/>
          <a:p>
            <a:pPr indent="0" marL="0">
              <a:buNone/>
            </a:pPr>
            <a:r>
              <a:rPr lang="en-US" sz="1100" dirty="0">
                <a:solidFill>
                  <a:schemeClr val="tx1"/>
                </a:solidFill>
              </a:rPr>
              <a:t>US Government Accountability Office (2019). GAO-19-58, Cloud Computing. </a:t>
            </a:r>
            <a:r>
              <a:rPr lang="en-US" sz="1100" i="1" dirty="0">
                <a:solidFill>
                  <a:schemeClr val="accent5"/>
                </a:solidFill>
              </a:rPr>
              <a:t>Audit</a:t>
            </a:r>
            <a:endParaRPr lang="en-US" sz="1100" dirty="0"/>
          </a:p>
          <a:p>
            <a:pPr indent="0" marL="0">
              <a:buNone/>
            </a:pPr>
            <a:r>
              <a:rPr lang="en-US" sz="9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https://www.gao.gov/assets/d1958.pdf</a:t>
            </a:r>
            <a:endParaRPr lang="en-US" sz="1100" dirty="0"/>
          </a:p>
        </p:txBody>
      </p:sp>
      <p:pic>
        <p:nvPicPr>
          <p:cNvPr id="8" name="flag-gb-0.60" descr="Flag of the United Kingdom">    </p:cNvPr>
          <p:cNvPicPr>
            <a:picLocks noChangeAspect="1"/>
          </p:cNvPicPr>
          <p:nvPr/>
        </p:nvPicPr>
        <p:blipFill>
          <a:blip r:embed="rId3"/>
          <a:stretch>
            <a:fillRect/>
          </a:stretch>
        </p:blipFill>
        <p:spPr>
          <a:xfrm>
            <a:off x="548640" y="1984248"/>
            <a:ext cx="219456" cy="219456"/>
          </a:xfrm>
          <a:prstGeom prst="rect">
            <a:avLst/>
          </a:prstGeom>
        </p:spPr>
      </p:pic>
      <p:sp>
        <p:nvSpPr>
          <p:cNvPr id="9" name="flag-ring-gb-0.60"/>
          <p:cNvSpPr/>
          <p:nvPr/>
        </p:nvSpPr>
        <p:spPr>
          <a:xfrm>
            <a:off x="548640" y="1984248"/>
            <a:ext cx="219456" cy="219456"/>
          </a:xfrm>
          <a:prstGeom prst="ellipse">
            <a:avLst/>
          </a:prstGeom>
          <a:noFill/>
          <a:ln w="9525">
            <a:solidFill>
              <a:srgbClr val="C9CDD3"/>
            </a:solidFill>
            <a:prstDash val="solid"/>
          </a:ln>
        </p:spPr>
      </p:sp>
      <p:sp>
        <p:nvSpPr>
          <p:cNvPr id="10" name="ref-group-12"/>
          <p:cNvSpPr txBox="1"/>
          <p:nvPr/>
        </p:nvSpPr>
        <p:spPr>
          <a:xfrm>
            <a:off x="841248" y="1956816"/>
            <a:ext cx="5029200" cy="274320"/>
          </a:xfrm>
          <a:prstGeom prst="rect">
            <a:avLst/>
          </a:prstGeom>
          <a:noFill/>
          <a:ln/>
        </p:spPr>
        <p:txBody>
          <a:bodyPr wrap="square" lIns="0" tIns="0" rIns="0" bIns="0" rtlCol="0" anchor="ctr"/>
          <a:lstStyle/>
          <a:p>
            <a:pPr indent="0" marL="0">
              <a:buNone/>
            </a:pPr>
            <a:r>
              <a:rPr lang="en-US" sz="1300" b="1" dirty="0">
                <a:solidFill>
                  <a:schemeClr val="tx2"/>
                </a:solidFill>
                <a:latin typeface="Cambria" pitchFamily="34" charset="0"/>
                <a:ea typeface="Cambria" pitchFamily="34" charset="-122"/>
                <a:cs typeface="Cambria" pitchFamily="34" charset="-120"/>
              </a:rPr>
              <a:t>United Kingdom (HMRC)</a:t>
            </a:r>
            <a:endParaRPr lang="en-US" sz="1300" dirty="0"/>
          </a:p>
        </p:txBody>
      </p:sp>
      <p:sp>
        <p:nvSpPr>
          <p:cNvPr id="11" name="ref-n-12"/>
          <p:cNvSpPr txBox="1"/>
          <p:nvPr/>
        </p:nvSpPr>
        <p:spPr>
          <a:xfrm>
            <a:off x="548640" y="2286000"/>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12</a:t>
            </a:r>
            <a:endParaRPr lang="en-US" sz="1300" dirty="0"/>
          </a:p>
        </p:txBody>
      </p:sp>
      <p:sp>
        <p:nvSpPr>
          <p:cNvPr id="12" name="ref-t-12"/>
          <p:cNvSpPr txBox="1"/>
          <p:nvPr/>
        </p:nvSpPr>
        <p:spPr>
          <a:xfrm>
            <a:off x="960120" y="2286000"/>
            <a:ext cx="4983480" cy="749808"/>
          </a:xfrm>
          <a:prstGeom prst="rect">
            <a:avLst/>
          </a:prstGeom>
          <a:noFill/>
          <a:ln/>
        </p:spPr>
        <p:txBody>
          <a:bodyPr wrap="square" lIns="0" tIns="0" rIns="0" bIns="0" rtlCol="0" anchor="t"/>
          <a:lstStyle/>
          <a:p>
            <a:pPr indent="0" marL="0">
              <a:buNone/>
            </a:pPr>
            <a:r>
              <a:rPr lang="en-US" sz="1100" dirty="0">
                <a:solidFill>
                  <a:schemeClr val="tx1"/>
                </a:solidFill>
              </a:rPr>
              <a:t>HMRC (2024). Annual Report and Accounts 2023 to 2024: performance overview. </a:t>
            </a:r>
            <a:r>
              <a:rPr lang="en-US" sz="1100" i="1" dirty="0">
                <a:solidFill>
                  <a:schemeClr val="accent5"/>
                </a:solidFill>
              </a:rPr>
              <a:t>Organization</a:t>
            </a:r>
            <a:endParaRPr lang="en-US" sz="1100" dirty="0"/>
          </a:p>
          <a:p>
            <a:pPr indent="0" marL="0">
              <a:buNone/>
            </a:pPr>
            <a:r>
              <a:rPr lang="en-US" sz="900"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https://www.gov.uk/government/publications/hmrc-annual-report-and-accounts-2023-to-2024/hmrcs-annual-report-and-accounts-2023-to-2024-performance-overview</a:t>
            </a:r>
            <a:endParaRPr lang="en-US" sz="1100" dirty="0"/>
          </a:p>
        </p:txBody>
      </p:sp>
      <p:sp>
        <p:nvSpPr>
          <p:cNvPr id="13" name="ref-n-13"/>
          <p:cNvSpPr txBox="1"/>
          <p:nvPr/>
        </p:nvSpPr>
        <p:spPr>
          <a:xfrm>
            <a:off x="548640" y="3163824"/>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13</a:t>
            </a:r>
            <a:endParaRPr lang="en-US" sz="1300" dirty="0"/>
          </a:p>
        </p:txBody>
      </p:sp>
      <p:sp>
        <p:nvSpPr>
          <p:cNvPr id="14" name="ref-t-13"/>
          <p:cNvSpPr txBox="1"/>
          <p:nvPr/>
        </p:nvSpPr>
        <p:spPr>
          <a:xfrm>
            <a:off x="960120" y="3163824"/>
            <a:ext cx="4983480" cy="576072"/>
          </a:xfrm>
          <a:prstGeom prst="rect">
            <a:avLst/>
          </a:prstGeom>
          <a:noFill/>
          <a:ln/>
        </p:spPr>
        <p:txBody>
          <a:bodyPr wrap="square" lIns="0" tIns="0" rIns="0" bIns="0" rtlCol="0" anchor="t"/>
          <a:lstStyle/>
          <a:p>
            <a:pPr indent="0" marL="0">
              <a:buNone/>
            </a:pPr>
            <a:r>
              <a:rPr lang="en-US" sz="1100" dirty="0">
                <a:solidFill>
                  <a:schemeClr val="tx1"/>
                </a:solidFill>
              </a:rPr>
              <a:t>HMRC (2024). Annual report and accounts 2023 to 2024 (collection page). </a:t>
            </a:r>
            <a:r>
              <a:rPr lang="en-US" sz="1100" i="1" dirty="0">
                <a:solidFill>
                  <a:schemeClr val="accent5"/>
                </a:solidFill>
              </a:rPr>
              <a:t>Organization</a:t>
            </a:r>
            <a:endParaRPr lang="en-US" sz="1100" dirty="0"/>
          </a:p>
          <a:p>
            <a:pPr indent="0" marL="0">
              <a:buNone/>
            </a:pPr>
            <a:r>
              <a:rPr lang="en-US" sz="900" u="sng" dirty="0">
                <a:solidFill>
                  <a:schemeClr val="accent1"/>
                </a:solidFill>
                <a:hlinkClick r:id="rId5" invalidUrl="" action="" tgtFrame="" tooltip="" history="1" highlightClick="0" endSnd="0">
                  <a:extLst>
                    <a:ext uri="{A12FA001-AC4F-418D-AE19-62706E023703}">
                      <ahyp:hlinkClr xmlns:ahyp="http://schemas.microsoft.com/office/drawing/2018/hyperlinkcolor" val="tx"/>
                    </a:ext>
                  </a:extLst>
                </a:hlinkClick>
              </a:rPr>
              <a:t>https://www.gov.uk/government/publications/hmrc-annual-report-and-accounts-2023-to-2024</a:t>
            </a:r>
            <a:endParaRPr lang="en-US" sz="1100" dirty="0"/>
          </a:p>
        </p:txBody>
      </p:sp>
      <p:sp>
        <p:nvSpPr>
          <p:cNvPr id="15" name="ref-n-14"/>
          <p:cNvSpPr txBox="1"/>
          <p:nvPr/>
        </p:nvSpPr>
        <p:spPr>
          <a:xfrm>
            <a:off x="548640" y="3867912"/>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14</a:t>
            </a:r>
            <a:endParaRPr lang="en-US" sz="1300" dirty="0"/>
          </a:p>
        </p:txBody>
      </p:sp>
      <p:sp>
        <p:nvSpPr>
          <p:cNvPr id="16" name="ref-t-14"/>
          <p:cNvSpPr txBox="1"/>
          <p:nvPr/>
        </p:nvSpPr>
        <p:spPr>
          <a:xfrm>
            <a:off x="960120" y="3867912"/>
            <a:ext cx="4983480" cy="749808"/>
          </a:xfrm>
          <a:prstGeom prst="rect">
            <a:avLst/>
          </a:prstGeom>
          <a:noFill/>
          <a:ln/>
        </p:spPr>
        <p:txBody>
          <a:bodyPr wrap="square" lIns="0" tIns="0" rIns="0" bIns="0" rtlCol="0" anchor="t"/>
          <a:lstStyle/>
          <a:p>
            <a:pPr indent="0" marL="0">
              <a:buNone/>
            </a:pPr>
            <a:r>
              <a:rPr lang="en-US" sz="1100" dirty="0">
                <a:solidFill>
                  <a:schemeClr val="tx1"/>
                </a:solidFill>
              </a:rPr>
              <a:t>HMRC (2024). Securing our Technical Future: Accounting Officer Assessment. </a:t>
            </a:r>
            <a:r>
              <a:rPr lang="en-US" sz="1100" i="1" dirty="0">
                <a:solidFill>
                  <a:schemeClr val="accent5"/>
                </a:solidFill>
              </a:rPr>
              <a:t>Organization</a:t>
            </a:r>
            <a:endParaRPr lang="en-US" sz="1100" dirty="0"/>
          </a:p>
          <a:p>
            <a:pPr indent="0" marL="0">
              <a:buNone/>
            </a:pPr>
            <a:r>
              <a:rPr lang="en-US" sz="900" u="sng" dirty="0">
                <a:solidFill>
                  <a:schemeClr val="accent1"/>
                </a:solidFill>
                <a:hlinkClick r:id="rId6" invalidUrl="" action="" tgtFrame="" tooltip="" history="1" highlightClick="0" endSnd="0">
                  <a:extLst>
                    <a:ext uri="{A12FA001-AC4F-418D-AE19-62706E023703}">
                      <ahyp:hlinkClr xmlns:ahyp="http://schemas.microsoft.com/office/drawing/2018/hyperlinkcolor" val="tx"/>
                    </a:ext>
                  </a:extLst>
                </a:hlinkClick>
              </a:rPr>
              <a:t>https://www.gov.uk/government/publications/securing-our-technical-future-programme-accounting-officer-assessment-updated</a:t>
            </a:r>
            <a:endParaRPr lang="en-US" sz="1100" dirty="0"/>
          </a:p>
        </p:txBody>
      </p:sp>
      <p:sp>
        <p:nvSpPr>
          <p:cNvPr id="17" name="ref-n-15"/>
          <p:cNvSpPr txBox="1"/>
          <p:nvPr/>
        </p:nvSpPr>
        <p:spPr>
          <a:xfrm>
            <a:off x="548640" y="4745736"/>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15</a:t>
            </a:r>
            <a:endParaRPr lang="en-US" sz="1300" dirty="0"/>
          </a:p>
        </p:txBody>
      </p:sp>
      <p:sp>
        <p:nvSpPr>
          <p:cNvPr id="18" name="ref-t-15"/>
          <p:cNvSpPr txBox="1"/>
          <p:nvPr/>
        </p:nvSpPr>
        <p:spPr>
          <a:xfrm>
            <a:off x="960120" y="4745736"/>
            <a:ext cx="4983480" cy="402336"/>
          </a:xfrm>
          <a:prstGeom prst="rect">
            <a:avLst/>
          </a:prstGeom>
          <a:noFill/>
          <a:ln/>
        </p:spPr>
        <p:txBody>
          <a:bodyPr wrap="square" lIns="0" tIns="0" rIns="0" bIns="0" rtlCol="0" anchor="t"/>
          <a:lstStyle/>
          <a:p>
            <a:pPr indent="0" marL="0">
              <a:buNone/>
            </a:pPr>
            <a:r>
              <a:rPr lang="en-US" sz="1100" dirty="0">
                <a:solidFill>
                  <a:schemeClr val="tx1"/>
                </a:solidFill>
              </a:rPr>
              <a:t>UK Find a Tender. Hyperscaler Services to enable Data Centre Exit (HMRC). </a:t>
            </a:r>
            <a:r>
              <a:rPr lang="en-US" sz="1100" i="1" dirty="0">
                <a:solidFill>
                  <a:schemeClr val="accent5"/>
                </a:solidFill>
              </a:rPr>
              <a:t>Audit</a:t>
            </a:r>
            <a:endParaRPr lang="en-US" sz="1100" dirty="0"/>
          </a:p>
          <a:p>
            <a:pPr indent="0" marL="0">
              <a:buNone/>
            </a:pPr>
            <a:r>
              <a:rPr lang="en-US" sz="900" u="sng" dirty="0">
                <a:solidFill>
                  <a:schemeClr val="accent1"/>
                </a:solidFill>
                <a:hlinkClick r:id="rId7" invalidUrl="" action="" tgtFrame="" tooltip="" history="1" highlightClick="0" endSnd="0">
                  <a:extLst>
                    <a:ext uri="{A12FA001-AC4F-418D-AE19-62706E023703}">
                      <ahyp:hlinkClr xmlns:ahyp="http://schemas.microsoft.com/office/drawing/2018/hyperlinkcolor" val="tx"/>
                    </a:ext>
                  </a:extLst>
                </a:hlinkClick>
              </a:rPr>
              <a:t>https://www.find-tender.service.gov.uk/procurement/ocds-h6vhtk-04f71d</a:t>
            </a:r>
            <a:endParaRPr lang="en-US" sz="1100" dirty="0"/>
          </a:p>
        </p:txBody>
      </p:sp>
      <p:sp>
        <p:nvSpPr>
          <p:cNvPr id="19" name="ref-n-16"/>
          <p:cNvSpPr txBox="1"/>
          <p:nvPr/>
        </p:nvSpPr>
        <p:spPr>
          <a:xfrm>
            <a:off x="548640" y="5276088"/>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16</a:t>
            </a:r>
            <a:endParaRPr lang="en-US" sz="1300" dirty="0"/>
          </a:p>
        </p:txBody>
      </p:sp>
      <p:sp>
        <p:nvSpPr>
          <p:cNvPr id="20" name="ref-t-16"/>
          <p:cNvSpPr txBox="1"/>
          <p:nvPr/>
        </p:nvSpPr>
        <p:spPr>
          <a:xfrm>
            <a:off x="960120" y="5276088"/>
            <a:ext cx="4983480" cy="576072"/>
          </a:xfrm>
          <a:prstGeom prst="rect">
            <a:avLst/>
          </a:prstGeom>
          <a:noFill/>
          <a:ln/>
        </p:spPr>
        <p:txBody>
          <a:bodyPr wrap="square" lIns="0" tIns="0" rIns="0" bIns="0" rtlCol="0" anchor="t"/>
          <a:lstStyle/>
          <a:p>
            <a:pPr indent="0" marL="0">
              <a:buNone/>
            </a:pPr>
            <a:r>
              <a:rPr lang="en-US" sz="1100" dirty="0">
                <a:solidFill>
                  <a:schemeClr val="tx1"/>
                </a:solidFill>
              </a:rPr>
              <a:t>HMRC (2025). Performance update 2025 to 2026: quarter 2. </a:t>
            </a:r>
            <a:r>
              <a:rPr lang="en-US" sz="1100" i="1" dirty="0">
                <a:solidFill>
                  <a:schemeClr val="accent5"/>
                </a:solidFill>
              </a:rPr>
              <a:t>Organization</a:t>
            </a:r>
            <a:endParaRPr lang="en-US" sz="1100" dirty="0"/>
          </a:p>
          <a:p>
            <a:pPr indent="0" marL="0">
              <a:buNone/>
            </a:pPr>
            <a:r>
              <a:rPr lang="en-US" sz="900" u="sng" dirty="0">
                <a:solidFill>
                  <a:schemeClr val="accent1"/>
                </a:solidFill>
                <a:hlinkClick r:id="rId8" invalidUrl="" action="" tgtFrame="" tooltip="" history="1" highlightClick="0" endSnd="0">
                  <a:extLst>
                    <a:ext uri="{A12FA001-AC4F-418D-AE19-62706E023703}">
                      <ahyp:hlinkClr xmlns:ahyp="http://schemas.microsoft.com/office/drawing/2018/hyperlinkcolor" val="tx"/>
                    </a:ext>
                  </a:extLst>
                </a:hlinkClick>
              </a:rPr>
              <a:t>https://www.gov.uk/government/publications/hmrc-performance-update-july-to-september-2025/hmrc-performance-update-july-to-september-2025</a:t>
            </a:r>
            <a:endParaRPr lang="en-US" sz="1100" dirty="0"/>
          </a:p>
        </p:txBody>
      </p:sp>
      <p:pic>
        <p:nvPicPr>
          <p:cNvPr id="21" name="flag-gb-6.80" descr="Flag of the United Kingdom">    </p:cNvPr>
          <p:cNvPicPr>
            <a:picLocks noChangeAspect="1"/>
          </p:cNvPicPr>
          <p:nvPr/>
        </p:nvPicPr>
        <p:blipFill>
          <a:blip r:embed="rId9"/>
          <a:stretch>
            <a:fillRect/>
          </a:stretch>
        </p:blipFill>
        <p:spPr>
          <a:xfrm>
            <a:off x="6217920" y="1124712"/>
            <a:ext cx="219456" cy="219456"/>
          </a:xfrm>
          <a:prstGeom prst="rect">
            <a:avLst/>
          </a:prstGeom>
        </p:spPr>
      </p:pic>
      <p:sp>
        <p:nvSpPr>
          <p:cNvPr id="22" name="flag-ring-gb-6.80"/>
          <p:cNvSpPr/>
          <p:nvPr/>
        </p:nvSpPr>
        <p:spPr>
          <a:xfrm>
            <a:off x="6217920" y="1124712"/>
            <a:ext cx="219456" cy="219456"/>
          </a:xfrm>
          <a:prstGeom prst="ellipse">
            <a:avLst/>
          </a:prstGeom>
          <a:noFill/>
          <a:ln w="9525">
            <a:solidFill>
              <a:srgbClr val="C9CDD3"/>
            </a:solidFill>
            <a:prstDash val="solid"/>
          </a:ln>
        </p:spPr>
      </p:sp>
      <p:sp>
        <p:nvSpPr>
          <p:cNvPr id="23" name="ref-group-17"/>
          <p:cNvSpPr txBox="1"/>
          <p:nvPr/>
        </p:nvSpPr>
        <p:spPr>
          <a:xfrm>
            <a:off x="6510528" y="1097280"/>
            <a:ext cx="5029200" cy="274320"/>
          </a:xfrm>
          <a:prstGeom prst="rect">
            <a:avLst/>
          </a:prstGeom>
          <a:noFill/>
          <a:ln/>
        </p:spPr>
        <p:txBody>
          <a:bodyPr wrap="square" lIns="0" tIns="0" rIns="0" bIns="0" rtlCol="0" anchor="ctr"/>
          <a:lstStyle/>
          <a:p>
            <a:pPr indent="0" marL="0">
              <a:buNone/>
            </a:pPr>
            <a:r>
              <a:rPr lang="en-US" sz="1300" b="1" dirty="0">
                <a:solidFill>
                  <a:schemeClr val="tx2"/>
                </a:solidFill>
                <a:latin typeface="Cambria" pitchFamily="34" charset="0"/>
                <a:ea typeface="Cambria" pitchFamily="34" charset="-122"/>
                <a:cs typeface="Cambria" pitchFamily="34" charset="-120"/>
              </a:rPr>
              <a:t>United Kingdom (HMRC) (continued)</a:t>
            </a:r>
            <a:endParaRPr lang="en-US" sz="1300" dirty="0"/>
          </a:p>
        </p:txBody>
      </p:sp>
      <p:sp>
        <p:nvSpPr>
          <p:cNvPr id="24" name="ref-n-17"/>
          <p:cNvSpPr txBox="1"/>
          <p:nvPr/>
        </p:nvSpPr>
        <p:spPr>
          <a:xfrm>
            <a:off x="6217920" y="1426464"/>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17</a:t>
            </a:r>
            <a:endParaRPr lang="en-US" sz="1300" dirty="0"/>
          </a:p>
        </p:txBody>
      </p:sp>
      <p:sp>
        <p:nvSpPr>
          <p:cNvPr id="25" name="ref-t-17"/>
          <p:cNvSpPr txBox="1"/>
          <p:nvPr/>
        </p:nvSpPr>
        <p:spPr>
          <a:xfrm>
            <a:off x="6629400" y="1426464"/>
            <a:ext cx="4983480" cy="402336"/>
          </a:xfrm>
          <a:prstGeom prst="rect">
            <a:avLst/>
          </a:prstGeom>
          <a:noFill/>
          <a:ln/>
        </p:spPr>
        <p:txBody>
          <a:bodyPr wrap="square" lIns="0" tIns="0" rIns="0" bIns="0" rtlCol="0" anchor="t"/>
          <a:lstStyle/>
          <a:p>
            <a:pPr indent="0" marL="0">
              <a:buNone/>
            </a:pPr>
            <a:r>
              <a:rPr lang="en-US" sz="1100" dirty="0">
                <a:solidFill>
                  <a:schemeClr val="tx1"/>
                </a:solidFill>
              </a:rPr>
              <a:t>UK Find a Tender (2025). Tender notice 035512-2025. </a:t>
            </a:r>
            <a:r>
              <a:rPr lang="en-US" sz="1100" i="1" dirty="0">
                <a:solidFill>
                  <a:schemeClr val="accent5"/>
                </a:solidFill>
              </a:rPr>
              <a:t>Audit</a:t>
            </a:r>
            <a:endParaRPr lang="en-US" sz="1100" dirty="0"/>
          </a:p>
          <a:p>
            <a:pPr indent="0" marL="0">
              <a:buNone/>
            </a:pPr>
            <a:r>
              <a:rPr lang="en-US" sz="900" u="sng" dirty="0">
                <a:solidFill>
                  <a:schemeClr val="accent1"/>
                </a:solidFill>
                <a:hlinkClick r:id="rId10" invalidUrl="" action="" tgtFrame="" tooltip="" history="1" highlightClick="0" endSnd="0">
                  <a:extLst>
                    <a:ext uri="{A12FA001-AC4F-418D-AE19-62706E023703}">
                      <ahyp:hlinkClr xmlns:ahyp="http://schemas.microsoft.com/office/drawing/2018/hyperlinkcolor" val="tx"/>
                    </a:ext>
                  </a:extLst>
                </a:hlinkClick>
              </a:rPr>
              <a:t>https://www.find-tender.service.gov.uk/Notice/035512-2025</a:t>
            </a:r>
            <a:endParaRPr lang="en-US" sz="1100" dirty="0"/>
          </a:p>
        </p:txBody>
      </p:sp>
      <p:sp>
        <p:nvSpPr>
          <p:cNvPr id="26" name="ref-n-18"/>
          <p:cNvSpPr txBox="1"/>
          <p:nvPr/>
        </p:nvSpPr>
        <p:spPr>
          <a:xfrm>
            <a:off x="6217920" y="1956816"/>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18</a:t>
            </a:r>
            <a:endParaRPr lang="en-US" sz="1300" dirty="0"/>
          </a:p>
        </p:txBody>
      </p:sp>
      <p:sp>
        <p:nvSpPr>
          <p:cNvPr id="27" name="ref-t-18"/>
          <p:cNvSpPr txBox="1"/>
          <p:nvPr/>
        </p:nvSpPr>
        <p:spPr>
          <a:xfrm>
            <a:off x="6629400" y="1956816"/>
            <a:ext cx="4983480" cy="749808"/>
          </a:xfrm>
          <a:prstGeom prst="rect">
            <a:avLst/>
          </a:prstGeom>
          <a:noFill/>
          <a:ln/>
        </p:spPr>
        <p:txBody>
          <a:bodyPr wrap="square" lIns="0" tIns="0" rIns="0" bIns="0" rtlCol="0" anchor="t"/>
          <a:lstStyle/>
          <a:p>
            <a:pPr indent="0" marL="0">
              <a:buNone/>
            </a:pPr>
            <a:r>
              <a:rPr lang="en-US" sz="1100" dirty="0">
                <a:solidFill>
                  <a:schemeClr val="tx1"/>
                </a:solidFill>
              </a:rPr>
              <a:t>DatacenterDynamics (2021). UK HMRC taps IBM to help it exit three data centers. </a:t>
            </a:r>
            <a:r>
              <a:rPr lang="en-US" sz="1100" i="1" dirty="0">
                <a:solidFill>
                  <a:schemeClr val="accent5"/>
                </a:solidFill>
              </a:rPr>
              <a:t>News</a:t>
            </a:r>
            <a:endParaRPr lang="en-US" sz="1100" dirty="0"/>
          </a:p>
          <a:p>
            <a:pPr indent="0" marL="0">
              <a:buNone/>
            </a:pPr>
            <a:r>
              <a:rPr lang="en-US" sz="900" u="sng" dirty="0">
                <a:solidFill>
                  <a:schemeClr val="accent1"/>
                </a:solidFill>
                <a:hlinkClick r:id="rId11" invalidUrl="" action="" tgtFrame="" tooltip="" history="1" highlightClick="0" endSnd="0">
                  <a:extLst>
                    <a:ext uri="{A12FA001-AC4F-418D-AE19-62706E023703}">
                      <ahyp:hlinkClr xmlns:ahyp="http://schemas.microsoft.com/office/drawing/2018/hyperlinkcolor" val="tx"/>
                    </a:ext>
                  </a:extLst>
                </a:hlinkClick>
              </a:rPr>
              <a:t>https://datacenterdynamics.com/en/news/uk-hmrc-taps-ibm-to-help-it-exit-three-data-centers-by-june</a:t>
            </a:r>
            <a:endParaRPr lang="en-US" sz="1100" dirty="0"/>
          </a:p>
        </p:txBody>
      </p:sp>
      <p:sp>
        <p:nvSpPr>
          <p:cNvPr id="28" name="ref-n-19"/>
          <p:cNvSpPr txBox="1"/>
          <p:nvPr/>
        </p:nvSpPr>
        <p:spPr>
          <a:xfrm>
            <a:off x="6217920" y="2834640"/>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19</a:t>
            </a:r>
            <a:endParaRPr lang="en-US" sz="1300" dirty="0"/>
          </a:p>
        </p:txBody>
      </p:sp>
      <p:sp>
        <p:nvSpPr>
          <p:cNvPr id="29" name="ref-t-19"/>
          <p:cNvSpPr txBox="1"/>
          <p:nvPr/>
        </p:nvSpPr>
        <p:spPr>
          <a:xfrm>
            <a:off x="6629400" y="2834640"/>
            <a:ext cx="4983480" cy="402336"/>
          </a:xfrm>
          <a:prstGeom prst="rect">
            <a:avLst/>
          </a:prstGeom>
          <a:noFill/>
          <a:ln/>
        </p:spPr>
        <p:txBody>
          <a:bodyPr wrap="square" lIns="0" tIns="0" rIns="0" bIns="0" rtlCol="0" anchor="t"/>
          <a:lstStyle/>
          <a:p>
            <a:pPr indent="0" marL="0">
              <a:buNone/>
            </a:pPr>
            <a:r>
              <a:rPr lang="en-US" sz="1100" dirty="0">
                <a:solidFill>
                  <a:schemeClr val="tx1"/>
                </a:solidFill>
              </a:rPr>
              <a:t>UKAuthority (2026). AWS win 10 year HMRC cloud infrastructure deal. </a:t>
            </a:r>
            <a:r>
              <a:rPr lang="en-US" sz="1100" i="1" dirty="0">
                <a:solidFill>
                  <a:schemeClr val="accent5"/>
                </a:solidFill>
              </a:rPr>
              <a:t>News</a:t>
            </a:r>
            <a:endParaRPr lang="en-US" sz="1100" dirty="0"/>
          </a:p>
          <a:p>
            <a:pPr indent="0" marL="0">
              <a:buNone/>
            </a:pPr>
            <a:r>
              <a:rPr lang="en-US" sz="900" u="sng" dirty="0">
                <a:solidFill>
                  <a:schemeClr val="accent1"/>
                </a:solidFill>
                <a:hlinkClick r:id="rId12" invalidUrl="" action="" tgtFrame="" tooltip="" history="1" highlightClick="0" endSnd="0">
                  <a:extLst>
                    <a:ext uri="{A12FA001-AC4F-418D-AE19-62706E023703}">
                      <ahyp:hlinkClr xmlns:ahyp="http://schemas.microsoft.com/office/drawing/2018/hyperlinkcolor" val="tx"/>
                    </a:ext>
                  </a:extLst>
                </a:hlinkClick>
              </a:rPr>
              <a:t>https://www.ukauthority.com/articles/aws-win-10-year-hmrc-cloud-infrastructure-deal</a:t>
            </a:r>
            <a:endParaRPr lang="en-US" sz="1100" dirty="0"/>
          </a:p>
        </p:txBody>
      </p:sp>
      <p:sp>
        <p:nvSpPr>
          <p:cNvPr id="30" name="ref-n-20"/>
          <p:cNvSpPr txBox="1"/>
          <p:nvPr/>
        </p:nvSpPr>
        <p:spPr>
          <a:xfrm>
            <a:off x="6217920" y="3364992"/>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20</a:t>
            </a:r>
            <a:endParaRPr lang="en-US" sz="1300" dirty="0"/>
          </a:p>
        </p:txBody>
      </p:sp>
      <p:sp>
        <p:nvSpPr>
          <p:cNvPr id="31" name="ref-t-20"/>
          <p:cNvSpPr txBox="1"/>
          <p:nvPr/>
        </p:nvSpPr>
        <p:spPr>
          <a:xfrm>
            <a:off x="6629400" y="3364992"/>
            <a:ext cx="4983480" cy="402336"/>
          </a:xfrm>
          <a:prstGeom prst="rect">
            <a:avLst/>
          </a:prstGeom>
          <a:noFill/>
          <a:ln/>
        </p:spPr>
        <p:txBody>
          <a:bodyPr wrap="square" lIns="0" tIns="0" rIns="0" bIns="0" rtlCol="0" anchor="t"/>
          <a:lstStyle/>
          <a:p>
            <a:pPr indent="0" marL="0">
              <a:buNone/>
            </a:pPr>
            <a:r>
              <a:rPr lang="en-US" sz="1100" dirty="0">
                <a:solidFill>
                  <a:schemeClr val="tx1"/>
                </a:solidFill>
              </a:rPr>
              <a:t>The Register (2026). HMRC hands Fujitsu migration deal to AWS. </a:t>
            </a:r>
            <a:r>
              <a:rPr lang="en-US" sz="1100" i="1" dirty="0">
                <a:solidFill>
                  <a:schemeClr val="accent5"/>
                </a:solidFill>
              </a:rPr>
              <a:t>News</a:t>
            </a:r>
            <a:endParaRPr lang="en-US" sz="1100" dirty="0"/>
          </a:p>
          <a:p>
            <a:pPr indent="0" marL="0">
              <a:buNone/>
            </a:pPr>
            <a:r>
              <a:rPr lang="en-US" sz="900" u="sng" dirty="0">
                <a:solidFill>
                  <a:schemeClr val="accent1"/>
                </a:solidFill>
                <a:hlinkClick r:id="rId13" invalidUrl="" action="" tgtFrame="" tooltip="" history="1" highlightClick="0" endSnd="0">
                  <a:extLst>
                    <a:ext uri="{A12FA001-AC4F-418D-AE19-62706E023703}">
                      <ahyp:hlinkClr xmlns:ahyp="http://schemas.microsoft.com/office/drawing/2018/hyperlinkcolor" val="tx"/>
                    </a:ext>
                  </a:extLst>
                </a:hlinkClick>
              </a:rPr>
              <a:t>https://www.theregister.com/2026/03/25/hmrc_fujitsu_contract_aws/</a:t>
            </a:r>
            <a:endParaRPr lang="en-US" sz="1100" dirty="0"/>
          </a:p>
        </p:txBody>
      </p:sp>
      <p:sp>
        <p:nvSpPr>
          <p:cNvPr id="32" name="ref-n-21"/>
          <p:cNvSpPr txBox="1"/>
          <p:nvPr/>
        </p:nvSpPr>
        <p:spPr>
          <a:xfrm>
            <a:off x="6217920" y="3895344"/>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21</a:t>
            </a:r>
            <a:endParaRPr lang="en-US" sz="1300" dirty="0"/>
          </a:p>
        </p:txBody>
      </p:sp>
      <p:sp>
        <p:nvSpPr>
          <p:cNvPr id="33" name="ref-t-21"/>
          <p:cNvSpPr txBox="1"/>
          <p:nvPr/>
        </p:nvSpPr>
        <p:spPr>
          <a:xfrm>
            <a:off x="6629400" y="3895344"/>
            <a:ext cx="4983480" cy="749808"/>
          </a:xfrm>
          <a:prstGeom prst="rect">
            <a:avLst/>
          </a:prstGeom>
          <a:noFill/>
          <a:ln/>
        </p:spPr>
        <p:txBody>
          <a:bodyPr wrap="square" lIns="0" tIns="0" rIns="0" bIns="0" rtlCol="0" anchor="t"/>
          <a:lstStyle/>
          <a:p>
            <a:pPr indent="0" marL="0">
              <a:buNone/>
            </a:pPr>
            <a:r>
              <a:rPr lang="en-US" sz="1100" dirty="0">
                <a:solidFill>
                  <a:schemeClr val="tx1"/>
                </a:solidFill>
              </a:rPr>
              <a:t>PublicTechnology (2024). HMRC reports 70% progress in moving critical services to cloud. </a:t>
            </a:r>
            <a:r>
              <a:rPr lang="en-US" sz="1100" i="1" dirty="0">
                <a:solidFill>
                  <a:schemeClr val="accent5"/>
                </a:solidFill>
              </a:rPr>
              <a:t>News</a:t>
            </a:r>
            <a:endParaRPr lang="en-US" sz="1100" dirty="0"/>
          </a:p>
          <a:p>
            <a:pPr indent="0" marL="0">
              <a:buNone/>
            </a:pPr>
            <a:r>
              <a:rPr lang="en-US" sz="900" u="sng" dirty="0">
                <a:solidFill>
                  <a:schemeClr val="accent1"/>
                </a:solidFill>
                <a:hlinkClick r:id="rId14" invalidUrl="" action="" tgtFrame="" tooltip="" history="1" highlightClick="0" endSnd="0">
                  <a:extLst>
                    <a:ext uri="{A12FA001-AC4F-418D-AE19-62706E023703}">
                      <ahyp:hlinkClr xmlns:ahyp="http://schemas.microsoft.com/office/drawing/2018/hyperlinkcolor" val="tx"/>
                    </a:ext>
                  </a:extLst>
                </a:hlinkClick>
              </a:rPr>
              <a:t>https://www.publictechnology.net/2024/08/12/science-technology-and-research/hmrc-reports-70-progress-in-moving-500-plus-critical-national-infrastructure-services-to-cloud</a:t>
            </a:r>
            <a:endParaRPr lang="en-US" sz="1100" dirty="0"/>
          </a:p>
        </p:txBody>
      </p:sp>
      <p:sp>
        <p:nvSpPr>
          <p:cNvPr id="25" name="Slide Number Placeholder 0"/>
          <p:cNvSpPr>
            <a:spLocks noGrp="1"/>
          </p:cNvSpPr>
          <p:nvPr>
            <p:ph type="sldNum" sz="quarter" idx="4294967295"/>
          </p:nvPr>
        </p:nvSpPr>
        <p:spPr>
          <a:xfrm>
            <a:off x="11155680"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References (3 of 3)</a:t>
            </a:r>
            <a:endParaRPr lang="en-US" sz="3400" dirty="0"/>
          </a:p>
        </p:txBody>
      </p:sp>
      <p:pic>
        <p:nvPicPr>
          <p:cNvPr id="3" name="flag-gb-0.60" descr="Flag of the United Kingdom">    </p:cNvPr>
          <p:cNvPicPr>
            <a:picLocks noChangeAspect="1"/>
          </p:cNvPicPr>
          <p:nvPr/>
        </p:nvPicPr>
        <p:blipFill>
          <a:blip r:embed="rId1"/>
          <a:stretch>
            <a:fillRect/>
          </a:stretch>
        </p:blipFill>
        <p:spPr>
          <a:xfrm>
            <a:off x="548640" y="1124712"/>
            <a:ext cx="219456" cy="219456"/>
          </a:xfrm>
          <a:prstGeom prst="rect">
            <a:avLst/>
          </a:prstGeom>
        </p:spPr>
      </p:pic>
      <p:sp>
        <p:nvSpPr>
          <p:cNvPr id="4" name="flag-ring-gb-0.60"/>
          <p:cNvSpPr/>
          <p:nvPr/>
        </p:nvSpPr>
        <p:spPr>
          <a:xfrm>
            <a:off x="548640" y="1124712"/>
            <a:ext cx="219456" cy="219456"/>
          </a:xfrm>
          <a:prstGeom prst="ellipse">
            <a:avLst/>
          </a:prstGeom>
          <a:noFill/>
          <a:ln w="9525">
            <a:solidFill>
              <a:srgbClr val="C9CDD3"/>
            </a:solidFill>
            <a:prstDash val="solid"/>
          </a:ln>
        </p:spPr>
      </p:sp>
      <p:sp>
        <p:nvSpPr>
          <p:cNvPr id="5" name="ref-group-22"/>
          <p:cNvSpPr txBox="1"/>
          <p:nvPr/>
        </p:nvSpPr>
        <p:spPr>
          <a:xfrm>
            <a:off x="841248" y="1097280"/>
            <a:ext cx="5029200" cy="274320"/>
          </a:xfrm>
          <a:prstGeom prst="rect">
            <a:avLst/>
          </a:prstGeom>
          <a:noFill/>
          <a:ln/>
        </p:spPr>
        <p:txBody>
          <a:bodyPr wrap="square" lIns="0" tIns="0" rIns="0" bIns="0" rtlCol="0" anchor="ctr"/>
          <a:lstStyle/>
          <a:p>
            <a:pPr indent="0" marL="0">
              <a:buNone/>
            </a:pPr>
            <a:r>
              <a:rPr lang="en-US" sz="1300" b="1" dirty="0">
                <a:solidFill>
                  <a:schemeClr val="tx2"/>
                </a:solidFill>
                <a:latin typeface="Cambria" pitchFamily="34" charset="0"/>
                <a:ea typeface="Cambria" pitchFamily="34" charset="-122"/>
                <a:cs typeface="Cambria" pitchFamily="34" charset="-120"/>
              </a:rPr>
              <a:t>United Kingdom (HMRC) (continued)</a:t>
            </a:r>
            <a:endParaRPr lang="en-US" sz="1300" dirty="0"/>
          </a:p>
        </p:txBody>
      </p:sp>
      <p:sp>
        <p:nvSpPr>
          <p:cNvPr id="6" name="ref-n-22"/>
          <p:cNvSpPr txBox="1"/>
          <p:nvPr/>
        </p:nvSpPr>
        <p:spPr>
          <a:xfrm>
            <a:off x="548640" y="1426464"/>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22</a:t>
            </a:r>
            <a:endParaRPr lang="en-US" sz="1300" dirty="0"/>
          </a:p>
        </p:txBody>
      </p:sp>
      <p:sp>
        <p:nvSpPr>
          <p:cNvPr id="7" name="ref-t-22"/>
          <p:cNvSpPr txBox="1"/>
          <p:nvPr/>
        </p:nvSpPr>
        <p:spPr>
          <a:xfrm>
            <a:off x="960120" y="1426464"/>
            <a:ext cx="4983480" cy="749808"/>
          </a:xfrm>
          <a:prstGeom prst="rect">
            <a:avLst/>
          </a:prstGeom>
          <a:noFill/>
          <a:ln/>
        </p:spPr>
        <p:txBody>
          <a:bodyPr wrap="square" lIns="0" tIns="0" rIns="0" bIns="0" rtlCol="0" anchor="t"/>
          <a:lstStyle/>
          <a:p>
            <a:pPr indent="0" marL="0">
              <a:buNone/>
            </a:pPr>
            <a:r>
              <a:rPr lang="en-US" sz="1100" dirty="0">
                <a:solidFill>
                  <a:schemeClr val="tx1"/>
                </a:solidFill>
              </a:rPr>
              <a:t>HMRC (2023). Annual Report and Accounts 2022 to 2023: performance overview. </a:t>
            </a:r>
            <a:r>
              <a:rPr lang="en-US" sz="1100" i="1" dirty="0">
                <a:solidFill>
                  <a:schemeClr val="accent5"/>
                </a:solidFill>
              </a:rPr>
              <a:t>Organization</a:t>
            </a:r>
            <a:endParaRPr lang="en-US" sz="1100" dirty="0"/>
          </a:p>
          <a:p>
            <a:pPr indent="0" marL="0">
              <a:buNone/>
            </a:pPr>
            <a:r>
              <a:rPr lang="en-US" sz="9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https://www.gov.uk/government/publications/hmrc-annual-report-and-accounts-2022-to-2023/hmrcs-annual-report-and-accounts-2022-to-2023-performance-overview</a:t>
            </a:r>
            <a:endParaRPr lang="en-US" sz="1100" dirty="0"/>
          </a:p>
        </p:txBody>
      </p:sp>
      <p:sp>
        <p:nvSpPr>
          <p:cNvPr id="8" name="ref-n-23"/>
          <p:cNvSpPr txBox="1"/>
          <p:nvPr/>
        </p:nvSpPr>
        <p:spPr>
          <a:xfrm>
            <a:off x="548640" y="2304288"/>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23</a:t>
            </a:r>
            <a:endParaRPr lang="en-US" sz="1300" dirty="0"/>
          </a:p>
        </p:txBody>
      </p:sp>
      <p:sp>
        <p:nvSpPr>
          <p:cNvPr id="9" name="ref-t-23"/>
          <p:cNvSpPr txBox="1"/>
          <p:nvPr/>
        </p:nvSpPr>
        <p:spPr>
          <a:xfrm>
            <a:off x="960120" y="2304288"/>
            <a:ext cx="4983480" cy="749808"/>
          </a:xfrm>
          <a:prstGeom prst="rect">
            <a:avLst/>
          </a:prstGeom>
          <a:noFill/>
          <a:ln/>
        </p:spPr>
        <p:txBody>
          <a:bodyPr wrap="square" lIns="0" tIns="0" rIns="0" bIns="0" rtlCol="0" anchor="t"/>
          <a:lstStyle/>
          <a:p>
            <a:pPr indent="0" marL="0">
              <a:buNone/>
            </a:pPr>
            <a:r>
              <a:rPr lang="en-US" sz="1100" dirty="0">
                <a:solidFill>
                  <a:schemeClr val="tx1"/>
                </a:solidFill>
              </a:rPr>
              <a:t>DatacenterDynamics (2025). AWS set to win UK's HMRC data center exit contract. </a:t>
            </a:r>
            <a:r>
              <a:rPr lang="en-US" sz="1100" i="1" dirty="0">
                <a:solidFill>
                  <a:schemeClr val="accent5"/>
                </a:solidFill>
              </a:rPr>
              <a:t>News</a:t>
            </a:r>
            <a:endParaRPr lang="en-US" sz="1100" dirty="0"/>
          </a:p>
          <a:p>
            <a:pPr indent="0" marL="0">
              <a:buNone/>
            </a:pPr>
            <a:r>
              <a:rPr lang="en-US" sz="900"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https://www.datacenterdynamics.com/en/news/aws-set-to-win-uks-hmrc-500m-data-center-exit-contract-report/</a:t>
            </a:r>
            <a:endParaRPr lang="en-US" sz="1100" dirty="0"/>
          </a:p>
        </p:txBody>
      </p:sp>
      <p:sp>
        <p:nvSpPr>
          <p:cNvPr id="10" name="ref-n-24"/>
          <p:cNvSpPr txBox="1"/>
          <p:nvPr/>
        </p:nvSpPr>
        <p:spPr>
          <a:xfrm>
            <a:off x="548640" y="3182112"/>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24</a:t>
            </a:r>
            <a:endParaRPr lang="en-US" sz="1300" dirty="0"/>
          </a:p>
        </p:txBody>
      </p:sp>
      <p:sp>
        <p:nvSpPr>
          <p:cNvPr id="11" name="ref-t-24"/>
          <p:cNvSpPr txBox="1"/>
          <p:nvPr/>
        </p:nvSpPr>
        <p:spPr>
          <a:xfrm>
            <a:off x="960120" y="3182112"/>
            <a:ext cx="4983480" cy="576072"/>
          </a:xfrm>
          <a:prstGeom prst="rect">
            <a:avLst/>
          </a:prstGeom>
          <a:noFill/>
          <a:ln/>
        </p:spPr>
        <p:txBody>
          <a:bodyPr wrap="square" lIns="0" tIns="0" rIns="0" bIns="0" rtlCol="0" anchor="t"/>
          <a:lstStyle/>
          <a:p>
            <a:pPr indent="0" marL="0">
              <a:buNone/>
            </a:pPr>
            <a:r>
              <a:rPr lang="en-US" sz="1100" dirty="0">
                <a:solidFill>
                  <a:schemeClr val="tx1"/>
                </a:solidFill>
              </a:rPr>
              <a:t>House of Commons Treasury Committee (2025). Letter on the AWS outage, 20 October 2025. </a:t>
            </a:r>
            <a:r>
              <a:rPr lang="en-US" sz="1100" i="1" dirty="0">
                <a:solidFill>
                  <a:schemeClr val="accent5"/>
                </a:solidFill>
              </a:rPr>
              <a:t>Audit</a:t>
            </a:r>
            <a:endParaRPr lang="en-US" sz="1100" dirty="0"/>
          </a:p>
          <a:p>
            <a:pPr indent="0" marL="0">
              <a:buNone/>
            </a:pPr>
            <a:r>
              <a:rPr lang="en-US" sz="900"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https://committees.parliament.uk/publications/49836/documents/267185/default</a:t>
            </a:r>
            <a:endParaRPr lang="en-US" sz="1100" dirty="0"/>
          </a:p>
        </p:txBody>
      </p:sp>
      <p:pic>
        <p:nvPicPr>
          <p:cNvPr id="12" name="flag-au-0.60" descr="Flag of Australia">    </p:cNvPr>
          <p:cNvPicPr>
            <a:picLocks noChangeAspect="1"/>
          </p:cNvPicPr>
          <p:nvPr/>
        </p:nvPicPr>
        <p:blipFill>
          <a:blip r:embed="rId5"/>
          <a:stretch>
            <a:fillRect/>
          </a:stretch>
        </p:blipFill>
        <p:spPr>
          <a:xfrm>
            <a:off x="548640" y="3913632"/>
            <a:ext cx="219456" cy="219456"/>
          </a:xfrm>
          <a:prstGeom prst="rect">
            <a:avLst/>
          </a:prstGeom>
        </p:spPr>
      </p:pic>
      <p:sp>
        <p:nvSpPr>
          <p:cNvPr id="13" name="flag-ring-au-0.60"/>
          <p:cNvSpPr/>
          <p:nvPr/>
        </p:nvSpPr>
        <p:spPr>
          <a:xfrm>
            <a:off x="548640" y="3913632"/>
            <a:ext cx="219456" cy="219456"/>
          </a:xfrm>
          <a:prstGeom prst="ellipse">
            <a:avLst/>
          </a:prstGeom>
          <a:noFill/>
          <a:ln w="9525">
            <a:solidFill>
              <a:srgbClr val="C9CDD3"/>
            </a:solidFill>
            <a:prstDash val="solid"/>
          </a:ln>
        </p:spPr>
      </p:sp>
      <p:sp>
        <p:nvSpPr>
          <p:cNvPr id="14" name="ref-group-25"/>
          <p:cNvSpPr txBox="1"/>
          <p:nvPr/>
        </p:nvSpPr>
        <p:spPr>
          <a:xfrm>
            <a:off x="841248" y="3886200"/>
            <a:ext cx="5029200" cy="274320"/>
          </a:xfrm>
          <a:prstGeom prst="rect">
            <a:avLst/>
          </a:prstGeom>
          <a:noFill/>
          <a:ln/>
        </p:spPr>
        <p:txBody>
          <a:bodyPr wrap="square" lIns="0" tIns="0" rIns="0" bIns="0" rtlCol="0" anchor="ctr"/>
          <a:lstStyle/>
          <a:p>
            <a:pPr indent="0" marL="0">
              <a:buNone/>
            </a:pPr>
            <a:r>
              <a:rPr lang="en-US" sz="1300" b="1" dirty="0">
                <a:solidFill>
                  <a:schemeClr val="tx2"/>
                </a:solidFill>
                <a:latin typeface="Cambria" pitchFamily="34" charset="0"/>
                <a:ea typeface="Cambria" pitchFamily="34" charset="-122"/>
                <a:cs typeface="Cambria" pitchFamily="34" charset="-120"/>
              </a:rPr>
              <a:t>Australia (ABS)</a:t>
            </a:r>
            <a:endParaRPr lang="en-US" sz="1300" dirty="0"/>
          </a:p>
        </p:txBody>
      </p:sp>
      <p:sp>
        <p:nvSpPr>
          <p:cNvPr id="15" name="ref-n-25"/>
          <p:cNvSpPr txBox="1"/>
          <p:nvPr/>
        </p:nvSpPr>
        <p:spPr>
          <a:xfrm>
            <a:off x="548640" y="4215384"/>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25</a:t>
            </a:r>
            <a:endParaRPr lang="en-US" sz="1300" dirty="0"/>
          </a:p>
        </p:txBody>
      </p:sp>
      <p:sp>
        <p:nvSpPr>
          <p:cNvPr id="16" name="ref-t-25"/>
          <p:cNvSpPr txBox="1"/>
          <p:nvPr/>
        </p:nvSpPr>
        <p:spPr>
          <a:xfrm>
            <a:off x="960120" y="4215384"/>
            <a:ext cx="4983480" cy="402336"/>
          </a:xfrm>
          <a:prstGeom prst="rect">
            <a:avLst/>
          </a:prstGeom>
          <a:noFill/>
          <a:ln/>
        </p:spPr>
        <p:txBody>
          <a:bodyPr wrap="square" lIns="0" tIns="0" rIns="0" bIns="0" rtlCol="0" anchor="t"/>
          <a:lstStyle/>
          <a:p>
            <a:pPr indent="0" marL="0">
              <a:buNone/>
            </a:pPr>
            <a:r>
              <a:rPr lang="en-US" sz="1100" dirty="0">
                <a:solidFill>
                  <a:schemeClr val="tx1"/>
                </a:solidFill>
              </a:rPr>
              <a:t>Australian National Audit Office (2020). Planning for the 2021 Census. </a:t>
            </a:r>
            <a:r>
              <a:rPr lang="en-US" sz="1100" i="1" dirty="0">
                <a:solidFill>
                  <a:schemeClr val="accent5"/>
                </a:solidFill>
              </a:rPr>
              <a:t>Audit</a:t>
            </a:r>
            <a:endParaRPr lang="en-US" sz="1100" dirty="0"/>
          </a:p>
          <a:p>
            <a:pPr indent="0" marL="0">
              <a:buNone/>
            </a:pPr>
            <a:r>
              <a:rPr lang="en-US" sz="900" u="sng" dirty="0">
                <a:solidFill>
                  <a:schemeClr val="accent1"/>
                </a:solidFill>
                <a:hlinkClick r:id="rId6" invalidUrl="" action="" tgtFrame="" tooltip="" history="1" highlightClick="0" endSnd="0">
                  <a:extLst>
                    <a:ext uri="{A12FA001-AC4F-418D-AE19-62706E023703}">
                      <ahyp:hlinkClr xmlns:ahyp="http://schemas.microsoft.com/office/drawing/2018/hyperlinkcolor" val="tx"/>
                    </a:ext>
                  </a:extLst>
                </a:hlinkClick>
              </a:rPr>
              <a:t>https://www.anao.gov.au/work/performance-audit/planning-for-the-2021-census</a:t>
            </a:r>
            <a:endParaRPr lang="en-US" sz="1100" dirty="0"/>
          </a:p>
        </p:txBody>
      </p:sp>
      <p:sp>
        <p:nvSpPr>
          <p:cNvPr id="17" name="ref-n-26"/>
          <p:cNvSpPr txBox="1"/>
          <p:nvPr/>
        </p:nvSpPr>
        <p:spPr>
          <a:xfrm>
            <a:off x="548640" y="4745736"/>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26</a:t>
            </a:r>
            <a:endParaRPr lang="en-US" sz="1300" dirty="0"/>
          </a:p>
        </p:txBody>
      </p:sp>
      <p:sp>
        <p:nvSpPr>
          <p:cNvPr id="18" name="ref-t-26"/>
          <p:cNvSpPr txBox="1"/>
          <p:nvPr/>
        </p:nvSpPr>
        <p:spPr>
          <a:xfrm>
            <a:off x="960120" y="4745736"/>
            <a:ext cx="4983480" cy="576072"/>
          </a:xfrm>
          <a:prstGeom prst="rect">
            <a:avLst/>
          </a:prstGeom>
          <a:noFill/>
          <a:ln/>
        </p:spPr>
        <p:txBody>
          <a:bodyPr wrap="square" lIns="0" tIns="0" rIns="0" bIns="0" rtlCol="0" anchor="t"/>
          <a:lstStyle/>
          <a:p>
            <a:pPr indent="0" marL="0">
              <a:buNone/>
            </a:pPr>
            <a:r>
              <a:rPr lang="en-US" sz="1100" dirty="0">
                <a:solidFill>
                  <a:schemeClr val="tx1"/>
                </a:solidFill>
              </a:rPr>
              <a:t>AWS Public Sector Blog. ABS runs 2021 Census on the AWS Cloud. </a:t>
            </a:r>
            <a:r>
              <a:rPr lang="en-US" sz="1100" i="1" dirty="0">
                <a:solidFill>
                  <a:schemeClr val="accent5"/>
                </a:solidFill>
              </a:rPr>
              <a:t>Vendor</a:t>
            </a:r>
            <a:endParaRPr lang="en-US" sz="1100" dirty="0"/>
          </a:p>
          <a:p>
            <a:pPr indent="0" marL="0">
              <a:buNone/>
            </a:pPr>
            <a:r>
              <a:rPr lang="en-US" sz="900" u="sng" dirty="0">
                <a:solidFill>
                  <a:schemeClr val="accent1"/>
                </a:solidFill>
                <a:hlinkClick r:id="rId7" invalidUrl="" action="" tgtFrame="" tooltip="" history="1" highlightClick="0" endSnd="0">
                  <a:extLst>
                    <a:ext uri="{A12FA001-AC4F-418D-AE19-62706E023703}">
                      <ahyp:hlinkClr xmlns:ahyp="http://schemas.microsoft.com/office/drawing/2018/hyperlinkcolor" val="tx"/>
                    </a:ext>
                  </a:extLst>
                </a:hlinkClick>
              </a:rPr>
              <a:t>https://aws.amazon.com/blogs/publicsector/australian-bureau-of-statistics-runs-2021-census-on-the-aws-cloud</a:t>
            </a:r>
            <a:endParaRPr lang="en-US" sz="1100" dirty="0"/>
          </a:p>
        </p:txBody>
      </p:sp>
      <p:sp>
        <p:nvSpPr>
          <p:cNvPr id="19" name="ref-n-27"/>
          <p:cNvSpPr txBox="1"/>
          <p:nvPr/>
        </p:nvSpPr>
        <p:spPr>
          <a:xfrm>
            <a:off x="548640" y="5449824"/>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27</a:t>
            </a:r>
            <a:endParaRPr lang="en-US" sz="1300" dirty="0"/>
          </a:p>
        </p:txBody>
      </p:sp>
      <p:sp>
        <p:nvSpPr>
          <p:cNvPr id="20" name="ref-t-27"/>
          <p:cNvSpPr txBox="1"/>
          <p:nvPr/>
        </p:nvSpPr>
        <p:spPr>
          <a:xfrm>
            <a:off x="960120" y="5449824"/>
            <a:ext cx="4983480" cy="576072"/>
          </a:xfrm>
          <a:prstGeom prst="rect">
            <a:avLst/>
          </a:prstGeom>
          <a:noFill/>
          <a:ln/>
        </p:spPr>
        <p:txBody>
          <a:bodyPr wrap="square" lIns="0" tIns="0" rIns="0" bIns="0" rtlCol="0" anchor="t"/>
          <a:lstStyle/>
          <a:p>
            <a:pPr indent="0" marL="0">
              <a:buNone/>
            </a:pPr>
            <a:r>
              <a:rPr lang="en-US" sz="1100" dirty="0">
                <a:solidFill>
                  <a:schemeClr val="tx1"/>
                </a:solidFill>
              </a:rPr>
              <a:t>ABS. Appointment of Census digital and recruitment suppliers. </a:t>
            </a:r>
            <a:r>
              <a:rPr lang="en-US" sz="1100" i="1" dirty="0">
                <a:solidFill>
                  <a:schemeClr val="accent5"/>
                </a:solidFill>
              </a:rPr>
              <a:t>Organization</a:t>
            </a:r>
            <a:endParaRPr lang="en-US" sz="1100" dirty="0"/>
          </a:p>
          <a:p>
            <a:pPr indent="0" marL="0">
              <a:buNone/>
            </a:pPr>
            <a:r>
              <a:rPr lang="en-US" sz="900" u="sng" dirty="0">
                <a:solidFill>
                  <a:schemeClr val="accent1"/>
                </a:solidFill>
                <a:hlinkClick r:id="rId8" invalidUrl="" action="" tgtFrame="" tooltip="" history="1" highlightClick="0" endSnd="0">
                  <a:extLst>
                    <a:ext uri="{A12FA001-AC4F-418D-AE19-62706E023703}">
                      <ahyp:hlinkClr xmlns:ahyp="http://schemas.microsoft.com/office/drawing/2018/hyperlinkcolor" val="tx"/>
                    </a:ext>
                  </a:extLst>
                </a:hlinkClick>
              </a:rPr>
              <a:t>https://www.abs.gov.au/media-centre/media-releases/appointment-census-digital-and-recruitment-suppliers</a:t>
            </a:r>
            <a:endParaRPr lang="en-US" sz="1100" dirty="0"/>
          </a:p>
        </p:txBody>
      </p:sp>
      <p:pic>
        <p:nvPicPr>
          <p:cNvPr id="21" name="flag-au-6.80" descr="Flag of Australia">    </p:cNvPr>
          <p:cNvPicPr>
            <a:picLocks noChangeAspect="1"/>
          </p:cNvPicPr>
          <p:nvPr/>
        </p:nvPicPr>
        <p:blipFill>
          <a:blip r:embed="rId9"/>
          <a:stretch>
            <a:fillRect/>
          </a:stretch>
        </p:blipFill>
        <p:spPr>
          <a:xfrm>
            <a:off x="6217920" y="1124712"/>
            <a:ext cx="219456" cy="219456"/>
          </a:xfrm>
          <a:prstGeom prst="rect">
            <a:avLst/>
          </a:prstGeom>
        </p:spPr>
      </p:pic>
      <p:sp>
        <p:nvSpPr>
          <p:cNvPr id="22" name="flag-ring-au-6.80"/>
          <p:cNvSpPr/>
          <p:nvPr/>
        </p:nvSpPr>
        <p:spPr>
          <a:xfrm>
            <a:off x="6217920" y="1124712"/>
            <a:ext cx="219456" cy="219456"/>
          </a:xfrm>
          <a:prstGeom prst="ellipse">
            <a:avLst/>
          </a:prstGeom>
          <a:noFill/>
          <a:ln w="9525">
            <a:solidFill>
              <a:srgbClr val="C9CDD3"/>
            </a:solidFill>
            <a:prstDash val="solid"/>
          </a:ln>
        </p:spPr>
      </p:sp>
      <p:sp>
        <p:nvSpPr>
          <p:cNvPr id="23" name="ref-group-28"/>
          <p:cNvSpPr txBox="1"/>
          <p:nvPr/>
        </p:nvSpPr>
        <p:spPr>
          <a:xfrm>
            <a:off x="6510528" y="1097280"/>
            <a:ext cx="5029200" cy="274320"/>
          </a:xfrm>
          <a:prstGeom prst="rect">
            <a:avLst/>
          </a:prstGeom>
          <a:noFill/>
          <a:ln/>
        </p:spPr>
        <p:txBody>
          <a:bodyPr wrap="square" lIns="0" tIns="0" rIns="0" bIns="0" rtlCol="0" anchor="ctr"/>
          <a:lstStyle/>
          <a:p>
            <a:pPr indent="0" marL="0">
              <a:buNone/>
            </a:pPr>
            <a:r>
              <a:rPr lang="en-US" sz="1300" b="1" dirty="0">
                <a:solidFill>
                  <a:schemeClr val="tx2"/>
                </a:solidFill>
                <a:latin typeface="Cambria" pitchFamily="34" charset="0"/>
                <a:ea typeface="Cambria" pitchFamily="34" charset="-122"/>
                <a:cs typeface="Cambria" pitchFamily="34" charset="-120"/>
              </a:rPr>
              <a:t>Australia (ABS) (continued)</a:t>
            </a:r>
            <a:endParaRPr lang="en-US" sz="1300" dirty="0"/>
          </a:p>
        </p:txBody>
      </p:sp>
      <p:sp>
        <p:nvSpPr>
          <p:cNvPr id="24" name="ref-n-28"/>
          <p:cNvSpPr txBox="1"/>
          <p:nvPr/>
        </p:nvSpPr>
        <p:spPr>
          <a:xfrm>
            <a:off x="6217920" y="1426464"/>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28</a:t>
            </a:r>
            <a:endParaRPr lang="en-US" sz="1300" dirty="0"/>
          </a:p>
        </p:txBody>
      </p:sp>
      <p:sp>
        <p:nvSpPr>
          <p:cNvPr id="25" name="ref-t-28"/>
          <p:cNvSpPr txBox="1"/>
          <p:nvPr/>
        </p:nvSpPr>
        <p:spPr>
          <a:xfrm>
            <a:off x="6629400" y="1426464"/>
            <a:ext cx="4983480" cy="402336"/>
          </a:xfrm>
          <a:prstGeom prst="rect">
            <a:avLst/>
          </a:prstGeom>
          <a:noFill/>
          <a:ln/>
        </p:spPr>
        <p:txBody>
          <a:bodyPr wrap="square" lIns="0" tIns="0" rIns="0" bIns="0" rtlCol="0" anchor="t"/>
          <a:lstStyle/>
          <a:p>
            <a:pPr indent="0" marL="0">
              <a:buNone/>
            </a:pPr>
            <a:r>
              <a:rPr lang="en-US" sz="1100" dirty="0">
                <a:solidFill>
                  <a:schemeClr val="tx1"/>
                </a:solidFill>
              </a:rPr>
              <a:t>ABS. AWS Public Sector Summit speech. </a:t>
            </a:r>
            <a:r>
              <a:rPr lang="en-US" sz="1100" i="1" dirty="0">
                <a:solidFill>
                  <a:schemeClr val="accent5"/>
                </a:solidFill>
              </a:rPr>
              <a:t>Organization</a:t>
            </a:r>
            <a:endParaRPr lang="en-US" sz="1100" dirty="0"/>
          </a:p>
          <a:p>
            <a:pPr indent="0" marL="0">
              <a:buNone/>
            </a:pPr>
            <a:r>
              <a:rPr lang="en-US" sz="900" u="sng" dirty="0">
                <a:solidFill>
                  <a:schemeClr val="accent1"/>
                </a:solidFill>
                <a:hlinkClick r:id="rId10" invalidUrl="" action="" tgtFrame="" tooltip="" history="1" highlightClick="0" endSnd="0">
                  <a:extLst>
                    <a:ext uri="{A12FA001-AC4F-418D-AE19-62706E023703}">
                      <ahyp:hlinkClr xmlns:ahyp="http://schemas.microsoft.com/office/drawing/2018/hyperlinkcolor" val="tx"/>
                    </a:ext>
                  </a:extLst>
                </a:hlinkClick>
              </a:rPr>
              <a:t>https://www.abs.gov.au/census/census-media-hub/news/speeches/aws-public-sector-summit</a:t>
            </a:r>
            <a:endParaRPr lang="en-US" sz="1100" dirty="0"/>
          </a:p>
        </p:txBody>
      </p:sp>
      <p:sp>
        <p:nvSpPr>
          <p:cNvPr id="26" name="ref-n-29"/>
          <p:cNvSpPr txBox="1"/>
          <p:nvPr/>
        </p:nvSpPr>
        <p:spPr>
          <a:xfrm>
            <a:off x="6217920" y="1956816"/>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29</a:t>
            </a:r>
            <a:endParaRPr lang="en-US" sz="1300" dirty="0"/>
          </a:p>
        </p:txBody>
      </p:sp>
      <p:sp>
        <p:nvSpPr>
          <p:cNvPr id="27" name="ref-t-29"/>
          <p:cNvSpPr txBox="1"/>
          <p:nvPr/>
        </p:nvSpPr>
        <p:spPr>
          <a:xfrm>
            <a:off x="6629400" y="1956816"/>
            <a:ext cx="4983480" cy="749808"/>
          </a:xfrm>
          <a:prstGeom prst="rect">
            <a:avLst/>
          </a:prstGeom>
          <a:noFill/>
          <a:ln/>
        </p:spPr>
        <p:txBody>
          <a:bodyPr wrap="square" lIns="0" tIns="0" rIns="0" bIns="0" rtlCol="0" anchor="t"/>
          <a:lstStyle/>
          <a:p>
            <a:pPr indent="0" marL="0">
              <a:buNone/>
            </a:pPr>
            <a:r>
              <a:rPr lang="en-US" sz="1100" dirty="0">
                <a:solidFill>
                  <a:schemeClr val="tx1"/>
                </a:solidFill>
              </a:rPr>
              <a:t>Amazon Australia. How the cloud helped deliver the 2021 Australian Census. </a:t>
            </a:r>
            <a:r>
              <a:rPr lang="en-US" sz="1100" i="1" dirty="0">
                <a:solidFill>
                  <a:schemeClr val="accent5"/>
                </a:solidFill>
              </a:rPr>
              <a:t>Vendor</a:t>
            </a:r>
            <a:endParaRPr lang="en-US" sz="1100" dirty="0"/>
          </a:p>
          <a:p>
            <a:pPr indent="0" marL="0">
              <a:buNone/>
            </a:pPr>
            <a:r>
              <a:rPr lang="en-US" sz="900" u="sng" dirty="0">
                <a:solidFill>
                  <a:schemeClr val="accent1"/>
                </a:solidFill>
                <a:hlinkClick r:id="rId11" invalidUrl="" action="" tgtFrame="" tooltip="" history="1" highlightClick="0" endSnd="0">
                  <a:extLst>
                    <a:ext uri="{A12FA001-AC4F-418D-AE19-62706E023703}">
                      <ahyp:hlinkClr xmlns:ahyp="http://schemas.microsoft.com/office/drawing/2018/hyperlinkcolor" val="tx"/>
                    </a:ext>
                  </a:extLst>
                </a:hlinkClick>
              </a:rPr>
              <a:t>https://www.aboutamazon.com.au/news/aws/how-the-cloud-helped-to-deliver-a-smooth-experience-for-the-2021-australian-census</a:t>
            </a:r>
            <a:endParaRPr lang="en-US" sz="1100" dirty="0"/>
          </a:p>
        </p:txBody>
      </p:sp>
      <p:sp>
        <p:nvSpPr>
          <p:cNvPr id="28" name="ref-n-30"/>
          <p:cNvSpPr txBox="1"/>
          <p:nvPr/>
        </p:nvSpPr>
        <p:spPr>
          <a:xfrm>
            <a:off x="6217920" y="2834640"/>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30</a:t>
            </a:r>
            <a:endParaRPr lang="en-US" sz="1300" dirty="0"/>
          </a:p>
        </p:txBody>
      </p:sp>
      <p:sp>
        <p:nvSpPr>
          <p:cNvPr id="29" name="ref-t-30"/>
          <p:cNvSpPr txBox="1"/>
          <p:nvPr/>
        </p:nvSpPr>
        <p:spPr>
          <a:xfrm>
            <a:off x="6629400" y="2834640"/>
            <a:ext cx="4983480" cy="402336"/>
          </a:xfrm>
          <a:prstGeom prst="rect">
            <a:avLst/>
          </a:prstGeom>
          <a:noFill/>
          <a:ln/>
        </p:spPr>
        <p:txBody>
          <a:bodyPr wrap="square" lIns="0" tIns="0" rIns="0" bIns="0" rtlCol="0" anchor="t"/>
          <a:lstStyle/>
          <a:p>
            <a:pPr indent="0" marL="0">
              <a:buNone/>
            </a:pPr>
            <a:r>
              <a:rPr lang="en-US" sz="1100" dirty="0">
                <a:solidFill>
                  <a:schemeClr val="tx1"/>
                </a:solidFill>
              </a:rPr>
              <a:t>Shine Solutions. Census 2021 enabled by shift to the cloud. </a:t>
            </a:r>
            <a:r>
              <a:rPr lang="en-US" sz="1100" i="1" dirty="0">
                <a:solidFill>
                  <a:schemeClr val="accent5"/>
                </a:solidFill>
              </a:rPr>
              <a:t>Vendor</a:t>
            </a:r>
            <a:endParaRPr lang="en-US" sz="1100" dirty="0"/>
          </a:p>
          <a:p>
            <a:pPr indent="0" marL="0">
              <a:buNone/>
            </a:pPr>
            <a:r>
              <a:rPr lang="en-US" sz="900" u="sng" dirty="0">
                <a:solidFill>
                  <a:schemeClr val="accent1"/>
                </a:solidFill>
                <a:hlinkClick r:id="rId12" invalidUrl="" action="" tgtFrame="" tooltip="" history="1" highlightClick="0" endSnd="0">
                  <a:extLst>
                    <a:ext uri="{A12FA001-AC4F-418D-AE19-62706E023703}">
                      <ahyp:hlinkClr xmlns:ahyp="http://schemas.microsoft.com/office/drawing/2018/hyperlinkcolor" val="tx"/>
                    </a:ext>
                  </a:extLst>
                </a:hlinkClick>
              </a:rPr>
              <a:t>https://shinesolutions.com/portfolio_page/census-2021-enabled-by-shift-to-the-cloud/</a:t>
            </a:r>
            <a:endParaRPr lang="en-US" sz="1100" dirty="0"/>
          </a:p>
        </p:txBody>
      </p:sp>
      <p:sp>
        <p:nvSpPr>
          <p:cNvPr id="30" name="ref-n-31"/>
          <p:cNvSpPr txBox="1"/>
          <p:nvPr/>
        </p:nvSpPr>
        <p:spPr>
          <a:xfrm>
            <a:off x="6217920" y="3364992"/>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31</a:t>
            </a:r>
            <a:endParaRPr lang="en-US" sz="1300" dirty="0"/>
          </a:p>
        </p:txBody>
      </p:sp>
      <p:sp>
        <p:nvSpPr>
          <p:cNvPr id="31" name="ref-t-31"/>
          <p:cNvSpPr txBox="1"/>
          <p:nvPr/>
        </p:nvSpPr>
        <p:spPr>
          <a:xfrm>
            <a:off x="6629400" y="3364992"/>
            <a:ext cx="4983480" cy="576072"/>
          </a:xfrm>
          <a:prstGeom prst="rect">
            <a:avLst/>
          </a:prstGeom>
          <a:noFill/>
          <a:ln/>
        </p:spPr>
        <p:txBody>
          <a:bodyPr wrap="square" lIns="0" tIns="0" rIns="0" bIns="0" rtlCol="0" anchor="t"/>
          <a:lstStyle/>
          <a:p>
            <a:pPr indent="0" marL="0">
              <a:buNone/>
            </a:pPr>
            <a:r>
              <a:rPr lang="en-US" sz="1100" dirty="0">
                <a:solidFill>
                  <a:schemeClr val="tx1"/>
                </a:solidFill>
              </a:rPr>
              <a:t>ABS (2021). Australian Statistician statement on the 2021 Census. </a:t>
            </a:r>
            <a:r>
              <a:rPr lang="en-US" sz="1100" i="1" dirty="0">
                <a:solidFill>
                  <a:schemeClr val="accent5"/>
                </a:solidFill>
              </a:rPr>
              <a:t>Organization</a:t>
            </a:r>
            <a:endParaRPr lang="en-US" sz="1100" dirty="0"/>
          </a:p>
          <a:p>
            <a:pPr indent="0" marL="0">
              <a:buNone/>
            </a:pPr>
            <a:r>
              <a:rPr lang="en-US" sz="900" u="sng" dirty="0">
                <a:solidFill>
                  <a:schemeClr val="accent1"/>
                </a:solidFill>
                <a:hlinkClick r:id="rId13" invalidUrl="" action="" tgtFrame="" tooltip="" history="1" highlightClick="0" endSnd="0">
                  <a:extLst>
                    <a:ext uri="{A12FA001-AC4F-418D-AE19-62706E023703}">
                      <ahyp:hlinkClr xmlns:ahyp="http://schemas.microsoft.com/office/drawing/2018/hyperlinkcolor" val="tx"/>
                    </a:ext>
                  </a:extLst>
                </a:hlinkClick>
              </a:rPr>
              <a:t>https://www.abs.gov.au/about/our-organisation/australian-statistician/speeches/australian-statistician-statement-2021-census</a:t>
            </a:r>
            <a:endParaRPr lang="en-US" sz="1100" dirty="0"/>
          </a:p>
        </p:txBody>
      </p:sp>
      <p:sp>
        <p:nvSpPr>
          <p:cNvPr id="32" name="ref-n-32"/>
          <p:cNvSpPr txBox="1"/>
          <p:nvPr/>
        </p:nvSpPr>
        <p:spPr>
          <a:xfrm>
            <a:off x="6217920" y="4069080"/>
            <a:ext cx="365760" cy="274320"/>
          </a:xfrm>
          <a:prstGeom prst="rect">
            <a:avLst/>
          </a:prstGeom>
          <a:noFill/>
          <a:ln/>
        </p:spPr>
        <p:txBody>
          <a:bodyPr wrap="square" lIns="0" tIns="0" rIns="0" bIns="0" rtlCol="0" anchor="ctr"/>
          <a:lstStyle/>
          <a:p>
            <a:pPr indent="0" marL="0">
              <a:buNone/>
            </a:pPr>
            <a:r>
              <a:rPr lang="en-US" sz="1300" b="1" dirty="0">
                <a:solidFill>
                  <a:schemeClr val="accent1"/>
                </a:solidFill>
              </a:rPr>
              <a:t>32</a:t>
            </a:r>
            <a:endParaRPr lang="en-US" sz="1300" dirty="0"/>
          </a:p>
        </p:txBody>
      </p:sp>
      <p:sp>
        <p:nvSpPr>
          <p:cNvPr id="33" name="ref-t-32"/>
          <p:cNvSpPr txBox="1"/>
          <p:nvPr/>
        </p:nvSpPr>
        <p:spPr>
          <a:xfrm>
            <a:off x="6629400" y="4069080"/>
            <a:ext cx="4983480" cy="402336"/>
          </a:xfrm>
          <a:prstGeom prst="rect">
            <a:avLst/>
          </a:prstGeom>
          <a:noFill/>
          <a:ln/>
        </p:spPr>
        <p:txBody>
          <a:bodyPr wrap="square" lIns="0" tIns="0" rIns="0" bIns="0" rtlCol="0" anchor="t"/>
          <a:lstStyle/>
          <a:p>
            <a:pPr indent="0" marL="0">
              <a:buNone/>
            </a:pPr>
            <a:r>
              <a:rPr lang="en-US" sz="1100" dirty="0">
                <a:solidFill>
                  <a:schemeClr val="tx1"/>
                </a:solidFill>
              </a:rPr>
              <a:t>ABS. 2021 Census background and planning. </a:t>
            </a:r>
            <a:r>
              <a:rPr lang="en-US" sz="1100" i="1" dirty="0">
                <a:solidFill>
                  <a:schemeClr val="accent5"/>
                </a:solidFill>
              </a:rPr>
              <a:t>Organization</a:t>
            </a:r>
            <a:endParaRPr lang="en-US" sz="1100" dirty="0"/>
          </a:p>
          <a:p>
            <a:pPr indent="0" marL="0">
              <a:buNone/>
            </a:pPr>
            <a:r>
              <a:rPr lang="en-US" sz="900" u="sng" dirty="0">
                <a:solidFill>
                  <a:schemeClr val="accent1"/>
                </a:solidFill>
                <a:hlinkClick r:id="rId14" invalidUrl="" action="" tgtFrame="" tooltip="" history="1" highlightClick="0" endSnd="0">
                  <a:extLst>
                    <a:ext uri="{A12FA001-AC4F-418D-AE19-62706E023703}">
                      <ahyp:hlinkClr xmlns:ahyp="http://schemas.microsoft.com/office/drawing/2018/hyperlinkcolor" val="tx"/>
                    </a:ext>
                  </a:extLst>
                </a:hlinkClick>
              </a:rPr>
              <a:t>https://www.abs.gov.au/census/about-census/2021-census-overview/background-and-planning</a:t>
            </a:r>
            <a:endParaRPr lang="en-US" sz="1100" dirty="0"/>
          </a:p>
        </p:txBody>
      </p:sp>
      <p:sp>
        <p:nvSpPr>
          <p:cNvPr id="34" name="ref-key"/>
          <p:cNvSpPr txBox="1"/>
          <p:nvPr/>
        </p:nvSpPr>
        <p:spPr>
          <a:xfrm>
            <a:off x="548640" y="6053328"/>
            <a:ext cx="11064240" cy="320040"/>
          </a:xfrm>
          <a:prstGeom prst="rect">
            <a:avLst/>
          </a:prstGeom>
          <a:noFill/>
          <a:ln/>
        </p:spPr>
        <p:txBody>
          <a:bodyPr wrap="square" lIns="0" tIns="0" rIns="0" bIns="0" rtlCol="0" anchor="ctr"/>
          <a:lstStyle/>
          <a:p>
            <a:pPr indent="0" marL="0">
              <a:buNone/>
            </a:pPr>
            <a:r>
              <a:rPr lang="en-US" sz="1000" i="1" dirty="0">
                <a:solidFill>
                  <a:schemeClr val="accent5"/>
                </a:solidFill>
              </a:rPr>
              <a:t>Source types: Organization = the government body itself; Audit = auditor or official record; Vendor = cloud provider or partner; News = trade press. Links are as listed in October 2026 and may move.</a:t>
            </a:r>
            <a:endParaRPr lang="en-US" sz="1000" dirty="0"/>
          </a:p>
        </p:txBody>
      </p:sp>
      <p:sp>
        <p:nvSpPr>
          <p:cNvPr id="25" name="Slide Number Placeholder 0"/>
          <p:cNvSpPr>
            <a:spLocks noGrp="1"/>
          </p:cNvSpPr>
          <p:nvPr>
            <p:ph type="sldNum" sz="quarter" idx="4294967295"/>
          </p:nvPr>
        </p:nvSpPr>
        <p:spPr>
          <a:xfrm>
            <a:off x="11155680"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Gov Cloud Cases v4">
  <a:themeElements>
    <a:clrScheme name="Gov Cloud Cases v4">
      <a:dk1>
        <a:srgbClr val="1C1C1C"/>
      </a:dk1>
      <a:lt1>
        <a:srgbClr val="FFFFFF"/>
      </a:lt1>
      <a:dk2>
        <a:srgbClr val="22303F"/>
      </a:dk2>
      <a:lt2>
        <a:srgbClr val="F2F3F5"/>
      </a:lt2>
      <a:accent1>
        <a:srgbClr val="3E5C76"/>
      </a:accent1>
      <a:accent2>
        <a:srgbClr val="B8402F"/>
      </a:accent2>
      <a:accent3>
        <a:srgbClr val="2A8F86"/>
      </a:accent3>
      <a:accent4>
        <a:srgbClr val="7D5BA6"/>
      </a:accent4>
      <a:accent5>
        <a:srgbClr val="6B6B6B"/>
      </a:accent5>
      <a:accent6>
        <a:srgbClr val="F0A92E"/>
      </a:accent6>
      <a:hlink>
        <a:srgbClr val="3E5C76"/>
      </a:hlink>
      <a:folHlink>
        <a:srgbClr val="7D5BA6"/>
      </a:folHlink>
    </a:clrScheme>
    <a:fontScheme name="Gov Cloud Cases v4">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Moving from on-premises to cloud: government case studies</dc:title>
  <dc:subject>PptxGenJS Presentation</dc:subject>
  <dc:creator>PptxGenJS</dc:creator>
  <cp:lastModifiedBy>PptxGenJS</cp:lastModifiedBy>
  <cp:revision>1</cp:revision>
  <dcterms:created xsi:type="dcterms:W3CDTF">2026-10-07T14:34:51Z</dcterms:created>
  <dcterms:modified xsi:type="dcterms:W3CDTF">2026-10-07T14:34:51Z</dcterms:modified>
</cp:coreProperties>
</file>